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4.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5.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6.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8.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Planned %</c:v>
                </c:pt>
              </c:strCache>
            </c:strRef>
          </c:tx>
          <c:spPr>
            <a:solidFill>
              <a:srgbClr val="2563EB"/>
            </a:solidFill>
            <a:ln w="31750"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563EB"/>
              </a:solidFill>
              <a:ln w="9525" cap="flat">
                <a:solidFill>
                  <a:srgbClr val="2563EB"/>
                </a:solidFill>
                <a:prstDash val="solid"/>
                <a:round/>
              </a:ln>
              <a:effectLst/>
            </c:spPr>
          </c:marker>
          <c:cat>
            <c:multiLvlStrRef>
              <c:f>Sheet1!$A$2:$A$13</c:f>
              <c:multiLvlStrCache>
                <c:ptCount val="12"/>
                <c:lvl>
                  <c:pt idx="0">
                    <c:v>August</c:v>
                  </c:pt>
                  <c:pt idx="1">
                    <c:v>September</c:v>
                  </c:pt>
                  <c:pt idx="2">
                    <c:v>October</c:v>
                  </c:pt>
                  <c:pt idx="3">
                    <c:v>November</c:v>
                  </c:pt>
                  <c:pt idx="4">
                    <c:v>December</c:v>
                  </c:pt>
                  <c:pt idx="5">
                    <c:v>January</c:v>
                  </c:pt>
                  <c:pt idx="6">
                    <c:v>February</c:v>
                  </c:pt>
                  <c:pt idx="7">
                    <c:v>March</c:v>
                  </c:pt>
                  <c:pt idx="8">
                    <c:v>April</c:v>
                  </c:pt>
                  <c:pt idx="9">
                    <c:v>May</c:v>
                  </c:pt>
                  <c:pt idx="10">
                    <c:v>June</c:v>
                  </c:pt>
                  <c:pt idx="11">
                    <c:v>July</c:v>
                  </c:pt>
                </c:lvl>
              </c:multiLvlStrCache>
            </c:multiLvlStrRef>
          </c:cat>
          <c:val>
            <c:numRef>
              <c:f>Sheet1!$B$2:$B$13</c:f>
              <c:numCache>
                <c:formatCode>General</c:formatCode>
                <c:ptCount val="12"/>
                <c:pt idx="0">
                  <c:v>4.3</c:v>
                </c:pt>
                <c:pt idx="1">
                  <c:v>10.4</c:v>
                </c:pt>
                <c:pt idx="2">
                  <c:v>14.7</c:v>
                </c:pt>
                <c:pt idx="3">
                  <c:v>21.1</c:v>
                </c:pt>
                <c:pt idx="4">
                  <c:v>27.9</c:v>
                </c:pt>
                <c:pt idx="5">
                  <c:v>35.6</c:v>
                </c:pt>
                <c:pt idx="6">
                  <c:v>46.3</c:v>
                </c:pt>
                <c:pt idx="7">
                  <c:v>57</c:v>
                </c:pt>
                <c:pt idx="8">
                  <c:v>67.8</c:v>
                </c:pt>
                <c:pt idx="9">
                  <c:v>78.5</c:v>
                </c:pt>
                <c:pt idx="10">
                  <c:v>89.3</c:v>
                </c:pt>
                <c:pt idx="11">
                  <c:v>100</c:v>
                </c:pt>
              </c:numCache>
            </c:numRef>
          </c:val>
          <c:smooth val="0"/>
        </c:ser>
        <c:ser>
          <c:idx val="1"/>
          <c:order val="1"/>
          <c:tx>
            <c:strRef>
              <c:f>Sheet1!$C$1</c:f>
              <c:strCache>
                <c:ptCount val="1"/>
                <c:pt idx="0">
                  <c:v>Actual %</c:v>
                </c:pt>
              </c:strCache>
            </c:strRef>
          </c:tx>
          <c:spPr>
            <a:solidFill>
              <a:srgbClr val="156082"/>
            </a:solidFill>
            <a:ln w="31750" cap="flat">
              <a:solidFill>
                <a:srgbClr val="1560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56082"/>
              </a:solidFill>
              <a:ln w="9525" cap="flat">
                <a:solidFill>
                  <a:srgbClr val="156082"/>
                </a:solidFill>
                <a:prstDash val="solid"/>
                <a:round/>
              </a:ln>
              <a:effectLst/>
            </c:spPr>
          </c:marker>
          <c:cat>
            <c:multiLvlStrRef>
              <c:f>Sheet1!$A$2:$A$13</c:f>
              <c:multiLvlStrCache>
                <c:ptCount val="12"/>
                <c:lvl>
                  <c:pt idx="0">
                    <c:v>August</c:v>
                  </c:pt>
                  <c:pt idx="1">
                    <c:v>September</c:v>
                  </c:pt>
                  <c:pt idx="2">
                    <c:v>October</c:v>
                  </c:pt>
                  <c:pt idx="3">
                    <c:v>November</c:v>
                  </c:pt>
                  <c:pt idx="4">
                    <c:v>December</c:v>
                  </c:pt>
                  <c:pt idx="5">
                    <c:v>January</c:v>
                  </c:pt>
                  <c:pt idx="6">
                    <c:v>February</c:v>
                  </c:pt>
                  <c:pt idx="7">
                    <c:v>March</c:v>
                  </c:pt>
                  <c:pt idx="8">
                    <c:v>April</c:v>
                  </c:pt>
                  <c:pt idx="9">
                    <c:v>May</c:v>
                  </c:pt>
                  <c:pt idx="10">
                    <c:v>June</c:v>
                  </c:pt>
                  <c:pt idx="11">
                    <c:v>July</c:v>
                  </c:pt>
                </c:lvl>
              </c:multiLvlStrCache>
            </c:multiLvlStrRef>
          </c:cat>
          <c:val>
            <c:numRef>
              <c:f>Sheet1!$C$2:$C$13</c:f>
              <c:numCache>
                <c:formatCode>General</c:formatCode>
                <c:ptCount val="12"/>
                <c:pt idx="0">
                  <c:v>1.3</c:v>
                </c:pt>
                <c:pt idx="1">
                  <c:v>11</c:v>
                </c:pt>
                <c:pt idx="2">
                  <c:v>11.3</c:v>
                </c:pt>
                <c:pt idx="3">
                  <c:v>14.2</c:v>
                </c:pt>
                <c:pt idx="4">
                  <c:v>30.1</c:v>
                </c:pt>
                <c:pt idx="5">
                  <c:v>33.8</c:v>
                </c:pt>
                <c:pt idx="6">
                  <c:v>45.5</c:v>
                </c:pt>
                <c:pt idx="7">
                  <c:v>48.2</c:v>
                </c:pt>
                <c:pt idx="8">
                  <c:v>59</c:v>
                </c:pt>
                <c:pt idx="9">
                  <c:v>83.1</c:v>
                </c:pt>
                <c:pt idx="10">
                  <c:v>93.5</c:v>
                </c:pt>
                <c:pt idx="11">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5EB"/>
              </a:solidFill>
              <a:prstDash val="dash"/>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Progress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Drawing register · DCI by discipline</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2563EB"/>
              </a:solidFill>
              <a:effectLst/>
            </c:spPr>
          </c:dPt>
          <c:dPt>
            <c:idx val="2"/>
            <c:bubble3D val="0"/>
            <c:spPr>
              <a:solidFill>
                <a:srgbClr val="C45C26"/>
              </a:solidFill>
              <a:effectLst/>
            </c:spPr>
          </c:dPt>
          <c:dPt>
            <c:idx val="3"/>
            <c:bubble3D val="0"/>
            <c:spPr>
              <a:solidFill>
                <a:srgbClr val="7C3AED"/>
              </a:solidFill>
              <a:effectLst/>
            </c:spPr>
          </c:dPt>
          <c:dPt>
            <c:idx val="4"/>
            <c:bubble3D val="0"/>
            <c:spPr>
              <a:solidFill>
                <a:srgbClr val="059669"/>
              </a:solidFill>
              <a:effectLst/>
            </c:spPr>
          </c:dPt>
          <c:dPt>
            <c:idx val="5"/>
            <c:bubble3D val="0"/>
            <c:spPr>
              <a:solidFill>
                <a:srgbClr val="DB2777"/>
              </a:solidFill>
              <a:effectLst/>
            </c:spPr>
          </c:dPt>
          <c:dLbls>
            <c:dLbl>
              <c:idx val="0"/>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5"/>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Architecture</c:v>
                </c:pt>
                <c:pt idx="1">
                  <c:v>Structural</c:v>
                </c:pt>
                <c:pt idx="2">
                  <c:v>Electrical</c:v>
                </c:pt>
                <c:pt idx="3">
                  <c:v>Plumbing</c:v>
                </c:pt>
                <c:pt idx="4">
                  <c:v>Fire</c:v>
                </c:pt>
                <c:pt idx="5">
                  <c:v>Other</c:v>
                </c:pt>
              </c:strCache>
            </c:strRef>
          </c:cat>
          <c:val>
            <c:numRef>
              <c:f>Sheet1!$B$2:$B$7</c:f>
              <c:numCache>
                <c:ptCount val="6"/>
                <c:pt idx="0">
                  <c:v>17</c:v>
                </c:pt>
                <c:pt idx="1">
                  <c:v>28</c:v>
                </c:pt>
                <c:pt idx="2">
                  <c:v>6</c:v>
                </c:pt>
                <c:pt idx="3">
                  <c:v>3</c:v>
                </c:pt>
                <c:pt idx="4">
                  <c:v>5</c:v>
                </c:pt>
                <c:pt idx="5">
                  <c:v>6</c:v>
                </c:pt>
              </c:numCache>
            </c:numRef>
          </c:val>
        </c:ser>
        <c:firstSliceAng val="0"/>
        <c:holeSize val="50"/>
      </c:doughnut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Planned</c:v>
                </c:pt>
              </c:strCache>
            </c:strRef>
          </c:tx>
          <c:spPr>
            <a:solidFill>
              <a:srgbClr val="2563EB"/>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Sheet1!$A$2:$A$5</c:f>
              <c:multiLvlStrCache>
                <c:ptCount val="4"/>
                <c:lvl>
                  <c:pt idx="0">
                    <c:v>Construction start vs calend</c:v>
                  </c:pt>
                  <c:pt idx="1">
                    <c:v>Building civil work anticipa</c:v>
                  </c:pt>
                  <c:pt idx="2">
                    <c:v>External civil anticipated e</c:v>
                  </c:pt>
                  <c:pt idx="3">
                    <c:v>Plumbing anticipated end</c:v>
                  </c:pt>
                </c:lvl>
              </c:multiLvlStrCache>
            </c:multiLvlStrRef>
          </c:cat>
          <c:val>
            <c:numRef>
              <c:f>Sheet1!$B$2:$B$5</c:f>
              <c:numCache>
                <c:formatCode>General</c:formatCode>
                <c:ptCount val="4"/>
                <c:pt idx="0">
                  <c:v>316</c:v>
                </c:pt>
                <c:pt idx="1">
                  <c:v>0</c:v>
                </c:pt>
                <c:pt idx="2">
                  <c:v>0</c:v>
                </c:pt>
                <c:pt idx="3">
                  <c:v>0</c:v>
                </c:pt>
              </c:numCache>
            </c:numRef>
          </c:val>
        </c:ser>
        <c:ser>
          <c:idx val="1"/>
          <c:order val="1"/>
          <c:tx>
            <c:strRef>
              <c:f>Sheet1!$C$1</c:f>
              <c:strCache>
                <c:ptCount val="1"/>
                <c:pt idx="0">
                  <c:v>Actual</c:v>
                </c:pt>
              </c:strCache>
            </c:strRef>
          </c:tx>
          <c:spPr>
            <a:solidFill>
              <a:srgbClr val="156082"/>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Sheet1!$A$2:$A$5</c:f>
              <c:multiLvlStrCache>
                <c:ptCount val="4"/>
                <c:lvl>
                  <c:pt idx="0">
                    <c:v>Construction start vs calend</c:v>
                  </c:pt>
                  <c:pt idx="1">
                    <c:v>Building civil work anticipa</c:v>
                  </c:pt>
                  <c:pt idx="2">
                    <c:v>External civil anticipated e</c:v>
                  </c:pt>
                  <c:pt idx="3">
                    <c:v>Plumbing anticipated end</c:v>
                  </c:pt>
                </c:lvl>
              </c:multiLvlStrCache>
            </c:multiLvlStrRef>
          </c:cat>
          <c:val>
            <c:numRef>
              <c:f>Sheet1!$C$2:$C$5</c:f>
              <c:numCache>
                <c:formatCode>General</c:formatCode>
                <c:ptCount val="4"/>
                <c:pt idx="0">
                  <c:v>384</c:v>
                </c:pt>
                <c:pt idx="1">
                  <c:v>0</c:v>
                </c:pt>
                <c:pt idx="2">
                  <c:v>0</c:v>
                </c:pt>
                <c:pt idx="3">
                  <c:v>0</c:v>
                </c:pt>
              </c:numCache>
            </c:numRef>
          </c:val>
        </c:ser>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5EB"/>
              </a:solidFill>
              <a:prstDash val="dash"/>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Days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Planned</c:v>
                </c:pt>
              </c:strCache>
            </c:strRef>
          </c:tx>
          <c:spPr>
            <a:solidFill>
              <a:srgbClr val="2563EB"/>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Sheet1!$A$2:$A$13</c:f>
              <c:multiLvlStrCache>
                <c:ptCount val="12"/>
                <c:lvl>
                  <c:pt idx="0">
                    <c:v>Carpenter</c:v>
                  </c:pt>
                  <c:pt idx="1">
                    <c:v>Mason</c:v>
                  </c:pt>
                  <c:pt idx="2">
                    <c:v>Helper</c:v>
                  </c:pt>
                  <c:pt idx="3">
                    <c:v>Unskilled Worker</c:v>
                  </c:pt>
                  <c:pt idx="4">
                    <c:v>Drivers</c:v>
                  </c:pt>
                  <c:pt idx="5">
                    <c:v>Staff</c:v>
                  </c:pt>
                  <c:pt idx="6">
                    <c:v>Plumbing</c:v>
                  </c:pt>
                  <c:pt idx="7">
                    <c:v>Tiles Work</c:v>
                  </c:pt>
                  <c:pt idx="8">
                    <c:v>Painter</c:v>
                  </c:pt>
                  <c:pt idx="9">
                    <c:v>Electric Work</c:v>
                  </c:pt>
                  <c:pt idx="10">
                    <c:v>PreCast</c:v>
                  </c:pt>
                  <c:pt idx="11">
                    <c:v>Total of Above</c:v>
                  </c:pt>
                </c:lvl>
              </c:multiLvlStrCache>
            </c:multiLvlStrRef>
          </c:cat>
          <c:val>
            <c:numRef>
              <c:f>Sheet1!$B$2:$B$13</c:f>
              <c:numCache>
                <c:formatCode>General</c:formatCode>
                <c:ptCount val="12"/>
                <c:pt idx="0">
                  <c:v>7</c:v>
                </c:pt>
                <c:pt idx="1">
                  <c:v>28</c:v>
                </c:pt>
                <c:pt idx="2">
                  <c:v>7</c:v>
                </c:pt>
                <c:pt idx="3">
                  <c:v>105</c:v>
                </c:pt>
                <c:pt idx="4">
                  <c:v>7</c:v>
                </c:pt>
                <c:pt idx="5">
                  <c:v>26</c:v>
                </c:pt>
                <c:pt idx="6">
                  <c:v>49</c:v>
                </c:pt>
                <c:pt idx="7">
                  <c:v>14</c:v>
                </c:pt>
                <c:pt idx="8">
                  <c:v>14</c:v>
                </c:pt>
                <c:pt idx="9">
                  <c:v>14</c:v>
                </c:pt>
                <c:pt idx="10">
                  <c:v>25</c:v>
                </c:pt>
                <c:pt idx="11">
                  <c:v>296</c:v>
                </c:pt>
              </c:numCache>
            </c:numRef>
          </c:val>
        </c:ser>
        <c:ser>
          <c:idx val="1"/>
          <c:order val="1"/>
          <c:tx>
            <c:strRef>
              <c:f>Sheet1!$C$1</c:f>
              <c:strCache>
                <c:ptCount val="1"/>
                <c:pt idx="0">
                  <c:v>Actual</c:v>
                </c:pt>
              </c:strCache>
            </c:strRef>
          </c:tx>
          <c:spPr>
            <a:solidFill>
              <a:srgbClr val="156082"/>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Sheet1!$A$2:$A$13</c:f>
              <c:multiLvlStrCache>
                <c:ptCount val="12"/>
                <c:lvl>
                  <c:pt idx="0">
                    <c:v>Carpenter</c:v>
                  </c:pt>
                  <c:pt idx="1">
                    <c:v>Mason</c:v>
                  </c:pt>
                  <c:pt idx="2">
                    <c:v>Helper</c:v>
                  </c:pt>
                  <c:pt idx="3">
                    <c:v>Unskilled Worker</c:v>
                  </c:pt>
                  <c:pt idx="4">
                    <c:v>Drivers</c:v>
                  </c:pt>
                  <c:pt idx="5">
                    <c:v>Staff</c:v>
                  </c:pt>
                  <c:pt idx="6">
                    <c:v>Plumbing</c:v>
                  </c:pt>
                  <c:pt idx="7">
                    <c:v>Tiles Work</c:v>
                  </c:pt>
                  <c:pt idx="8">
                    <c:v>Painter</c:v>
                  </c:pt>
                  <c:pt idx="9">
                    <c:v>Electric Work</c:v>
                  </c:pt>
                  <c:pt idx="10">
                    <c:v>PreCast</c:v>
                  </c:pt>
                  <c:pt idx="11">
                    <c:v>Total of Above</c:v>
                  </c:pt>
                </c:lvl>
              </c:multiLvlStrCache>
            </c:multiLvlStrRef>
          </c:cat>
          <c:val>
            <c:numRef>
              <c:f>Sheet1!$C$2:$C$13</c:f>
              <c:numCache>
                <c:formatCode>General</c:formatCode>
                <c:ptCount val="12"/>
                <c:pt idx="0">
                  <c:v>7</c:v>
                </c:pt>
                <c:pt idx="1">
                  <c:v>28</c:v>
                </c:pt>
                <c:pt idx="2">
                  <c:v>7</c:v>
                </c:pt>
                <c:pt idx="3">
                  <c:v>105</c:v>
                </c:pt>
                <c:pt idx="4">
                  <c:v>7</c:v>
                </c:pt>
                <c:pt idx="5">
                  <c:v>26</c:v>
                </c:pt>
                <c:pt idx="6">
                  <c:v>28</c:v>
                </c:pt>
                <c:pt idx="7">
                  <c:v>14</c:v>
                </c:pt>
                <c:pt idx="8">
                  <c:v>14</c:v>
                </c:pt>
                <c:pt idx="9">
                  <c:v>14</c:v>
                </c:pt>
                <c:pt idx="10">
                  <c:v>25</c:v>
                </c:pt>
                <c:pt idx="11">
                  <c:v>275</c:v>
                </c:pt>
              </c:numCache>
            </c:numRef>
          </c:val>
        </c:ser>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5EB"/>
              </a:solidFill>
              <a:prstDash val="dash"/>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Workers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Planned</c:v>
                </c:pt>
              </c:strCache>
            </c:strRef>
          </c:tx>
          <c:spPr>
            <a:solidFill>
              <a:srgbClr val="2563EB"/>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August</c:v>
                  </c:pt>
                  <c:pt idx="1">
                    <c:v>September</c:v>
                  </c:pt>
                  <c:pt idx="2">
                    <c:v>October</c:v>
                  </c:pt>
                  <c:pt idx="3">
                    <c:v>November</c:v>
                  </c:pt>
                  <c:pt idx="4">
                    <c:v>December</c:v>
                  </c:pt>
                  <c:pt idx="5">
                    <c:v>January</c:v>
                  </c:pt>
                  <c:pt idx="6">
                    <c:v>February</c:v>
                  </c:pt>
                  <c:pt idx="7">
                    <c:v>March</c:v>
                  </c:pt>
                  <c:pt idx="8">
                    <c:v>April</c:v>
                  </c:pt>
                  <c:pt idx="9">
                    <c:v>May</c:v>
                  </c:pt>
                  <c:pt idx="10">
                    <c:v>June</c:v>
                  </c:pt>
                  <c:pt idx="11">
                    <c:v>July</c:v>
                  </c:pt>
                </c:lvl>
              </c:multiLvlStrCache>
            </c:multiLvlStrRef>
          </c:cat>
          <c:val>
            <c:numRef>
              <c:f>Sheet1!$B$2:$B$13</c:f>
              <c:numCache>
                <c:formatCode>General</c:formatCode>
                <c:ptCount val="12"/>
                <c:pt idx="0">
                  <c:v>5000000</c:v>
                </c:pt>
                <c:pt idx="1">
                  <c:v>7200000</c:v>
                </c:pt>
                <c:pt idx="2">
                  <c:v>5000000</c:v>
                </c:pt>
                <c:pt idx="3">
                  <c:v>7500000</c:v>
                </c:pt>
                <c:pt idx="4">
                  <c:v>8000000</c:v>
                </c:pt>
                <c:pt idx="5">
                  <c:v>9000000</c:v>
                </c:pt>
                <c:pt idx="6">
                  <c:v>12596861.8</c:v>
                </c:pt>
                <c:pt idx="7">
                  <c:v>12596861.8</c:v>
                </c:pt>
                <c:pt idx="8">
                  <c:v>12596861.8</c:v>
                </c:pt>
                <c:pt idx="9">
                  <c:v>12596861.8</c:v>
                </c:pt>
                <c:pt idx="10">
                  <c:v>12596861.8</c:v>
                </c:pt>
                <c:pt idx="11">
                  <c:v>12596861.8</c:v>
                </c:pt>
              </c:numCache>
            </c:numRef>
          </c:val>
        </c:ser>
        <c:ser>
          <c:idx val="1"/>
          <c:order val="1"/>
          <c:tx>
            <c:strRef>
              <c:f>Sheet1!$C$1</c:f>
              <c:strCache>
                <c:ptCount val="1"/>
                <c:pt idx="0">
                  <c:v>Actual</c:v>
                </c:pt>
              </c:strCache>
            </c:strRef>
          </c:tx>
          <c:spPr>
            <a:solidFill>
              <a:srgbClr val="156082"/>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August</c:v>
                  </c:pt>
                  <c:pt idx="1">
                    <c:v>September</c:v>
                  </c:pt>
                  <c:pt idx="2">
                    <c:v>October</c:v>
                  </c:pt>
                  <c:pt idx="3">
                    <c:v>November</c:v>
                  </c:pt>
                  <c:pt idx="4">
                    <c:v>December</c:v>
                  </c:pt>
                  <c:pt idx="5">
                    <c:v>January</c:v>
                  </c:pt>
                  <c:pt idx="6">
                    <c:v>February</c:v>
                  </c:pt>
                  <c:pt idx="7">
                    <c:v>March</c:v>
                  </c:pt>
                  <c:pt idx="8">
                    <c:v>April</c:v>
                  </c:pt>
                  <c:pt idx="9">
                    <c:v>May</c:v>
                  </c:pt>
                  <c:pt idx="10">
                    <c:v>June</c:v>
                  </c:pt>
                  <c:pt idx="11">
                    <c:v>July</c:v>
                  </c:pt>
                </c:lvl>
              </c:multiLvlStrCache>
            </c:multiLvlStrRef>
          </c:cat>
          <c:val>
            <c:numRef>
              <c:f>Sheet1!$C$2:$C$13</c:f>
              <c:numCache>
                <c:formatCode>General</c:formatCode>
                <c:ptCount val="12"/>
                <c:pt idx="0">
                  <c:v>1063955</c:v>
                </c:pt>
                <c:pt idx="1">
                  <c:v>7797193</c:v>
                </c:pt>
                <c:pt idx="2">
                  <c:v>168333</c:v>
                </c:pt>
                <c:pt idx="3">
                  <c:v>2376171</c:v>
                </c:pt>
                <c:pt idx="4">
                  <c:v>12765763</c:v>
                </c:pt>
                <c:pt idx="5">
                  <c:v>2906803.7399999998</c:v>
                </c:pt>
                <c:pt idx="6">
                  <c:v>9418848.1</c:v>
                </c:pt>
                <c:pt idx="7">
                  <c:v>2123756.45</c:v>
                </c:pt>
                <c:pt idx="8">
                  <c:v>8730949.04</c:v>
                </c:pt>
                <c:pt idx="9">
                  <c:v>19313808.5</c:v>
                </c:pt>
                <c:pt idx="10">
                  <c:v>8306604.76</c:v>
                </c:pt>
                <c:pt idx="11">
                  <c:v>5227082.93</c:v>
                </c:pt>
              </c:numCache>
            </c:numRef>
          </c:val>
        </c:ser>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5EB"/>
              </a:solidFill>
              <a:prstDash val="dash"/>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 lakh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Quality Statistic</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2563EB"/>
              </a:solidFill>
              <a:effectLst/>
            </c:spPr>
          </c:dPt>
          <c:dPt>
            <c:idx val="2"/>
            <c:bubble3D val="0"/>
            <c:spPr>
              <a:solidFill>
                <a:srgbClr val="C45C26"/>
              </a:solidFill>
              <a:effectLst/>
            </c:spPr>
          </c:dPt>
          <c:dLbls>
            <c:dLbl>
              <c:idx val="0"/>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1A1D26"/>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Site Observation</c:v>
                </c:pt>
                <c:pt idx="1">
                  <c:v>Site Instruction</c:v>
                </c:pt>
                <c:pt idx="2">
                  <c:v>NCR</c:v>
                </c:pt>
              </c:strCache>
            </c:strRef>
          </c:cat>
          <c:val>
            <c:numRef>
              <c:f>Sheet1!$B$2:$B$4</c:f>
              <c:numCache>
                <c:ptCount val="3"/>
                <c:pt idx="0">
                  <c:v>89</c:v>
                </c:pt>
                <c:pt idx="1">
                  <c:v>89</c:v>
                </c:pt>
                <c:pt idx="2">
                  <c:v>4</c:v>
                </c:pt>
              </c:numCache>
            </c:numRef>
          </c:val>
        </c:ser>
        <c:firstSliceAng val="0"/>
        <c:holeSize val="50"/>
      </c:doughnut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Planned</c:v>
                </c:pt>
              </c:strCache>
            </c:strRef>
          </c:tx>
          <c:spPr>
            <a:solidFill>
              <a:srgbClr val="2563EB"/>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Sheet1!$A$2:$A$9</c:f>
              <c:multiLvlStrCache>
                <c:ptCount val="8"/>
                <c:lvl>
                  <c:pt idx="0">
                    <c:v>Safe-manhours</c:v>
                  </c:pt>
                  <c:pt idx="1">
                    <c:v>Safe-man-days</c:v>
                  </c:pt>
                  <c:pt idx="2">
                    <c:v>Toolbox Talk</c:v>
                  </c:pt>
                  <c:pt idx="3">
                    <c:v>HSE induction</c:v>
                  </c:pt>
                  <c:pt idx="4">
                    <c:v>HSE trainings</c:v>
                  </c:pt>
                  <c:pt idx="5">
                    <c:v>Site safety Instructions</c:v>
                  </c:pt>
                  <c:pt idx="6">
                    <c:v>NCN Raised</c:v>
                  </c:pt>
                  <c:pt idx="7">
                    <c:v>Near Miss</c:v>
                  </c:pt>
                </c:lvl>
              </c:multiLvlStrCache>
            </c:multiLvlStrRef>
          </c:cat>
          <c:val>
            <c:numRef>
              <c:f>Sheet1!$B$2:$B$9</c:f>
              <c:numCache>
                <c:formatCode>General</c:formatCode>
                <c:ptCount val="8"/>
                <c:pt idx="0">
                  <c:v>253648</c:v>
                </c:pt>
                <c:pt idx="1">
                  <c:v>364</c:v>
                </c:pt>
                <c:pt idx="2">
                  <c:v>64</c:v>
                </c:pt>
                <c:pt idx="3">
                  <c:v>17</c:v>
                </c:pt>
                <c:pt idx="4">
                  <c:v>4</c:v>
                </c:pt>
                <c:pt idx="5">
                  <c:v>241</c:v>
                </c:pt>
                <c:pt idx="6">
                  <c:v>4</c:v>
                </c:pt>
                <c:pt idx="7">
                  <c:v>2</c:v>
                </c:pt>
              </c:numCache>
            </c:numRef>
          </c:val>
        </c:ser>
        <c:ser>
          <c:idx val="1"/>
          <c:order val="1"/>
          <c:tx>
            <c:strRef>
              <c:f>Sheet1!$C$1</c:f>
              <c:strCache>
                <c:ptCount val="1"/>
                <c:pt idx="0">
                  <c:v>Actual</c:v>
                </c:pt>
              </c:strCache>
            </c:strRef>
          </c:tx>
          <c:spPr>
            <a:solidFill>
              <a:srgbClr val="156082"/>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Sheet1!$A$2:$A$9</c:f>
              <c:multiLvlStrCache>
                <c:ptCount val="8"/>
                <c:lvl>
                  <c:pt idx="0">
                    <c:v>Safe-manhours</c:v>
                  </c:pt>
                  <c:pt idx="1">
                    <c:v>Safe-man-days</c:v>
                  </c:pt>
                  <c:pt idx="2">
                    <c:v>Toolbox Talk</c:v>
                  </c:pt>
                  <c:pt idx="3">
                    <c:v>HSE induction</c:v>
                  </c:pt>
                  <c:pt idx="4">
                    <c:v>HSE trainings</c:v>
                  </c:pt>
                  <c:pt idx="5">
                    <c:v>Site safety Instructions</c:v>
                  </c:pt>
                  <c:pt idx="6">
                    <c:v>NCN Raised</c:v>
                  </c:pt>
                  <c:pt idx="7">
                    <c:v>Near Miss</c:v>
                  </c:pt>
                </c:lvl>
              </c:multiLvlStrCache>
            </c:multiLvlStrRef>
          </c:cat>
          <c:val>
            <c:numRef>
              <c:f>Sheet1!$C$2:$C$9</c:f>
              <c:numCache>
                <c:formatCode>General</c:formatCode>
                <c:ptCount val="8"/>
                <c:pt idx="0">
                  <c:v>2200</c:v>
                </c:pt>
                <c:pt idx="1">
                  <c:v>7</c:v>
                </c:pt>
                <c:pt idx="2">
                  <c:v>0</c:v>
                </c:pt>
                <c:pt idx="3">
                  <c:v>0</c:v>
                </c:pt>
                <c:pt idx="4">
                  <c:v>0</c:v>
                </c:pt>
                <c:pt idx="5">
                  <c:v>0</c:v>
                </c:pt>
                <c:pt idx="6">
                  <c:v>0</c:v>
                </c:pt>
                <c:pt idx="7">
                  <c:v>0</c:v>
                </c:pt>
              </c:numCache>
            </c:numRef>
          </c:val>
        </c:ser>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5EB"/>
              </a:solidFill>
              <a:prstDash val="dash"/>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Count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Planned</c:v>
                </c:pt>
              </c:strCache>
            </c:strRef>
          </c:tx>
          <c:spPr>
            <a:solidFill>
              <a:srgbClr val="2563EB"/>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Sheet1!$A$2:$A$6</c:f>
              <c:multiLvlStrCache>
                <c:ptCount val="5"/>
                <c:lvl>
                  <c:pt idx="0">
                    <c:v>Brick masonary FF (115 mm)</c:v>
                  </c:pt>
                  <c:pt idx="1">
                    <c:v>Interior Paint</c:v>
                  </c:pt>
                  <c:pt idx="2">
                    <c:v>Windows Sill</c:v>
                  </c:pt>
                  <c:pt idx="3">
                    <c:v>Kerbing</c:v>
                  </c:pt>
                  <c:pt idx="4">
                    <c:v>Paver</c:v>
                  </c:pt>
                </c:lvl>
              </c:multiLvlStrCache>
            </c:multiLvlStrRef>
          </c:cat>
          <c:val>
            <c:numRef>
              <c:f>Sheet1!$B$2:$B$6</c:f>
              <c:numCache>
                <c:formatCode>General</c:formatCode>
                <c:ptCount val="5"/>
                <c:pt idx="0">
                  <c:v>88.13</c:v>
                </c:pt>
                <c:pt idx="1">
                  <c:v>-0.2800000000002001</c:v>
                </c:pt>
                <c:pt idx="2">
                  <c:v>8.46</c:v>
                </c:pt>
                <c:pt idx="3">
                  <c:v>20</c:v>
                </c:pt>
                <c:pt idx="4">
                  <c:v>100</c:v>
                </c:pt>
              </c:numCache>
            </c:numRef>
          </c:val>
        </c:ser>
        <c:ser>
          <c:idx val="1"/>
          <c:order val="1"/>
          <c:tx>
            <c:strRef>
              <c:f>Sheet1!$C$1</c:f>
              <c:strCache>
                <c:ptCount val="1"/>
                <c:pt idx="0">
                  <c:v>Actual</c:v>
                </c:pt>
              </c:strCache>
            </c:strRef>
          </c:tx>
          <c:spPr>
            <a:solidFill>
              <a:srgbClr val="156082"/>
            </a:solidFill>
            <a:effectLst/>
          </c:spPr>
          <c:invertIfNegative val="0"/>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cat>
            <c:multiLvlStrRef>
              <c:f>Sheet1!$A$2:$A$6</c:f>
              <c:multiLvlStrCache>
                <c:ptCount val="5"/>
                <c:lvl>
                  <c:pt idx="0">
                    <c:v>Brick masonary FF (115 mm)</c:v>
                  </c:pt>
                  <c:pt idx="1">
                    <c:v>Interior Paint</c:v>
                  </c:pt>
                  <c:pt idx="2">
                    <c:v>Windows Sill</c:v>
                  </c:pt>
                  <c:pt idx="3">
                    <c:v>Kerbing</c:v>
                  </c:pt>
                  <c:pt idx="4">
                    <c:v>Paver</c:v>
                  </c:pt>
                </c:lvl>
              </c:multiLvlStrCache>
            </c:multiLvlStrRef>
          </c:cat>
          <c:val>
            <c:numRef>
              <c:f>Sheet1!$C$2:$C$6</c:f>
              <c:numCache>
                <c:formatCode>General</c:formatCode>
                <c:ptCount val="5"/>
                <c:pt idx="0">
                  <c:v>88.13</c:v>
                </c:pt>
                <c:pt idx="1">
                  <c:v>0</c:v>
                </c:pt>
                <c:pt idx="2">
                  <c:v>8.46</c:v>
                </c:pt>
                <c:pt idx="3">
                  <c:v>10</c:v>
                </c:pt>
                <c:pt idx="4">
                  <c:v>10</c:v>
                </c:pt>
              </c:numCache>
            </c:numRef>
          </c:val>
        </c:ser>
        <c:dLbls>
          <c:numFmt formatCode="#,##0" sourceLinked="0"/>
          <c:txPr>
            <a:bodyPr/>
            <a:lstStyle/>
            <a:p>
              <a:pPr>
                <a:defRPr b="0" i="0" strike="noStrike" sz="1200" u="none">
                  <a:solidFill>
                    <a:srgbClr val="1A1D26"/>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5EB"/>
              </a:solidFill>
              <a:prstDash val="dash"/>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Qty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65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jp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slideLayout" Target="../slideLayouts/slideLayout1.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2841"/>
          </a:solidFill>
          <a:ln/>
        </p:spPr>
      </p:sp>
      <p:sp>
        <p:nvSpPr>
          <p:cNvPr id="3" name="Shape 1"/>
          <p:cNvSpPr/>
          <p:nvPr/>
        </p:nvSpPr>
        <p:spPr>
          <a:xfrm>
            <a:off x="0" y="0"/>
            <a:ext cx="201168" cy="6858000"/>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424160" y="256032"/>
            <a:ext cx="1371600" cy="438912"/>
          </a:xfrm>
          <a:prstGeom prst="rect">
            <a:avLst/>
          </a:prstGeom>
        </p:spPr>
      </p:pic>
      <p:sp>
        <p:nvSpPr>
          <p:cNvPr id="5" name="Text 2"/>
          <p:cNvSpPr/>
          <p:nvPr/>
        </p:nvSpPr>
        <p:spPr>
          <a:xfrm>
            <a:off x="640080" y="1417320"/>
            <a:ext cx="10972800" cy="640080"/>
          </a:xfrm>
          <a:prstGeom prst="rect">
            <a:avLst/>
          </a:prstGeom>
          <a:noFill/>
          <a:ln/>
        </p:spPr>
        <p:txBody>
          <a:bodyPr wrap="square" rtlCol="0" anchor="ctr"/>
          <a:lstStyle/>
          <a:p>
            <a:pPr indent="0" marL="0">
              <a:buNone/>
            </a:pPr>
            <a:r>
              <a:rPr lang="en-US" sz="3200" b="1" dirty="0">
                <a:solidFill>
                  <a:srgbClr val="FFFFFF"/>
                </a:solidFill>
              </a:rPr>
              <a:t>WEEKLY PROGRESS REPORT</a:t>
            </a:r>
            <a:endParaRPr lang="en-US" sz="3200" dirty="0"/>
          </a:p>
        </p:txBody>
      </p:sp>
      <p:sp>
        <p:nvSpPr>
          <p:cNvPr id="6" name="Text 3"/>
          <p:cNvSpPr/>
          <p:nvPr/>
        </p:nvSpPr>
        <p:spPr>
          <a:xfrm>
            <a:off x="640080" y="2103120"/>
            <a:ext cx="10972800" cy="640080"/>
          </a:xfrm>
          <a:prstGeom prst="rect">
            <a:avLst/>
          </a:prstGeom>
          <a:noFill/>
          <a:ln/>
        </p:spPr>
        <p:txBody>
          <a:bodyPr wrap="square" rtlCol="0" anchor="ctr"/>
          <a:lstStyle/>
          <a:p>
            <a:pPr indent="0" marL="0">
              <a:buNone/>
            </a:pPr>
            <a:r>
              <a:rPr lang="en-US" sz="2800" b="1" dirty="0">
                <a:solidFill>
                  <a:srgbClr val="E97132"/>
                </a:solidFill>
              </a:rPr>
              <a:t>Arvind Limited</a:t>
            </a:r>
            <a:endParaRPr lang="en-US" sz="2800" dirty="0"/>
          </a:p>
        </p:txBody>
      </p:sp>
      <p:sp>
        <p:nvSpPr>
          <p:cNvPr id="7" name="Shape 4"/>
          <p:cNvSpPr/>
          <p:nvPr/>
        </p:nvSpPr>
        <p:spPr>
          <a:xfrm>
            <a:off x="640080" y="2880360"/>
            <a:ext cx="2011680" cy="54864"/>
          </a:xfrm>
          <a:prstGeom prst="rect">
            <a:avLst/>
          </a:prstGeom>
          <a:solidFill>
            <a:srgbClr val="156082"/>
          </a:solidFill>
          <a:ln/>
        </p:spPr>
      </p:sp>
      <p:sp>
        <p:nvSpPr>
          <p:cNvPr id="8" name="Text 5"/>
          <p:cNvSpPr/>
          <p:nvPr/>
        </p:nvSpPr>
        <p:spPr>
          <a:xfrm>
            <a:off x="640080" y="3154680"/>
            <a:ext cx="10972800" cy="384048"/>
          </a:xfrm>
          <a:prstGeom prst="rect">
            <a:avLst/>
          </a:prstGeom>
          <a:noFill/>
          <a:ln/>
        </p:spPr>
        <p:txBody>
          <a:bodyPr wrap="square" rtlCol="0" anchor="ctr"/>
          <a:lstStyle/>
          <a:p>
            <a:pPr indent="0" marL="0">
              <a:buNone/>
            </a:pPr>
            <a:r>
              <a:rPr lang="en-US" sz="2000" b="1" dirty="0">
                <a:solidFill>
                  <a:srgbClr val="FFFFFF"/>
                </a:solidFill>
              </a:rPr>
              <a:t>REPORT NO.  52</a:t>
            </a:r>
            <a:endParaRPr lang="en-US" sz="2000" dirty="0"/>
          </a:p>
        </p:txBody>
      </p:sp>
      <p:sp>
        <p:nvSpPr>
          <p:cNvPr id="9" name="Text 6"/>
          <p:cNvSpPr/>
          <p:nvPr/>
        </p:nvSpPr>
        <p:spPr>
          <a:xfrm>
            <a:off x="640080" y="3611880"/>
            <a:ext cx="10972800" cy="347472"/>
          </a:xfrm>
          <a:prstGeom prst="rect">
            <a:avLst/>
          </a:prstGeom>
          <a:noFill/>
          <a:ln/>
        </p:spPr>
        <p:txBody>
          <a:bodyPr wrap="square" rtlCol="0" anchor="ctr"/>
          <a:lstStyle/>
          <a:p>
            <a:pPr indent="0" marL="0">
              <a:buNone/>
            </a:pPr>
            <a:r>
              <a:rPr lang="en-US" sz="1600" dirty="0">
                <a:solidFill>
                  <a:srgbClr val="D6DEE8"/>
                </a:solidFill>
              </a:rPr>
              <a:t>(23 July 2026 to 29 July 2026)</a:t>
            </a:r>
            <a:endParaRPr lang="en-US" sz="1600" dirty="0"/>
          </a:p>
        </p:txBody>
      </p:sp>
      <p:sp>
        <p:nvSpPr>
          <p:cNvPr id="10" name="Text 7"/>
          <p:cNvSpPr/>
          <p:nvPr/>
        </p:nvSpPr>
        <p:spPr>
          <a:xfrm>
            <a:off x="640080" y="5349240"/>
            <a:ext cx="10972800" cy="365760"/>
          </a:xfrm>
          <a:prstGeom prst="rect">
            <a:avLst/>
          </a:prstGeom>
          <a:noFill/>
          <a:ln/>
        </p:spPr>
        <p:txBody>
          <a:bodyPr wrap="square" rtlCol="0" anchor="ctr"/>
          <a:lstStyle/>
          <a:p>
            <a:pPr indent="0" marL="0">
              <a:buNone/>
            </a:pPr>
            <a:r>
              <a:rPr lang="en-US" sz="1300" dirty="0">
                <a:solidFill>
                  <a:srgbClr val="B8C4D0"/>
                </a:solidFill>
              </a:rPr>
              <a:t>Construction of Worker Dormitory — Arvind Limited, Santej   ·   Contractor  Bhavana Infra   ·   PMC  Sharnam Project Development Consultants &amp; Co.</a:t>
            </a:r>
            <a:endParaRPr lang="en-US" sz="1300" dirty="0"/>
          </a:p>
        </p:txBody>
      </p:sp>
      <p:sp>
        <p:nvSpPr>
          <p:cNvPr id="11" name="Text 8"/>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12" name="Text 9"/>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1 / 58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201168"/>
            <a:ext cx="7315200" cy="256032"/>
          </a:xfrm>
          <a:prstGeom prst="rect">
            <a:avLst/>
          </a:prstGeom>
          <a:noFill/>
          <a:ln/>
        </p:spPr>
        <p:txBody>
          <a:bodyPr wrap="square" rtlCol="0" anchor="ctr"/>
          <a:lstStyle/>
          <a:p>
            <a:pPr indent="0" marL="0">
              <a:buNone/>
            </a:pPr>
            <a:r>
              <a:rPr lang="en-US" sz="1200" b="1" dirty="0">
                <a:solidFill>
                  <a:srgbClr val="156082"/>
                </a:solidFill>
              </a:rPr>
              <a:t>Arvind Limited</a:t>
            </a:r>
            <a:endParaRPr lang="en-US" sz="1200" dirty="0"/>
          </a:p>
        </p:txBody>
      </p:sp>
      <p:sp>
        <p:nvSpPr>
          <p:cNvPr id="6" name="Text 3"/>
          <p:cNvSpPr/>
          <p:nvPr/>
        </p:nvSpPr>
        <p:spPr>
          <a:xfrm>
            <a:off x="411480" y="475488"/>
            <a:ext cx="7315200" cy="411480"/>
          </a:xfrm>
          <a:prstGeom prst="rect">
            <a:avLst/>
          </a:prstGeom>
          <a:noFill/>
          <a:ln/>
        </p:spPr>
        <p:txBody>
          <a:bodyPr wrap="square" rtlCol="0" anchor="ctr"/>
          <a:lstStyle/>
          <a:p>
            <a:pPr indent="0" marL="0">
              <a:buNone/>
            </a:pPr>
            <a:r>
              <a:rPr lang="en-US" sz="2800" b="1" dirty="0">
                <a:solidFill>
                  <a:srgbClr val="0E2841"/>
                </a:solidFill>
              </a:rPr>
              <a:t>INDEX</a:t>
            </a:r>
            <a:endParaRPr lang="en-US" sz="2800" dirty="0"/>
          </a:p>
        </p:txBody>
      </p:sp>
      <p:sp>
        <p:nvSpPr>
          <p:cNvPr id="7" name="Shape 4"/>
          <p:cNvSpPr/>
          <p:nvPr/>
        </p:nvSpPr>
        <p:spPr>
          <a:xfrm>
            <a:off x="411480" y="932688"/>
            <a:ext cx="1280160" cy="54864"/>
          </a:xfrm>
          <a:prstGeom prst="rect">
            <a:avLst/>
          </a:prstGeom>
          <a:solidFill>
            <a:srgbClr val="E97132"/>
          </a:solidFill>
          <a:ln/>
        </p:spPr>
      </p:sp>
      <p:sp>
        <p:nvSpPr>
          <p:cNvPr id="8" name="Shape 5"/>
          <p:cNvSpPr/>
          <p:nvPr/>
        </p:nvSpPr>
        <p:spPr>
          <a:xfrm>
            <a:off x="411480" y="1188720"/>
            <a:ext cx="5440680" cy="804672"/>
          </a:xfrm>
          <a:prstGeom prst="rect">
            <a:avLst/>
          </a:prstGeom>
          <a:solidFill>
            <a:srgbClr val="E8EEF4"/>
          </a:solidFill>
          <a:ln/>
        </p:spPr>
      </p:sp>
      <p:sp>
        <p:nvSpPr>
          <p:cNvPr id="9" name="Shape 6"/>
          <p:cNvSpPr/>
          <p:nvPr/>
        </p:nvSpPr>
        <p:spPr>
          <a:xfrm>
            <a:off x="411480" y="1188720"/>
            <a:ext cx="804672" cy="804672"/>
          </a:xfrm>
          <a:prstGeom prst="rect">
            <a:avLst/>
          </a:prstGeom>
          <a:solidFill>
            <a:srgbClr val="156082"/>
          </a:solidFill>
          <a:ln/>
        </p:spPr>
      </p:sp>
      <p:sp>
        <p:nvSpPr>
          <p:cNvPr id="10" name="Text 7"/>
          <p:cNvSpPr/>
          <p:nvPr/>
        </p:nvSpPr>
        <p:spPr>
          <a:xfrm>
            <a:off x="411480" y="1188720"/>
            <a:ext cx="804672" cy="804672"/>
          </a:xfrm>
          <a:prstGeom prst="rect">
            <a:avLst/>
          </a:prstGeom>
          <a:noFill/>
          <a:ln/>
        </p:spPr>
        <p:txBody>
          <a:bodyPr wrap="square" rtlCol="0" anchor="ctr"/>
          <a:lstStyle/>
          <a:p>
            <a:pPr algn="ctr" indent="0" marL="0">
              <a:buNone/>
            </a:pPr>
            <a:r>
              <a:rPr lang="en-US" sz="2200" b="1" dirty="0">
                <a:solidFill>
                  <a:srgbClr val="FFFFFF"/>
                </a:solidFill>
              </a:rPr>
              <a:t>1</a:t>
            </a:r>
            <a:endParaRPr lang="en-US" sz="2200" dirty="0"/>
          </a:p>
        </p:txBody>
      </p:sp>
      <p:sp>
        <p:nvSpPr>
          <p:cNvPr id="11" name="Text 8"/>
          <p:cNvSpPr/>
          <p:nvPr/>
        </p:nvSpPr>
        <p:spPr>
          <a:xfrm>
            <a:off x="1371600" y="1188720"/>
            <a:ext cx="4297680" cy="804672"/>
          </a:xfrm>
          <a:prstGeom prst="rect">
            <a:avLst/>
          </a:prstGeom>
          <a:noFill/>
          <a:ln/>
        </p:spPr>
        <p:txBody>
          <a:bodyPr wrap="square" rtlCol="0" anchor="ctr"/>
          <a:lstStyle/>
          <a:p>
            <a:pPr indent="0" marL="0">
              <a:buNone/>
            </a:pPr>
            <a:r>
              <a:rPr lang="en-US" sz="1600" b="1" dirty="0">
                <a:solidFill>
                  <a:srgbClr val="0E2841"/>
                </a:solidFill>
              </a:rPr>
              <a:t>Project Brief</a:t>
            </a:r>
            <a:endParaRPr lang="en-US" sz="1600" dirty="0"/>
          </a:p>
        </p:txBody>
      </p:sp>
      <p:sp>
        <p:nvSpPr>
          <p:cNvPr id="12" name="Shape 9"/>
          <p:cNvSpPr/>
          <p:nvPr/>
        </p:nvSpPr>
        <p:spPr>
          <a:xfrm>
            <a:off x="411480" y="2148840"/>
            <a:ext cx="5440680" cy="804672"/>
          </a:xfrm>
          <a:prstGeom prst="rect">
            <a:avLst/>
          </a:prstGeom>
          <a:solidFill>
            <a:srgbClr val="F3F6F9"/>
          </a:solidFill>
          <a:ln/>
        </p:spPr>
      </p:sp>
      <p:sp>
        <p:nvSpPr>
          <p:cNvPr id="13" name="Shape 10"/>
          <p:cNvSpPr/>
          <p:nvPr/>
        </p:nvSpPr>
        <p:spPr>
          <a:xfrm>
            <a:off x="411480" y="2148840"/>
            <a:ext cx="804672" cy="804672"/>
          </a:xfrm>
          <a:prstGeom prst="rect">
            <a:avLst/>
          </a:prstGeom>
          <a:solidFill>
            <a:srgbClr val="156082"/>
          </a:solidFill>
          <a:ln/>
        </p:spPr>
      </p:sp>
      <p:sp>
        <p:nvSpPr>
          <p:cNvPr id="14" name="Text 11"/>
          <p:cNvSpPr/>
          <p:nvPr/>
        </p:nvSpPr>
        <p:spPr>
          <a:xfrm>
            <a:off x="411480" y="2148840"/>
            <a:ext cx="804672" cy="804672"/>
          </a:xfrm>
          <a:prstGeom prst="rect">
            <a:avLst/>
          </a:prstGeom>
          <a:noFill/>
          <a:ln/>
        </p:spPr>
        <p:txBody>
          <a:bodyPr wrap="square" rtlCol="0" anchor="ctr"/>
          <a:lstStyle/>
          <a:p>
            <a:pPr algn="ctr" indent="0" marL="0">
              <a:buNone/>
            </a:pPr>
            <a:r>
              <a:rPr lang="en-US" sz="2200" b="1" dirty="0">
                <a:solidFill>
                  <a:srgbClr val="FFFFFF"/>
                </a:solidFill>
              </a:rPr>
              <a:t>2</a:t>
            </a:r>
            <a:endParaRPr lang="en-US" sz="2200" dirty="0"/>
          </a:p>
        </p:txBody>
      </p:sp>
      <p:sp>
        <p:nvSpPr>
          <p:cNvPr id="15" name="Text 12"/>
          <p:cNvSpPr/>
          <p:nvPr/>
        </p:nvSpPr>
        <p:spPr>
          <a:xfrm>
            <a:off x="1371600" y="2148840"/>
            <a:ext cx="4297680" cy="804672"/>
          </a:xfrm>
          <a:prstGeom prst="rect">
            <a:avLst/>
          </a:prstGeom>
          <a:noFill/>
          <a:ln/>
        </p:spPr>
        <p:txBody>
          <a:bodyPr wrap="square" rtlCol="0" anchor="ctr"/>
          <a:lstStyle/>
          <a:p>
            <a:pPr indent="0" marL="0">
              <a:buNone/>
            </a:pPr>
            <a:r>
              <a:rPr lang="en-US" sz="1600" b="1" dirty="0">
                <a:solidFill>
                  <a:srgbClr val="0E2841"/>
                </a:solidFill>
              </a:rPr>
              <a:t>Project Stakeholders</a:t>
            </a:r>
            <a:endParaRPr lang="en-US" sz="1600" dirty="0"/>
          </a:p>
        </p:txBody>
      </p:sp>
      <p:sp>
        <p:nvSpPr>
          <p:cNvPr id="16" name="Shape 13"/>
          <p:cNvSpPr/>
          <p:nvPr/>
        </p:nvSpPr>
        <p:spPr>
          <a:xfrm>
            <a:off x="411480" y="3108960"/>
            <a:ext cx="5440680" cy="804672"/>
          </a:xfrm>
          <a:prstGeom prst="rect">
            <a:avLst/>
          </a:prstGeom>
          <a:solidFill>
            <a:srgbClr val="E8EEF4"/>
          </a:solidFill>
          <a:ln/>
        </p:spPr>
      </p:sp>
      <p:sp>
        <p:nvSpPr>
          <p:cNvPr id="17" name="Shape 14"/>
          <p:cNvSpPr/>
          <p:nvPr/>
        </p:nvSpPr>
        <p:spPr>
          <a:xfrm>
            <a:off x="411480" y="3108960"/>
            <a:ext cx="804672" cy="804672"/>
          </a:xfrm>
          <a:prstGeom prst="rect">
            <a:avLst/>
          </a:prstGeom>
          <a:solidFill>
            <a:srgbClr val="156082"/>
          </a:solidFill>
          <a:ln/>
        </p:spPr>
      </p:sp>
      <p:sp>
        <p:nvSpPr>
          <p:cNvPr id="18" name="Text 15"/>
          <p:cNvSpPr/>
          <p:nvPr/>
        </p:nvSpPr>
        <p:spPr>
          <a:xfrm>
            <a:off x="411480" y="3108960"/>
            <a:ext cx="804672" cy="804672"/>
          </a:xfrm>
          <a:prstGeom prst="rect">
            <a:avLst/>
          </a:prstGeom>
          <a:noFill/>
          <a:ln/>
        </p:spPr>
        <p:txBody>
          <a:bodyPr wrap="square" rtlCol="0" anchor="ctr"/>
          <a:lstStyle/>
          <a:p>
            <a:pPr algn="ctr" indent="0" marL="0">
              <a:buNone/>
            </a:pPr>
            <a:r>
              <a:rPr lang="en-US" sz="2200" b="1" dirty="0">
                <a:solidFill>
                  <a:srgbClr val="FFFFFF"/>
                </a:solidFill>
              </a:rPr>
              <a:t>3</a:t>
            </a:r>
            <a:endParaRPr lang="en-US" sz="2200" dirty="0"/>
          </a:p>
        </p:txBody>
      </p:sp>
      <p:sp>
        <p:nvSpPr>
          <p:cNvPr id="19" name="Text 16"/>
          <p:cNvSpPr/>
          <p:nvPr/>
        </p:nvSpPr>
        <p:spPr>
          <a:xfrm>
            <a:off x="1371600" y="3108960"/>
            <a:ext cx="4297680" cy="804672"/>
          </a:xfrm>
          <a:prstGeom prst="rect">
            <a:avLst/>
          </a:prstGeom>
          <a:noFill/>
          <a:ln/>
        </p:spPr>
        <p:txBody>
          <a:bodyPr wrap="square" rtlCol="0" anchor="ctr"/>
          <a:lstStyle/>
          <a:p>
            <a:pPr indent="0" marL="0">
              <a:buNone/>
            </a:pPr>
            <a:r>
              <a:rPr lang="en-US" sz="1600" b="1" dirty="0">
                <a:solidFill>
                  <a:srgbClr val="0E2841"/>
                </a:solidFill>
              </a:rPr>
              <a:t>Mobilisation Plan</a:t>
            </a:r>
            <a:endParaRPr lang="en-US" sz="1600" dirty="0"/>
          </a:p>
        </p:txBody>
      </p:sp>
      <p:sp>
        <p:nvSpPr>
          <p:cNvPr id="20" name="Shape 17"/>
          <p:cNvSpPr/>
          <p:nvPr/>
        </p:nvSpPr>
        <p:spPr>
          <a:xfrm>
            <a:off x="411480" y="4069080"/>
            <a:ext cx="5440680" cy="804672"/>
          </a:xfrm>
          <a:prstGeom prst="rect">
            <a:avLst/>
          </a:prstGeom>
          <a:solidFill>
            <a:srgbClr val="F3F6F9"/>
          </a:solidFill>
          <a:ln/>
        </p:spPr>
      </p:sp>
      <p:sp>
        <p:nvSpPr>
          <p:cNvPr id="21" name="Shape 18"/>
          <p:cNvSpPr/>
          <p:nvPr/>
        </p:nvSpPr>
        <p:spPr>
          <a:xfrm>
            <a:off x="411480" y="4069080"/>
            <a:ext cx="804672" cy="804672"/>
          </a:xfrm>
          <a:prstGeom prst="rect">
            <a:avLst/>
          </a:prstGeom>
          <a:solidFill>
            <a:srgbClr val="156082"/>
          </a:solidFill>
          <a:ln/>
        </p:spPr>
      </p:sp>
      <p:sp>
        <p:nvSpPr>
          <p:cNvPr id="22" name="Text 19"/>
          <p:cNvSpPr/>
          <p:nvPr/>
        </p:nvSpPr>
        <p:spPr>
          <a:xfrm>
            <a:off x="411480" y="4069080"/>
            <a:ext cx="804672" cy="804672"/>
          </a:xfrm>
          <a:prstGeom prst="rect">
            <a:avLst/>
          </a:prstGeom>
          <a:noFill/>
          <a:ln/>
        </p:spPr>
        <p:txBody>
          <a:bodyPr wrap="square" rtlCol="0" anchor="ctr"/>
          <a:lstStyle/>
          <a:p>
            <a:pPr algn="ctr" indent="0" marL="0">
              <a:buNone/>
            </a:pPr>
            <a:r>
              <a:rPr lang="en-US" sz="2200" b="1" dirty="0">
                <a:solidFill>
                  <a:srgbClr val="FFFFFF"/>
                </a:solidFill>
              </a:rPr>
              <a:t>4</a:t>
            </a:r>
            <a:endParaRPr lang="en-US" sz="2200" dirty="0"/>
          </a:p>
        </p:txBody>
      </p:sp>
      <p:sp>
        <p:nvSpPr>
          <p:cNvPr id="23" name="Text 20"/>
          <p:cNvSpPr/>
          <p:nvPr/>
        </p:nvSpPr>
        <p:spPr>
          <a:xfrm>
            <a:off x="1371600" y="4069080"/>
            <a:ext cx="4297680" cy="804672"/>
          </a:xfrm>
          <a:prstGeom prst="rect">
            <a:avLst/>
          </a:prstGeom>
          <a:noFill/>
          <a:ln/>
        </p:spPr>
        <p:txBody>
          <a:bodyPr wrap="square" rtlCol="0" anchor="ctr"/>
          <a:lstStyle/>
          <a:p>
            <a:pPr indent="0" marL="0">
              <a:buNone/>
            </a:pPr>
            <a:r>
              <a:rPr lang="en-US" sz="1600" b="1" dirty="0">
                <a:solidFill>
                  <a:srgbClr val="0E2841"/>
                </a:solidFill>
              </a:rPr>
              <a:t>Risk Register</a:t>
            </a:r>
            <a:endParaRPr lang="en-US" sz="1600" dirty="0"/>
          </a:p>
        </p:txBody>
      </p:sp>
      <p:sp>
        <p:nvSpPr>
          <p:cNvPr id="24" name="Shape 21"/>
          <p:cNvSpPr/>
          <p:nvPr/>
        </p:nvSpPr>
        <p:spPr>
          <a:xfrm>
            <a:off x="411480" y="5029200"/>
            <a:ext cx="5440680" cy="804672"/>
          </a:xfrm>
          <a:prstGeom prst="rect">
            <a:avLst/>
          </a:prstGeom>
          <a:solidFill>
            <a:srgbClr val="E8EEF4"/>
          </a:solidFill>
          <a:ln/>
        </p:spPr>
      </p:sp>
      <p:sp>
        <p:nvSpPr>
          <p:cNvPr id="25" name="Shape 22"/>
          <p:cNvSpPr/>
          <p:nvPr/>
        </p:nvSpPr>
        <p:spPr>
          <a:xfrm>
            <a:off x="411480" y="5029200"/>
            <a:ext cx="804672" cy="804672"/>
          </a:xfrm>
          <a:prstGeom prst="rect">
            <a:avLst/>
          </a:prstGeom>
          <a:solidFill>
            <a:srgbClr val="156082"/>
          </a:solidFill>
          <a:ln/>
        </p:spPr>
      </p:sp>
      <p:sp>
        <p:nvSpPr>
          <p:cNvPr id="26" name="Text 23"/>
          <p:cNvSpPr/>
          <p:nvPr/>
        </p:nvSpPr>
        <p:spPr>
          <a:xfrm>
            <a:off x="411480" y="5029200"/>
            <a:ext cx="804672" cy="804672"/>
          </a:xfrm>
          <a:prstGeom prst="rect">
            <a:avLst/>
          </a:prstGeom>
          <a:noFill/>
          <a:ln/>
        </p:spPr>
        <p:txBody>
          <a:bodyPr wrap="square" rtlCol="0" anchor="ctr"/>
          <a:lstStyle/>
          <a:p>
            <a:pPr algn="ctr" indent="0" marL="0">
              <a:buNone/>
            </a:pPr>
            <a:r>
              <a:rPr lang="en-US" sz="2200" b="1" dirty="0">
                <a:solidFill>
                  <a:srgbClr val="FFFFFF"/>
                </a:solidFill>
              </a:rPr>
              <a:t>5</a:t>
            </a:r>
            <a:endParaRPr lang="en-US" sz="2200" dirty="0"/>
          </a:p>
        </p:txBody>
      </p:sp>
      <p:sp>
        <p:nvSpPr>
          <p:cNvPr id="27" name="Text 24"/>
          <p:cNvSpPr/>
          <p:nvPr/>
        </p:nvSpPr>
        <p:spPr>
          <a:xfrm>
            <a:off x="1371600" y="5029200"/>
            <a:ext cx="4297680" cy="804672"/>
          </a:xfrm>
          <a:prstGeom prst="rect">
            <a:avLst/>
          </a:prstGeom>
          <a:noFill/>
          <a:ln/>
        </p:spPr>
        <p:txBody>
          <a:bodyPr wrap="square" rtlCol="0" anchor="ctr"/>
          <a:lstStyle/>
          <a:p>
            <a:pPr indent="0" marL="0">
              <a:buNone/>
            </a:pPr>
            <a:r>
              <a:rPr lang="en-US" sz="1600" b="1" dirty="0">
                <a:solidFill>
                  <a:srgbClr val="0E2841"/>
                </a:solidFill>
              </a:rPr>
              <a:t>Procurement Tracker</a:t>
            </a:r>
            <a:endParaRPr lang="en-US" sz="1600" dirty="0"/>
          </a:p>
        </p:txBody>
      </p:sp>
      <p:sp>
        <p:nvSpPr>
          <p:cNvPr id="28" name="Shape 25"/>
          <p:cNvSpPr/>
          <p:nvPr/>
        </p:nvSpPr>
        <p:spPr>
          <a:xfrm>
            <a:off x="6172200" y="1188720"/>
            <a:ext cx="5440680" cy="804672"/>
          </a:xfrm>
          <a:prstGeom prst="rect">
            <a:avLst/>
          </a:prstGeom>
          <a:solidFill>
            <a:srgbClr val="F3F6F9"/>
          </a:solidFill>
          <a:ln/>
        </p:spPr>
      </p:sp>
      <p:sp>
        <p:nvSpPr>
          <p:cNvPr id="29" name="Shape 26"/>
          <p:cNvSpPr/>
          <p:nvPr/>
        </p:nvSpPr>
        <p:spPr>
          <a:xfrm>
            <a:off x="6172200" y="1188720"/>
            <a:ext cx="804672" cy="804672"/>
          </a:xfrm>
          <a:prstGeom prst="rect">
            <a:avLst/>
          </a:prstGeom>
          <a:solidFill>
            <a:srgbClr val="156082"/>
          </a:solidFill>
          <a:ln/>
        </p:spPr>
      </p:sp>
      <p:sp>
        <p:nvSpPr>
          <p:cNvPr id="30" name="Text 27"/>
          <p:cNvSpPr/>
          <p:nvPr/>
        </p:nvSpPr>
        <p:spPr>
          <a:xfrm>
            <a:off x="6172200" y="1188720"/>
            <a:ext cx="804672" cy="804672"/>
          </a:xfrm>
          <a:prstGeom prst="rect">
            <a:avLst/>
          </a:prstGeom>
          <a:noFill/>
          <a:ln/>
        </p:spPr>
        <p:txBody>
          <a:bodyPr wrap="square" rtlCol="0" anchor="ctr"/>
          <a:lstStyle/>
          <a:p>
            <a:pPr algn="ctr" indent="0" marL="0">
              <a:buNone/>
            </a:pPr>
            <a:r>
              <a:rPr lang="en-US" sz="2200" b="1" dirty="0">
                <a:solidFill>
                  <a:srgbClr val="FFFFFF"/>
                </a:solidFill>
              </a:rPr>
              <a:t>6</a:t>
            </a:r>
            <a:endParaRPr lang="en-US" sz="2200" dirty="0"/>
          </a:p>
        </p:txBody>
      </p:sp>
      <p:sp>
        <p:nvSpPr>
          <p:cNvPr id="31" name="Text 28"/>
          <p:cNvSpPr/>
          <p:nvPr/>
        </p:nvSpPr>
        <p:spPr>
          <a:xfrm>
            <a:off x="7132320" y="1188720"/>
            <a:ext cx="4297680" cy="804672"/>
          </a:xfrm>
          <a:prstGeom prst="rect">
            <a:avLst/>
          </a:prstGeom>
          <a:noFill/>
          <a:ln/>
        </p:spPr>
        <p:txBody>
          <a:bodyPr wrap="square" rtlCol="0" anchor="ctr"/>
          <a:lstStyle/>
          <a:p>
            <a:pPr indent="0" marL="0">
              <a:buNone/>
            </a:pPr>
            <a:r>
              <a:rPr lang="en-US" sz="1600" b="1" dirty="0">
                <a:solidFill>
                  <a:srgbClr val="0E2841"/>
                </a:solidFill>
              </a:rPr>
              <a:t>Weekly Safety Update</a:t>
            </a:r>
            <a:endParaRPr lang="en-US" sz="1600" dirty="0"/>
          </a:p>
        </p:txBody>
      </p:sp>
      <p:sp>
        <p:nvSpPr>
          <p:cNvPr id="32" name="Shape 29"/>
          <p:cNvSpPr/>
          <p:nvPr/>
        </p:nvSpPr>
        <p:spPr>
          <a:xfrm>
            <a:off x="6172200" y="2148840"/>
            <a:ext cx="5440680" cy="804672"/>
          </a:xfrm>
          <a:prstGeom prst="rect">
            <a:avLst/>
          </a:prstGeom>
          <a:solidFill>
            <a:srgbClr val="E8EEF4"/>
          </a:solidFill>
          <a:ln/>
        </p:spPr>
      </p:sp>
      <p:sp>
        <p:nvSpPr>
          <p:cNvPr id="33" name="Shape 30"/>
          <p:cNvSpPr/>
          <p:nvPr/>
        </p:nvSpPr>
        <p:spPr>
          <a:xfrm>
            <a:off x="6172200" y="2148840"/>
            <a:ext cx="804672" cy="804672"/>
          </a:xfrm>
          <a:prstGeom prst="rect">
            <a:avLst/>
          </a:prstGeom>
          <a:solidFill>
            <a:srgbClr val="156082"/>
          </a:solidFill>
          <a:ln/>
        </p:spPr>
      </p:sp>
      <p:sp>
        <p:nvSpPr>
          <p:cNvPr id="34" name="Text 31"/>
          <p:cNvSpPr/>
          <p:nvPr/>
        </p:nvSpPr>
        <p:spPr>
          <a:xfrm>
            <a:off x="6172200" y="2148840"/>
            <a:ext cx="804672" cy="804672"/>
          </a:xfrm>
          <a:prstGeom prst="rect">
            <a:avLst/>
          </a:prstGeom>
          <a:noFill/>
          <a:ln/>
        </p:spPr>
        <p:txBody>
          <a:bodyPr wrap="square" rtlCol="0" anchor="ctr"/>
          <a:lstStyle/>
          <a:p>
            <a:pPr algn="ctr" indent="0" marL="0">
              <a:buNone/>
            </a:pPr>
            <a:r>
              <a:rPr lang="en-US" sz="2200" b="1" dirty="0">
                <a:solidFill>
                  <a:srgbClr val="FFFFFF"/>
                </a:solidFill>
              </a:rPr>
              <a:t>7</a:t>
            </a:r>
            <a:endParaRPr lang="en-US" sz="2200" dirty="0"/>
          </a:p>
        </p:txBody>
      </p:sp>
      <p:sp>
        <p:nvSpPr>
          <p:cNvPr id="35" name="Text 32"/>
          <p:cNvSpPr/>
          <p:nvPr/>
        </p:nvSpPr>
        <p:spPr>
          <a:xfrm>
            <a:off x="7132320" y="2148840"/>
            <a:ext cx="4297680" cy="804672"/>
          </a:xfrm>
          <a:prstGeom prst="rect">
            <a:avLst/>
          </a:prstGeom>
          <a:noFill/>
          <a:ln/>
        </p:spPr>
        <p:txBody>
          <a:bodyPr wrap="square" rtlCol="0" anchor="ctr"/>
          <a:lstStyle/>
          <a:p>
            <a:pPr indent="0" marL="0">
              <a:buNone/>
            </a:pPr>
            <a:r>
              <a:rPr lang="en-US" sz="1600" b="1" dirty="0">
                <a:solidFill>
                  <a:srgbClr val="0E2841"/>
                </a:solidFill>
              </a:rPr>
              <a:t>Weekly Quality Update</a:t>
            </a:r>
            <a:endParaRPr lang="en-US" sz="1600" dirty="0"/>
          </a:p>
        </p:txBody>
      </p:sp>
      <p:sp>
        <p:nvSpPr>
          <p:cNvPr id="36" name="Shape 33"/>
          <p:cNvSpPr/>
          <p:nvPr/>
        </p:nvSpPr>
        <p:spPr>
          <a:xfrm>
            <a:off x="6172200" y="3108960"/>
            <a:ext cx="5440680" cy="804672"/>
          </a:xfrm>
          <a:prstGeom prst="rect">
            <a:avLst/>
          </a:prstGeom>
          <a:solidFill>
            <a:srgbClr val="F3F6F9"/>
          </a:solidFill>
          <a:ln/>
        </p:spPr>
      </p:sp>
      <p:sp>
        <p:nvSpPr>
          <p:cNvPr id="37" name="Shape 34"/>
          <p:cNvSpPr/>
          <p:nvPr/>
        </p:nvSpPr>
        <p:spPr>
          <a:xfrm>
            <a:off x="6172200" y="3108960"/>
            <a:ext cx="804672" cy="804672"/>
          </a:xfrm>
          <a:prstGeom prst="rect">
            <a:avLst/>
          </a:prstGeom>
          <a:solidFill>
            <a:srgbClr val="156082"/>
          </a:solidFill>
          <a:ln/>
        </p:spPr>
      </p:sp>
      <p:sp>
        <p:nvSpPr>
          <p:cNvPr id="38" name="Text 35"/>
          <p:cNvSpPr/>
          <p:nvPr/>
        </p:nvSpPr>
        <p:spPr>
          <a:xfrm>
            <a:off x="6172200" y="3108960"/>
            <a:ext cx="804672" cy="804672"/>
          </a:xfrm>
          <a:prstGeom prst="rect">
            <a:avLst/>
          </a:prstGeom>
          <a:noFill/>
          <a:ln/>
        </p:spPr>
        <p:txBody>
          <a:bodyPr wrap="square" rtlCol="0" anchor="ctr"/>
          <a:lstStyle/>
          <a:p>
            <a:pPr algn="ctr" indent="0" marL="0">
              <a:buNone/>
            </a:pPr>
            <a:r>
              <a:rPr lang="en-US" sz="2200" b="1" dirty="0">
                <a:solidFill>
                  <a:srgbClr val="FFFFFF"/>
                </a:solidFill>
              </a:rPr>
              <a:t>8</a:t>
            </a:r>
            <a:endParaRPr lang="en-US" sz="2200" dirty="0"/>
          </a:p>
        </p:txBody>
      </p:sp>
      <p:sp>
        <p:nvSpPr>
          <p:cNvPr id="39" name="Text 36"/>
          <p:cNvSpPr/>
          <p:nvPr/>
        </p:nvSpPr>
        <p:spPr>
          <a:xfrm>
            <a:off x="7132320" y="3108960"/>
            <a:ext cx="4297680" cy="804672"/>
          </a:xfrm>
          <a:prstGeom prst="rect">
            <a:avLst/>
          </a:prstGeom>
          <a:noFill/>
          <a:ln/>
        </p:spPr>
        <p:txBody>
          <a:bodyPr wrap="square" rtlCol="0" anchor="ctr"/>
          <a:lstStyle/>
          <a:p>
            <a:pPr indent="0" marL="0">
              <a:buNone/>
            </a:pPr>
            <a:r>
              <a:rPr lang="en-US" sz="1600" b="1" dirty="0">
                <a:solidFill>
                  <a:srgbClr val="0E2841"/>
                </a:solidFill>
              </a:rPr>
              <a:t>Project Progress</a:t>
            </a:r>
            <a:endParaRPr lang="en-US" sz="1600" dirty="0"/>
          </a:p>
        </p:txBody>
      </p:sp>
      <p:sp>
        <p:nvSpPr>
          <p:cNvPr id="40" name="Shape 37"/>
          <p:cNvSpPr/>
          <p:nvPr/>
        </p:nvSpPr>
        <p:spPr>
          <a:xfrm>
            <a:off x="6172200" y="4069080"/>
            <a:ext cx="5440680" cy="804672"/>
          </a:xfrm>
          <a:prstGeom prst="rect">
            <a:avLst/>
          </a:prstGeom>
          <a:solidFill>
            <a:srgbClr val="E8EEF4"/>
          </a:solidFill>
          <a:ln/>
        </p:spPr>
      </p:sp>
      <p:sp>
        <p:nvSpPr>
          <p:cNvPr id="41" name="Shape 38"/>
          <p:cNvSpPr/>
          <p:nvPr/>
        </p:nvSpPr>
        <p:spPr>
          <a:xfrm>
            <a:off x="6172200" y="4069080"/>
            <a:ext cx="804672" cy="804672"/>
          </a:xfrm>
          <a:prstGeom prst="rect">
            <a:avLst/>
          </a:prstGeom>
          <a:solidFill>
            <a:srgbClr val="156082"/>
          </a:solidFill>
          <a:ln/>
        </p:spPr>
      </p:sp>
      <p:sp>
        <p:nvSpPr>
          <p:cNvPr id="42" name="Text 39"/>
          <p:cNvSpPr/>
          <p:nvPr/>
        </p:nvSpPr>
        <p:spPr>
          <a:xfrm>
            <a:off x="6172200" y="4069080"/>
            <a:ext cx="804672" cy="804672"/>
          </a:xfrm>
          <a:prstGeom prst="rect">
            <a:avLst/>
          </a:prstGeom>
          <a:noFill/>
          <a:ln/>
        </p:spPr>
        <p:txBody>
          <a:bodyPr wrap="square" rtlCol="0" anchor="ctr"/>
          <a:lstStyle/>
          <a:p>
            <a:pPr algn="ctr" indent="0" marL="0">
              <a:buNone/>
            </a:pPr>
            <a:r>
              <a:rPr lang="en-US" sz="2200" b="1" dirty="0">
                <a:solidFill>
                  <a:srgbClr val="FFFFFF"/>
                </a:solidFill>
              </a:rPr>
              <a:t>9</a:t>
            </a:r>
            <a:endParaRPr lang="en-US" sz="2200" dirty="0"/>
          </a:p>
        </p:txBody>
      </p:sp>
      <p:sp>
        <p:nvSpPr>
          <p:cNvPr id="43" name="Text 40"/>
          <p:cNvSpPr/>
          <p:nvPr/>
        </p:nvSpPr>
        <p:spPr>
          <a:xfrm>
            <a:off x="7132320" y="4069080"/>
            <a:ext cx="4297680" cy="804672"/>
          </a:xfrm>
          <a:prstGeom prst="rect">
            <a:avLst/>
          </a:prstGeom>
          <a:noFill/>
          <a:ln/>
        </p:spPr>
        <p:txBody>
          <a:bodyPr wrap="square" rtlCol="0" anchor="ctr"/>
          <a:lstStyle/>
          <a:p>
            <a:pPr indent="0" marL="0">
              <a:buNone/>
            </a:pPr>
            <a:r>
              <a:rPr lang="en-US" sz="1600" b="1" dirty="0">
                <a:solidFill>
                  <a:srgbClr val="0E2841"/>
                </a:solidFill>
              </a:rPr>
              <a:t>Weekly Planned Vs. Actual</a:t>
            </a:r>
            <a:endParaRPr lang="en-US" sz="1600" dirty="0"/>
          </a:p>
        </p:txBody>
      </p:sp>
      <p:sp>
        <p:nvSpPr>
          <p:cNvPr id="44" name="Shape 41"/>
          <p:cNvSpPr/>
          <p:nvPr/>
        </p:nvSpPr>
        <p:spPr>
          <a:xfrm>
            <a:off x="6172200" y="5029200"/>
            <a:ext cx="5440680" cy="804672"/>
          </a:xfrm>
          <a:prstGeom prst="rect">
            <a:avLst/>
          </a:prstGeom>
          <a:solidFill>
            <a:srgbClr val="F3F6F9"/>
          </a:solidFill>
          <a:ln/>
        </p:spPr>
      </p:sp>
      <p:sp>
        <p:nvSpPr>
          <p:cNvPr id="45" name="Shape 42"/>
          <p:cNvSpPr/>
          <p:nvPr/>
        </p:nvSpPr>
        <p:spPr>
          <a:xfrm>
            <a:off x="6172200" y="5029200"/>
            <a:ext cx="804672" cy="804672"/>
          </a:xfrm>
          <a:prstGeom prst="rect">
            <a:avLst/>
          </a:prstGeom>
          <a:solidFill>
            <a:srgbClr val="156082"/>
          </a:solidFill>
          <a:ln/>
        </p:spPr>
      </p:sp>
      <p:sp>
        <p:nvSpPr>
          <p:cNvPr id="46" name="Text 43"/>
          <p:cNvSpPr/>
          <p:nvPr/>
        </p:nvSpPr>
        <p:spPr>
          <a:xfrm>
            <a:off x="6172200" y="5029200"/>
            <a:ext cx="804672" cy="804672"/>
          </a:xfrm>
          <a:prstGeom prst="rect">
            <a:avLst/>
          </a:prstGeom>
          <a:noFill/>
          <a:ln/>
        </p:spPr>
        <p:txBody>
          <a:bodyPr wrap="square" rtlCol="0" anchor="ctr"/>
          <a:lstStyle/>
          <a:p>
            <a:pPr algn="ctr" indent="0" marL="0">
              <a:buNone/>
            </a:pPr>
            <a:r>
              <a:rPr lang="en-US" sz="2200" b="1" dirty="0">
                <a:solidFill>
                  <a:srgbClr val="FFFFFF"/>
                </a:solidFill>
              </a:rPr>
              <a:t>10</a:t>
            </a:r>
            <a:endParaRPr lang="en-US" sz="2200" dirty="0"/>
          </a:p>
        </p:txBody>
      </p:sp>
      <p:sp>
        <p:nvSpPr>
          <p:cNvPr id="47" name="Text 44"/>
          <p:cNvSpPr/>
          <p:nvPr/>
        </p:nvSpPr>
        <p:spPr>
          <a:xfrm>
            <a:off x="7132320" y="5029200"/>
            <a:ext cx="4297680" cy="804672"/>
          </a:xfrm>
          <a:prstGeom prst="rect">
            <a:avLst/>
          </a:prstGeom>
          <a:noFill/>
          <a:ln/>
        </p:spPr>
        <p:txBody>
          <a:bodyPr wrap="square" rtlCol="0" anchor="ctr"/>
          <a:lstStyle/>
          <a:p>
            <a:pPr indent="0" marL="0">
              <a:buNone/>
            </a:pPr>
            <a:r>
              <a:rPr lang="en-US" sz="1600" b="1" dirty="0">
                <a:solidFill>
                  <a:srgbClr val="0E2841"/>
                </a:solidFill>
              </a:rPr>
              <a:t>Project Progress Pictures</a:t>
            </a:r>
            <a:endParaRPr lang="en-US" sz="1600" dirty="0"/>
          </a:p>
        </p:txBody>
      </p:sp>
      <p:sp>
        <p:nvSpPr>
          <p:cNvPr id="48" name="Text 4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49" name="Text 4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 / 58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97132"/>
          </a:solidFill>
          <a:ln/>
        </p:spPr>
      </p:sp>
      <p:sp>
        <p:nvSpPr>
          <p:cNvPr id="3" name="Shape 1"/>
          <p:cNvSpPr/>
          <p:nvPr/>
        </p:nvSpPr>
        <p:spPr>
          <a:xfrm>
            <a:off x="201168" y="0"/>
            <a:ext cx="11990527" cy="73152"/>
          </a:xfrm>
          <a:prstGeom prst="rect">
            <a:avLst/>
          </a:prstGeom>
          <a:solidFill>
            <a:srgbClr val="15608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640080" y="1965960"/>
            <a:ext cx="10972800" cy="365760"/>
          </a:xfrm>
          <a:prstGeom prst="rect">
            <a:avLst/>
          </a:prstGeom>
          <a:noFill/>
          <a:ln/>
        </p:spPr>
        <p:txBody>
          <a:bodyPr wrap="square" rtlCol="0" anchor="ctr"/>
          <a:lstStyle/>
          <a:p>
            <a:pPr indent="0" marL="0">
              <a:buNone/>
            </a:pPr>
            <a:r>
              <a:rPr lang="en-US" sz="1400" b="1" dirty="0">
                <a:solidFill>
                  <a:srgbClr val="E97132"/>
                </a:solidFill>
              </a:rPr>
              <a:t>03</a:t>
            </a:r>
            <a:endParaRPr lang="en-US" sz="1400" dirty="0"/>
          </a:p>
        </p:txBody>
      </p:sp>
      <p:sp>
        <p:nvSpPr>
          <p:cNvPr id="6" name="Text 3"/>
          <p:cNvSpPr/>
          <p:nvPr/>
        </p:nvSpPr>
        <p:spPr>
          <a:xfrm>
            <a:off x="640080" y="2331720"/>
            <a:ext cx="10972800" cy="960120"/>
          </a:xfrm>
          <a:prstGeom prst="rect">
            <a:avLst/>
          </a:prstGeom>
          <a:noFill/>
          <a:ln/>
        </p:spPr>
        <p:txBody>
          <a:bodyPr wrap="square" rtlCol="0" anchor="ctr"/>
          <a:lstStyle/>
          <a:p>
            <a:pPr indent="0" marL="0">
              <a:buNone/>
            </a:pPr>
            <a:r>
              <a:rPr lang="en-US" sz="3600" b="1" dirty="0">
                <a:solidFill>
                  <a:srgbClr val="FFFFFF"/>
                </a:solidFill>
              </a:rPr>
              <a:t>Project Brief</a:t>
            </a:r>
            <a:endParaRPr lang="en-US" sz="3600" dirty="0"/>
          </a:p>
        </p:txBody>
      </p:sp>
      <p:sp>
        <p:nvSpPr>
          <p:cNvPr id="7" name="Text 4"/>
          <p:cNvSpPr/>
          <p:nvPr/>
        </p:nvSpPr>
        <p:spPr>
          <a:xfrm>
            <a:off x="640080" y="3383280"/>
            <a:ext cx="10972800" cy="365760"/>
          </a:xfrm>
          <a:prstGeom prst="rect">
            <a:avLst/>
          </a:prstGeom>
          <a:noFill/>
          <a:ln/>
        </p:spPr>
        <p:txBody>
          <a:bodyPr wrap="square" rtlCol="0" anchor="ctr"/>
          <a:lstStyle/>
          <a:p>
            <a:pPr indent="0" marL="0">
              <a:buNone/>
            </a:pPr>
            <a:r>
              <a:rPr lang="en-US" sz="1600" dirty="0">
                <a:solidFill>
                  <a:srgbClr val="B8C4D0"/>
                </a:solidFill>
              </a:rPr>
              <a:t>Arvind Limited</a:t>
            </a:r>
            <a:endParaRPr lang="en-US" sz="1600" dirty="0"/>
          </a:p>
        </p:txBody>
      </p:sp>
      <p:sp>
        <p:nvSpPr>
          <p:cNvPr id="8"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9"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3 / 58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Brief</a:t>
            </a:r>
            <a:endParaRPr lang="en-US" sz="2000" dirty="0"/>
          </a:p>
        </p:txBody>
      </p:sp>
      <p:sp>
        <p:nvSpPr>
          <p:cNvPr id="7" name="Shape 4"/>
          <p:cNvSpPr/>
          <p:nvPr/>
        </p:nvSpPr>
        <p:spPr>
          <a:xfrm>
            <a:off x="411480" y="841248"/>
            <a:ext cx="1417320" cy="50292"/>
          </a:xfrm>
          <a:prstGeom prst="rect">
            <a:avLst/>
          </a:prstGeom>
          <a:solidFill>
            <a:srgbClr val="E97132"/>
          </a:solidFill>
          <a:ln/>
        </p:spPr>
      </p:sp>
      <p:sp>
        <p:nvSpPr>
          <p:cNvPr id="8" name="Text 5"/>
          <p:cNvSpPr/>
          <p:nvPr/>
        </p:nvSpPr>
        <p:spPr>
          <a:xfrm>
            <a:off x="411480" y="1024128"/>
            <a:ext cx="11368735" cy="347472"/>
          </a:xfrm>
          <a:prstGeom prst="rect">
            <a:avLst/>
          </a:prstGeom>
          <a:noFill/>
          <a:ln/>
        </p:spPr>
        <p:txBody>
          <a:bodyPr wrap="square" rtlCol="0" anchor="ctr"/>
          <a:lstStyle/>
          <a:p>
            <a:pPr indent="0" marL="0">
              <a:buNone/>
            </a:pPr>
            <a:r>
              <a:rPr lang="en-US" sz="1000" dirty="0">
                <a:solidFill>
                  <a:srgbClr val="5C6578"/>
                </a:solidFill>
              </a:rPr>
              <a:t>Construction of Dormitory for Workers at Santej for Arvind Limited — 4,500 sqm, 8-month package. Week 23–29 July 2026 from the client WPR workbook.</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408176"/>
          <a:ext cx="11368735" cy="914400"/>
        </p:xfrm>
        <a:graphic>
          <a:graphicData uri="http://schemas.openxmlformats.org/drawingml/2006/table">
            <a:tbl>
              <a:tblPr/>
              <a:tblGrid>
                <a:gridCol w="5684368"/>
                <a:gridCol w="568436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Construction of Dormitory for Workers, Santej</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Purpose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 Facility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4,500 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 value (INR)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10,46,48,777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Duration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 Months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Schedule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 Project Development Consultants &amp; Co.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AK.Consultant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Week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 July 2026 to 29 July 2026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10"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1"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 / 58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Site location / Google Earth view</a:t>
            </a:r>
            <a:endParaRPr lang="en-US" sz="2000" dirty="0"/>
          </a:p>
        </p:txBody>
      </p:sp>
      <p:sp>
        <p:nvSpPr>
          <p:cNvPr id="7" name="Shape 4"/>
          <p:cNvSpPr/>
          <p:nvPr/>
        </p:nvSpPr>
        <p:spPr>
          <a:xfrm>
            <a:off x="411480" y="1024128"/>
            <a:ext cx="11368735" cy="5212080"/>
          </a:xfrm>
          <a:prstGeom prst="rect">
            <a:avLst/>
          </a:prstGeom>
          <a:solidFill>
            <a:srgbClr val="E8EEF4"/>
          </a:solidFill>
          <a:ln/>
        </p:spPr>
      </p:sp>
      <p:sp>
        <p:nvSpPr>
          <p:cNvPr id="8" name="Text 5"/>
          <p:cNvSpPr/>
          <p:nvPr/>
        </p:nvSpPr>
        <p:spPr>
          <a:xfrm>
            <a:off x="777240" y="2834640"/>
            <a:ext cx="10637215" cy="1463040"/>
          </a:xfrm>
          <a:prstGeom prst="rect">
            <a:avLst/>
          </a:prstGeom>
          <a:noFill/>
          <a:ln/>
        </p:spPr>
        <p:txBody>
          <a:bodyPr wrap="square" rtlCol="0" anchor="ctr"/>
          <a:lstStyle/>
          <a:p>
            <a:pPr algn="ctr" indent="0" marL="0">
              <a:buNone/>
            </a:pPr>
            <a:r>
              <a:rPr lang="en-US" sz="1600" dirty="0">
                <a:solidFill>
                  <a:srgbClr val="5C6578"/>
                </a:solidFill>
              </a:rPr>
              <a:t>Construction of Worker Dormitory — Arvind Limited, Santej</a:t>
            </a:r>
            <a:endParaRPr lang="en-US" sz="1600" dirty="0"/>
          </a:p>
          <a:p>
            <a:pPr algn="ctr" indent="0" marL="0">
              <a:buNone/>
            </a:pPr>
            <a:r>
              <a:rPr lang="en-US" sz="1600" dirty="0">
                <a:solidFill>
                  <a:srgbClr val="5C6578"/>
                </a:solidFill>
              </a:rPr>
              <a:t>Santej</a:t>
            </a:r>
            <a:endParaRPr lang="en-US" sz="1600" dirty="0"/>
          </a:p>
          <a:p>
            <a:pPr algn="ctr" indent="0" marL="0">
              <a:buNone/>
            </a:pPr>
            <a:endParaRPr lang="en-US" sz="1600" dirty="0"/>
          </a:p>
          <a:p>
            <a:pPr algn="ctr" indent="0" marL="0">
              <a:buNone/>
            </a:pPr>
            <a:r>
              <a:rPr lang="en-US" sz="1600" dirty="0">
                <a:solidFill>
                  <a:srgbClr val="5C6578"/>
                </a:solidFill>
              </a:rPr>
              <a:t>Placeholder — portal photos appear on Progress Pictures slides.</a:t>
            </a:r>
            <a:endParaRPr lang="en-US" sz="1600" dirty="0"/>
          </a:p>
        </p:txBody>
      </p:sp>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 / 58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Stakeholders</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684368"/>
                <a:gridCol w="568436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Role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Organisation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AK.Consultant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 Project Development Consultants &amp; Co.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6 / 58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Mobilization Plan</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7854763"/>
                <a:gridCol w="3513973"/>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establishment / container office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 progress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Labour camp /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Ongoing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Temporary power / borewell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 action pending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Machinery &amp;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Partial — shortage flagged in risk register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7 / 58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Communication Matrix</a:t>
            </a:r>
            <a:endParaRPr lang="en-US" sz="2000" dirty="0"/>
          </a:p>
        </p:txBody>
      </p:sp>
      <p:sp>
        <p:nvSpPr>
          <p:cNvPr id="7" name="Shape 4"/>
          <p:cNvSpPr/>
          <p:nvPr/>
        </p:nvSpPr>
        <p:spPr>
          <a:xfrm>
            <a:off x="411480" y="841248"/>
            <a:ext cx="1417320" cy="50292"/>
          </a:xfrm>
          <a:prstGeom prst="rect">
            <a:avLst/>
          </a:prstGeom>
          <a:solidFill>
            <a:srgbClr val="E97132"/>
          </a:solidFill>
          <a:ln/>
        </p:spPr>
      </p:sp>
      <p:sp>
        <p:nvSpPr>
          <p:cNvPr id="8" name="Text 5"/>
          <p:cNvSpPr/>
          <p:nvPr/>
        </p:nvSpPr>
        <p:spPr>
          <a:xfrm>
            <a:off x="411480" y="1024128"/>
            <a:ext cx="11368735" cy="347472"/>
          </a:xfrm>
          <a:prstGeom prst="rect">
            <a:avLst/>
          </a:prstGeom>
          <a:noFill/>
          <a:ln/>
        </p:spPr>
        <p:txBody>
          <a:bodyPr wrap="square" rtlCol="0" anchor="ctr"/>
          <a:lstStyle/>
          <a:p>
            <a:pPr indent="0" marL="0">
              <a:buNone/>
            </a:pPr>
            <a:r>
              <a:rPr lang="en-US" sz="1000" dirty="0">
                <a:solidFill>
                  <a:srgbClr val="5C6578"/>
                </a:solidFill>
              </a:rPr>
              <a:t>Arvind dormitory — week 23–29 July 2026. Technical / commercial routing.</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408176"/>
          <a:ext cx="11368735" cy="914400"/>
        </p:xfrm>
        <a:graphic>
          <a:graphicData uri="http://schemas.openxmlformats.org/drawingml/2006/table">
            <a:tbl>
              <a:tblPr/>
              <a:tblGrid>
                <a:gridCol w="2048421"/>
                <a:gridCol w="3175052"/>
                <a:gridCol w="2048421"/>
                <a:gridCol w="2048421"/>
                <a:gridCol w="2048421"/>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From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Channel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SLA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Technical query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Contractor — 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 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Email +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24 hrs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Drawing release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Consultant — AK.Consultant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Email + DMS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48 hrs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instruction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 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 email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Same day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Commercial / PR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 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 — 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Email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Invoice / COP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Contractor / PMC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 — 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Email + hard copy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Hindrance / risk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 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 +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WPR + email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Weekly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10"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1"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8 / 58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Dashboard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684368"/>
                <a:gridCol w="568436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KPI</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Construction of Dormitory for Workers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Purpose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 Facility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Area (sqm)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Duration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 Months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Schedule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Week ending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29-07-2026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Budgeted project value (INR)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 10,46,48,777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Anticipated project value (INR)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 11,12,31,831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Achieved as on date (INR)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 10,96,50,960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Billed till date (INR)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 8,15,27,326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Cost completion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98.6%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Variance vs budget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9 / 58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Dashboard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684368"/>
                <a:gridCol w="568436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KPI</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Scheduled start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2025-06-18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Actual start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2025-07-23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Baseline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2026-04-30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Plan days (calendar)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Actual days (calendar)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10 / 58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Project dashboard · KPI summary</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56032"/>
          </a:xfrm>
          <a:prstGeom prst="rect">
            <a:avLst/>
          </a:prstGeom>
          <a:noFill/>
          <a:ln/>
        </p:spPr>
        <p:txBody>
          <a:bodyPr wrap="square" rtlCol="0" anchor="ctr"/>
          <a:lstStyle/>
          <a:p>
            <a:pPr indent="0" marL="0">
              <a:buNone/>
            </a:pPr>
            <a:r>
              <a:rPr lang="en-US" sz="1000" dirty="0">
                <a:solidFill>
                  <a:srgbClr val="5C6578"/>
                </a:solidFill>
              </a:rPr>
              <a:t>Reporting window: 2026-07-23 → 2026-07-29</a:t>
            </a:r>
            <a:endParaRPr lang="en-US" sz="1000" dirty="0"/>
          </a:p>
        </p:txBody>
      </p:sp>
      <p:sp>
        <p:nvSpPr>
          <p:cNvPr id="8" name="Shape 6"/>
          <p:cNvSpPr/>
          <p:nvPr/>
        </p:nvSpPr>
        <p:spPr>
          <a:xfrm>
            <a:off x="411480" y="1325880"/>
            <a:ext cx="3657600" cy="1417320"/>
          </a:xfrm>
          <a:prstGeom prst="rect">
            <a:avLst/>
          </a:prstGeom>
          <a:solidFill>
            <a:srgbClr val="F0F2F5"/>
          </a:solidFill>
          <a:ln w="9525">
            <a:solidFill>
              <a:srgbClr val="002060"/>
            </a:solidFill>
            <a:prstDash val="solid"/>
          </a:ln>
        </p:spPr>
      </p:sp>
      <p:sp>
        <p:nvSpPr>
          <p:cNvPr id="9" name="Text 7"/>
          <p:cNvSpPr/>
          <p:nvPr/>
        </p:nvSpPr>
        <p:spPr>
          <a:xfrm>
            <a:off x="576072" y="1527048"/>
            <a:ext cx="3328416" cy="347472"/>
          </a:xfrm>
          <a:prstGeom prst="rect">
            <a:avLst/>
          </a:prstGeom>
          <a:noFill/>
          <a:ln/>
        </p:spPr>
        <p:txBody>
          <a:bodyPr wrap="square" rtlCol="0" anchor="ctr"/>
          <a:lstStyle/>
          <a:p>
            <a:pPr indent="0" marL="0">
              <a:buNone/>
            </a:pPr>
            <a:r>
              <a:rPr lang="en-US" sz="1100" dirty="0">
                <a:solidFill>
                  <a:srgbClr val="5C6578"/>
                </a:solidFill>
              </a:rPr>
              <a:t>Week</a:t>
            </a:r>
            <a:endParaRPr lang="en-US" sz="1100" dirty="0"/>
          </a:p>
        </p:txBody>
      </p:sp>
      <p:sp>
        <p:nvSpPr>
          <p:cNvPr id="10" name="Text 8"/>
          <p:cNvSpPr/>
          <p:nvPr/>
        </p:nvSpPr>
        <p:spPr>
          <a:xfrm>
            <a:off x="576072" y="1947672"/>
            <a:ext cx="3328416" cy="502920"/>
          </a:xfrm>
          <a:prstGeom prst="rect">
            <a:avLst/>
          </a:prstGeom>
          <a:noFill/>
          <a:ln/>
        </p:spPr>
        <p:txBody>
          <a:bodyPr wrap="square" rtlCol="0" anchor="ctr"/>
          <a:lstStyle/>
          <a:p>
            <a:pPr indent="0" marL="0">
              <a:buNone/>
            </a:pPr>
            <a:r>
              <a:rPr lang="en-US" sz="2200" b="1" dirty="0">
                <a:solidFill>
                  <a:srgbClr val="0E2841"/>
                </a:solidFill>
              </a:rPr>
              <a:t>23–29 Jul 2026</a:t>
            </a:r>
            <a:endParaRPr lang="en-US" sz="2200" dirty="0"/>
          </a:p>
        </p:txBody>
      </p:sp>
      <p:sp>
        <p:nvSpPr>
          <p:cNvPr id="11" name="Shape 9"/>
          <p:cNvSpPr/>
          <p:nvPr/>
        </p:nvSpPr>
        <p:spPr>
          <a:xfrm>
            <a:off x="4251960" y="1325880"/>
            <a:ext cx="3657600" cy="1417320"/>
          </a:xfrm>
          <a:prstGeom prst="rect">
            <a:avLst/>
          </a:prstGeom>
          <a:solidFill>
            <a:srgbClr val="F0F2F5"/>
          </a:solidFill>
          <a:ln w="9525">
            <a:solidFill>
              <a:srgbClr val="002060"/>
            </a:solidFill>
            <a:prstDash val="solid"/>
          </a:ln>
        </p:spPr>
      </p:sp>
      <p:sp>
        <p:nvSpPr>
          <p:cNvPr id="12" name="Text 10"/>
          <p:cNvSpPr/>
          <p:nvPr/>
        </p:nvSpPr>
        <p:spPr>
          <a:xfrm>
            <a:off x="4416552" y="1527048"/>
            <a:ext cx="3328416" cy="347472"/>
          </a:xfrm>
          <a:prstGeom prst="rect">
            <a:avLst/>
          </a:prstGeom>
          <a:noFill/>
          <a:ln/>
        </p:spPr>
        <p:txBody>
          <a:bodyPr wrap="square" rtlCol="0" anchor="ctr"/>
          <a:lstStyle/>
          <a:p>
            <a:pPr indent="0" marL="0">
              <a:buNone/>
            </a:pPr>
            <a:r>
              <a:rPr lang="en-US" sz="1100" dirty="0">
                <a:solidFill>
                  <a:srgbClr val="5C6578"/>
                </a:solidFill>
              </a:rPr>
              <a:t>Project</a:t>
            </a:r>
            <a:endParaRPr lang="en-US" sz="1100" dirty="0"/>
          </a:p>
        </p:txBody>
      </p:sp>
      <p:sp>
        <p:nvSpPr>
          <p:cNvPr id="13" name="Text 11"/>
          <p:cNvSpPr/>
          <p:nvPr/>
        </p:nvSpPr>
        <p:spPr>
          <a:xfrm>
            <a:off x="4416552" y="1947672"/>
            <a:ext cx="3328416" cy="502920"/>
          </a:xfrm>
          <a:prstGeom prst="rect">
            <a:avLst/>
          </a:prstGeom>
          <a:noFill/>
          <a:ln/>
        </p:spPr>
        <p:txBody>
          <a:bodyPr wrap="square" rtlCol="0" anchor="ctr"/>
          <a:lstStyle/>
          <a:p>
            <a:pPr indent="0" marL="0">
              <a:buNone/>
            </a:pPr>
            <a:r>
              <a:rPr lang="en-US" sz="2200" b="1" dirty="0">
                <a:solidFill>
                  <a:srgbClr val="0E2841"/>
                </a:solidFill>
              </a:rPr>
              <a:t>Worker Dormitory · Santej</a:t>
            </a:r>
            <a:endParaRPr lang="en-US" sz="2200" dirty="0"/>
          </a:p>
        </p:txBody>
      </p:sp>
      <p:sp>
        <p:nvSpPr>
          <p:cNvPr id="14" name="Shape 12"/>
          <p:cNvSpPr/>
          <p:nvPr/>
        </p:nvSpPr>
        <p:spPr>
          <a:xfrm>
            <a:off x="8092440" y="1325880"/>
            <a:ext cx="3657600" cy="1417320"/>
          </a:xfrm>
          <a:prstGeom prst="rect">
            <a:avLst/>
          </a:prstGeom>
          <a:solidFill>
            <a:srgbClr val="F0F2F5"/>
          </a:solidFill>
          <a:ln w="9525">
            <a:solidFill>
              <a:srgbClr val="002060"/>
            </a:solidFill>
            <a:prstDash val="solid"/>
          </a:ln>
        </p:spPr>
      </p:sp>
      <p:sp>
        <p:nvSpPr>
          <p:cNvPr id="15" name="Text 13"/>
          <p:cNvSpPr/>
          <p:nvPr/>
        </p:nvSpPr>
        <p:spPr>
          <a:xfrm>
            <a:off x="8257032" y="1527048"/>
            <a:ext cx="3328416" cy="347472"/>
          </a:xfrm>
          <a:prstGeom prst="rect">
            <a:avLst/>
          </a:prstGeom>
          <a:noFill/>
          <a:ln/>
        </p:spPr>
        <p:txBody>
          <a:bodyPr wrap="square" rtlCol="0" anchor="ctr"/>
          <a:lstStyle/>
          <a:p>
            <a:pPr indent="0" marL="0">
              <a:buNone/>
            </a:pPr>
            <a:r>
              <a:rPr lang="en-US" sz="1100" dirty="0">
                <a:solidFill>
                  <a:srgbClr val="5C6578"/>
                </a:solidFill>
              </a:rPr>
              <a:t>Budgeted (INR)</a:t>
            </a:r>
            <a:endParaRPr lang="en-US" sz="1100" dirty="0"/>
          </a:p>
        </p:txBody>
      </p:sp>
      <p:sp>
        <p:nvSpPr>
          <p:cNvPr id="16" name="Text 14"/>
          <p:cNvSpPr/>
          <p:nvPr/>
        </p:nvSpPr>
        <p:spPr>
          <a:xfrm>
            <a:off x="8257032" y="1947672"/>
            <a:ext cx="3328416" cy="502920"/>
          </a:xfrm>
          <a:prstGeom prst="rect">
            <a:avLst/>
          </a:prstGeom>
          <a:noFill/>
          <a:ln/>
        </p:spPr>
        <p:txBody>
          <a:bodyPr wrap="square" rtlCol="0" anchor="ctr"/>
          <a:lstStyle/>
          <a:p>
            <a:pPr indent="0" marL="0">
              <a:buNone/>
            </a:pPr>
            <a:r>
              <a:rPr lang="en-US" sz="2200" b="1" dirty="0">
                <a:solidFill>
                  <a:srgbClr val="0E2841"/>
                </a:solidFill>
              </a:rPr>
              <a:t>₹ 10,46,48,777</a:t>
            </a:r>
            <a:endParaRPr lang="en-US" sz="2200" dirty="0"/>
          </a:p>
        </p:txBody>
      </p:sp>
      <p:sp>
        <p:nvSpPr>
          <p:cNvPr id="17" name="Shape 15"/>
          <p:cNvSpPr/>
          <p:nvPr/>
        </p:nvSpPr>
        <p:spPr>
          <a:xfrm>
            <a:off x="411480" y="2907792"/>
            <a:ext cx="3657600" cy="1417320"/>
          </a:xfrm>
          <a:prstGeom prst="rect">
            <a:avLst/>
          </a:prstGeom>
          <a:solidFill>
            <a:srgbClr val="F0F2F5"/>
          </a:solidFill>
          <a:ln w="9525">
            <a:solidFill>
              <a:srgbClr val="002060"/>
            </a:solidFill>
            <a:prstDash val="solid"/>
          </a:ln>
        </p:spPr>
      </p:sp>
      <p:sp>
        <p:nvSpPr>
          <p:cNvPr id="18" name="Text 16"/>
          <p:cNvSpPr/>
          <p:nvPr/>
        </p:nvSpPr>
        <p:spPr>
          <a:xfrm>
            <a:off x="576072" y="3108960"/>
            <a:ext cx="3328416" cy="347472"/>
          </a:xfrm>
          <a:prstGeom prst="rect">
            <a:avLst/>
          </a:prstGeom>
          <a:noFill/>
          <a:ln/>
        </p:spPr>
        <p:txBody>
          <a:bodyPr wrap="square" rtlCol="0" anchor="ctr"/>
          <a:lstStyle/>
          <a:p>
            <a:pPr indent="0" marL="0">
              <a:buNone/>
            </a:pPr>
            <a:r>
              <a:rPr lang="en-US" sz="1100" dirty="0">
                <a:solidFill>
                  <a:srgbClr val="5C6578"/>
                </a:solidFill>
              </a:rPr>
              <a:t>Achieved (INR)</a:t>
            </a:r>
            <a:endParaRPr lang="en-US" sz="1100" dirty="0"/>
          </a:p>
        </p:txBody>
      </p:sp>
      <p:sp>
        <p:nvSpPr>
          <p:cNvPr id="19" name="Text 17"/>
          <p:cNvSpPr/>
          <p:nvPr/>
        </p:nvSpPr>
        <p:spPr>
          <a:xfrm>
            <a:off x="576072" y="3529584"/>
            <a:ext cx="3328416" cy="502920"/>
          </a:xfrm>
          <a:prstGeom prst="rect">
            <a:avLst/>
          </a:prstGeom>
          <a:noFill/>
          <a:ln/>
        </p:spPr>
        <p:txBody>
          <a:bodyPr wrap="square" rtlCol="0" anchor="ctr"/>
          <a:lstStyle/>
          <a:p>
            <a:pPr indent="0" marL="0">
              <a:buNone/>
            </a:pPr>
            <a:r>
              <a:rPr lang="en-US" sz="2200" b="1" dirty="0">
                <a:solidFill>
                  <a:srgbClr val="0E2841"/>
                </a:solidFill>
              </a:rPr>
              <a:t>₹ 10,96,50,960</a:t>
            </a:r>
            <a:endParaRPr lang="en-US" sz="2200" dirty="0"/>
          </a:p>
        </p:txBody>
      </p:sp>
      <p:sp>
        <p:nvSpPr>
          <p:cNvPr id="20" name="Shape 18"/>
          <p:cNvSpPr/>
          <p:nvPr/>
        </p:nvSpPr>
        <p:spPr>
          <a:xfrm>
            <a:off x="4251960" y="2907792"/>
            <a:ext cx="3657600" cy="1417320"/>
          </a:xfrm>
          <a:prstGeom prst="rect">
            <a:avLst/>
          </a:prstGeom>
          <a:solidFill>
            <a:srgbClr val="F0F2F5"/>
          </a:solidFill>
          <a:ln w="9525">
            <a:solidFill>
              <a:srgbClr val="002060"/>
            </a:solidFill>
            <a:prstDash val="solid"/>
          </a:ln>
        </p:spPr>
      </p:sp>
      <p:sp>
        <p:nvSpPr>
          <p:cNvPr id="21" name="Text 19"/>
          <p:cNvSpPr/>
          <p:nvPr/>
        </p:nvSpPr>
        <p:spPr>
          <a:xfrm>
            <a:off x="4416552" y="3108960"/>
            <a:ext cx="3328416" cy="347472"/>
          </a:xfrm>
          <a:prstGeom prst="rect">
            <a:avLst/>
          </a:prstGeom>
          <a:noFill/>
          <a:ln/>
        </p:spPr>
        <p:txBody>
          <a:bodyPr wrap="square" rtlCol="0" anchor="ctr"/>
          <a:lstStyle/>
          <a:p>
            <a:pPr indent="0" marL="0">
              <a:buNone/>
            </a:pPr>
            <a:r>
              <a:rPr lang="en-US" sz="1100" dirty="0">
                <a:solidFill>
                  <a:srgbClr val="5C6578"/>
                </a:solidFill>
              </a:rPr>
              <a:t>Cost completion</a:t>
            </a:r>
            <a:endParaRPr lang="en-US" sz="1100" dirty="0"/>
          </a:p>
        </p:txBody>
      </p:sp>
      <p:sp>
        <p:nvSpPr>
          <p:cNvPr id="22" name="Text 20"/>
          <p:cNvSpPr/>
          <p:nvPr/>
        </p:nvSpPr>
        <p:spPr>
          <a:xfrm>
            <a:off x="4416552" y="3529584"/>
            <a:ext cx="3328416" cy="502920"/>
          </a:xfrm>
          <a:prstGeom prst="rect">
            <a:avLst/>
          </a:prstGeom>
          <a:noFill/>
          <a:ln/>
        </p:spPr>
        <p:txBody>
          <a:bodyPr wrap="square" rtlCol="0" anchor="ctr"/>
          <a:lstStyle/>
          <a:p>
            <a:pPr indent="0" marL="0">
              <a:buNone/>
            </a:pPr>
            <a:r>
              <a:rPr lang="en-US" sz="2200" b="1" dirty="0">
                <a:solidFill>
                  <a:srgbClr val="0E2841"/>
                </a:solidFill>
              </a:rPr>
              <a:t>98.6%</a:t>
            </a:r>
            <a:endParaRPr lang="en-US" sz="2200" dirty="0"/>
          </a:p>
        </p:txBody>
      </p:sp>
      <p:sp>
        <p:nvSpPr>
          <p:cNvPr id="23" name="Shape 21"/>
          <p:cNvSpPr/>
          <p:nvPr/>
        </p:nvSpPr>
        <p:spPr>
          <a:xfrm>
            <a:off x="8092440" y="2907792"/>
            <a:ext cx="3657600" cy="1417320"/>
          </a:xfrm>
          <a:prstGeom prst="rect">
            <a:avLst/>
          </a:prstGeom>
          <a:solidFill>
            <a:srgbClr val="F0F2F5"/>
          </a:solidFill>
          <a:ln w="9525">
            <a:solidFill>
              <a:srgbClr val="002060"/>
            </a:solidFill>
            <a:prstDash val="solid"/>
          </a:ln>
        </p:spPr>
      </p:sp>
      <p:sp>
        <p:nvSpPr>
          <p:cNvPr id="24" name="Text 22"/>
          <p:cNvSpPr/>
          <p:nvPr/>
        </p:nvSpPr>
        <p:spPr>
          <a:xfrm>
            <a:off x="8257032" y="3108960"/>
            <a:ext cx="3328416" cy="347472"/>
          </a:xfrm>
          <a:prstGeom prst="rect">
            <a:avLst/>
          </a:prstGeom>
          <a:noFill/>
          <a:ln/>
        </p:spPr>
        <p:txBody>
          <a:bodyPr wrap="square" rtlCol="0" anchor="ctr"/>
          <a:lstStyle/>
          <a:p>
            <a:pPr indent="0" marL="0">
              <a:buNone/>
            </a:pPr>
            <a:r>
              <a:rPr lang="en-US" sz="1100" dirty="0">
                <a:solidFill>
                  <a:srgbClr val="5C6578"/>
                </a:solidFill>
              </a:rPr>
              <a:t>Schedule</a:t>
            </a:r>
            <a:endParaRPr lang="en-US" sz="1100" dirty="0"/>
          </a:p>
        </p:txBody>
      </p:sp>
      <p:sp>
        <p:nvSpPr>
          <p:cNvPr id="25" name="Text 23"/>
          <p:cNvSpPr/>
          <p:nvPr/>
        </p:nvSpPr>
        <p:spPr>
          <a:xfrm>
            <a:off x="8257032" y="3529584"/>
            <a:ext cx="3328416" cy="502920"/>
          </a:xfrm>
          <a:prstGeom prst="rect">
            <a:avLst/>
          </a:prstGeom>
          <a:noFill/>
          <a:ln/>
        </p:spPr>
        <p:txBody>
          <a:bodyPr wrap="square" rtlCol="0" anchor="ctr"/>
          <a:lstStyle/>
          <a:p>
            <a:pPr indent="0" marL="0">
              <a:buNone/>
            </a:pPr>
            <a:r>
              <a:rPr lang="en-US" sz="2200" b="1" dirty="0">
                <a:solidFill>
                  <a:srgbClr val="0E2841"/>
                </a:solidFill>
              </a:rPr>
              <a:t>Delayed</a:t>
            </a:r>
            <a:endParaRPr lang="en-US" sz="2200" dirty="0"/>
          </a:p>
        </p:txBody>
      </p:sp>
      <p:sp>
        <p:nvSpPr>
          <p:cNvPr id="26" name="Shape 24"/>
          <p:cNvSpPr/>
          <p:nvPr/>
        </p:nvSpPr>
        <p:spPr>
          <a:xfrm>
            <a:off x="411480" y="4489704"/>
            <a:ext cx="3657600" cy="1417320"/>
          </a:xfrm>
          <a:prstGeom prst="rect">
            <a:avLst/>
          </a:prstGeom>
          <a:solidFill>
            <a:srgbClr val="F0F2F5"/>
          </a:solidFill>
          <a:ln w="9525">
            <a:solidFill>
              <a:srgbClr val="002060"/>
            </a:solidFill>
            <a:prstDash val="solid"/>
          </a:ln>
        </p:spPr>
      </p:sp>
      <p:sp>
        <p:nvSpPr>
          <p:cNvPr id="27" name="Text 25"/>
          <p:cNvSpPr/>
          <p:nvPr/>
        </p:nvSpPr>
        <p:spPr>
          <a:xfrm>
            <a:off x="576072" y="4690872"/>
            <a:ext cx="3328416" cy="347472"/>
          </a:xfrm>
          <a:prstGeom prst="rect">
            <a:avLst/>
          </a:prstGeom>
          <a:noFill/>
          <a:ln/>
        </p:spPr>
        <p:txBody>
          <a:bodyPr wrap="square" rtlCol="0" anchor="ctr"/>
          <a:lstStyle/>
          <a:p>
            <a:pPr indent="0" marL="0">
              <a:buNone/>
            </a:pPr>
            <a:r>
              <a:rPr lang="en-US" sz="1100" dirty="0">
                <a:solidFill>
                  <a:srgbClr val="5C6578"/>
                </a:solidFill>
              </a:rPr>
              <a:t>Safe manhours (cum.)</a:t>
            </a:r>
            <a:endParaRPr lang="en-US" sz="1100" dirty="0"/>
          </a:p>
        </p:txBody>
      </p:sp>
      <p:sp>
        <p:nvSpPr>
          <p:cNvPr id="28" name="Text 26"/>
          <p:cNvSpPr/>
          <p:nvPr/>
        </p:nvSpPr>
        <p:spPr>
          <a:xfrm>
            <a:off x="576072" y="5111496"/>
            <a:ext cx="3328416" cy="502920"/>
          </a:xfrm>
          <a:prstGeom prst="rect">
            <a:avLst/>
          </a:prstGeom>
          <a:noFill/>
          <a:ln/>
        </p:spPr>
        <p:txBody>
          <a:bodyPr wrap="square" rtlCol="0" anchor="ctr"/>
          <a:lstStyle/>
          <a:p>
            <a:pPr indent="0" marL="0">
              <a:buNone/>
            </a:pPr>
            <a:r>
              <a:rPr lang="en-US" sz="2200" b="1" dirty="0">
                <a:solidFill>
                  <a:srgbClr val="0E2841"/>
                </a:solidFill>
              </a:rPr>
              <a:t>255848</a:t>
            </a:r>
            <a:endParaRPr lang="en-US" sz="2200" dirty="0"/>
          </a:p>
        </p:txBody>
      </p:sp>
      <p:sp>
        <p:nvSpPr>
          <p:cNvPr id="29" name="Shape 27"/>
          <p:cNvSpPr/>
          <p:nvPr/>
        </p:nvSpPr>
        <p:spPr>
          <a:xfrm>
            <a:off x="4251960" y="4489704"/>
            <a:ext cx="3657600" cy="1417320"/>
          </a:xfrm>
          <a:prstGeom prst="rect">
            <a:avLst/>
          </a:prstGeom>
          <a:solidFill>
            <a:srgbClr val="F0F2F5"/>
          </a:solidFill>
          <a:ln w="9525">
            <a:solidFill>
              <a:srgbClr val="002060"/>
            </a:solidFill>
            <a:prstDash val="solid"/>
          </a:ln>
        </p:spPr>
      </p:sp>
      <p:sp>
        <p:nvSpPr>
          <p:cNvPr id="30" name="Text 28"/>
          <p:cNvSpPr/>
          <p:nvPr/>
        </p:nvSpPr>
        <p:spPr>
          <a:xfrm>
            <a:off x="4416552" y="4690872"/>
            <a:ext cx="3328416" cy="347472"/>
          </a:xfrm>
          <a:prstGeom prst="rect">
            <a:avLst/>
          </a:prstGeom>
          <a:noFill/>
          <a:ln/>
        </p:spPr>
        <p:txBody>
          <a:bodyPr wrap="square" rtlCol="0" anchor="ctr"/>
          <a:lstStyle/>
          <a:p>
            <a:pPr indent="0" marL="0">
              <a:buNone/>
            </a:pPr>
            <a:r>
              <a:rPr lang="en-US" sz="1100" dirty="0">
                <a:solidFill>
                  <a:srgbClr val="5C6578"/>
                </a:solidFill>
              </a:rPr>
              <a:t>Quality observations</a:t>
            </a:r>
            <a:endParaRPr lang="en-US" sz="1100" dirty="0"/>
          </a:p>
        </p:txBody>
      </p:sp>
      <p:sp>
        <p:nvSpPr>
          <p:cNvPr id="31" name="Text 29"/>
          <p:cNvSpPr/>
          <p:nvPr/>
        </p:nvSpPr>
        <p:spPr>
          <a:xfrm>
            <a:off x="4416552" y="5111496"/>
            <a:ext cx="3328416" cy="502920"/>
          </a:xfrm>
          <a:prstGeom prst="rect">
            <a:avLst/>
          </a:prstGeom>
          <a:noFill/>
          <a:ln/>
        </p:spPr>
        <p:txBody>
          <a:bodyPr wrap="square" rtlCol="0" anchor="ctr"/>
          <a:lstStyle/>
          <a:p>
            <a:pPr indent="0" marL="0">
              <a:buNone/>
            </a:pPr>
            <a:r>
              <a:rPr lang="en-US" sz="2200" b="1" dirty="0">
                <a:solidFill>
                  <a:srgbClr val="0E2841"/>
                </a:solidFill>
              </a:rPr>
              <a:t>182</a:t>
            </a:r>
            <a:endParaRPr lang="en-US" sz="2200" dirty="0"/>
          </a:p>
        </p:txBody>
      </p:sp>
      <p:sp>
        <p:nvSpPr>
          <p:cNvPr id="32" name="Shape 30"/>
          <p:cNvSpPr/>
          <p:nvPr/>
        </p:nvSpPr>
        <p:spPr>
          <a:xfrm>
            <a:off x="8092440" y="4489704"/>
            <a:ext cx="3657600" cy="1417320"/>
          </a:xfrm>
          <a:prstGeom prst="rect">
            <a:avLst/>
          </a:prstGeom>
          <a:solidFill>
            <a:srgbClr val="F0F2F5"/>
          </a:solidFill>
          <a:ln w="9525">
            <a:solidFill>
              <a:srgbClr val="002060"/>
            </a:solidFill>
            <a:prstDash val="solid"/>
          </a:ln>
        </p:spPr>
      </p:sp>
      <p:sp>
        <p:nvSpPr>
          <p:cNvPr id="33" name="Text 31"/>
          <p:cNvSpPr/>
          <p:nvPr/>
        </p:nvSpPr>
        <p:spPr>
          <a:xfrm>
            <a:off x="8257032" y="4690872"/>
            <a:ext cx="3328416" cy="347472"/>
          </a:xfrm>
          <a:prstGeom prst="rect">
            <a:avLst/>
          </a:prstGeom>
          <a:noFill/>
          <a:ln/>
        </p:spPr>
        <p:txBody>
          <a:bodyPr wrap="square" rtlCol="0" anchor="ctr"/>
          <a:lstStyle/>
          <a:p>
            <a:pPr indent="0" marL="0">
              <a:buNone/>
            </a:pPr>
            <a:r>
              <a:rPr lang="en-US" sz="1100" dirty="0">
                <a:solidFill>
                  <a:srgbClr val="5C6578"/>
                </a:solidFill>
              </a:rPr>
              <a:t>Open NCRs</a:t>
            </a:r>
            <a:endParaRPr lang="en-US" sz="1100" dirty="0"/>
          </a:p>
        </p:txBody>
      </p:sp>
      <p:sp>
        <p:nvSpPr>
          <p:cNvPr id="34" name="Text 32"/>
          <p:cNvSpPr/>
          <p:nvPr/>
        </p:nvSpPr>
        <p:spPr>
          <a:xfrm>
            <a:off x="8257032" y="5111496"/>
            <a:ext cx="3328416" cy="502920"/>
          </a:xfrm>
          <a:prstGeom prst="rect">
            <a:avLst/>
          </a:prstGeom>
          <a:noFill/>
          <a:ln/>
        </p:spPr>
        <p:txBody>
          <a:bodyPr wrap="square" rtlCol="0" anchor="ctr"/>
          <a:lstStyle/>
          <a:p>
            <a:pPr indent="0" marL="0">
              <a:buNone/>
            </a:pPr>
            <a:r>
              <a:rPr lang="en-US" sz="2200" b="1" dirty="0">
                <a:solidFill>
                  <a:srgbClr val="0E2841"/>
                </a:solidFill>
              </a:rPr>
              <a:t>0</a:t>
            </a:r>
            <a:endParaRPr lang="en-US" sz="2200" dirty="0"/>
          </a:p>
        </p:txBody>
      </p:sp>
      <p:sp>
        <p:nvSpPr>
          <p:cNvPr id="35" name="Text 33"/>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36" name="Text 34"/>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11 / 58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Project S-curve · planned vs actual %</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Rollup from published DPRs in the reporting window</a:t>
            </a:r>
            <a:endParaRPr lang="en-US" sz="1000" dirty="0"/>
          </a:p>
        </p:txBody>
      </p:sp>
      <p:graphicFrame>
        <p:nvGraphicFramePr>
          <p:cNvPr id="8" name="Chart 0" descr=""/>
          <p:cNvGraphicFramePr/>
          <p:nvPr/>
        </p:nvGraphicFramePr>
        <p:xfrm>
          <a:off x="411480" y="1280160"/>
          <a:ext cx="11368735"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12 / 58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Critical Areas</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3989030"/>
                <a:gridCol w="3989030"/>
                <a:gridCol w="3390675"/>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Issue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Non-availability of updated and approved drawings is causing delays in construction activities and may lead to execution errors due to outdated design references. Immediate action is required to provide the latest drawings.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Work in Progress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Non availability of permanent  power connection  for 3 phase power supply and borewell for construction purposes at site may affect  overall activities at site. Immediate action reqquired for permanent power supply and  borewell construction.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Container office at site for office and documentation works required at urgent basis. Immediate action requred to setup office at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office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Ground beam and plinth beam drawings are required for making BBS and procuring steel. Drawings are demanded from last 15 days its required on urgent basis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 spite of repeated instructions and assurances, the manpower deployment for finishing work has not been augmented by M/s Bhavana Infra Projects Pvt. Ltd., leading to delays in planned activities and affecting the overall completion timeline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 instructed before the detailed delay mitigation plan shoud be developed and needs to submit by contractor. As it still yet receive from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all drawings should be delivered on time as per schedule. Delay in drawings can lead to overall construction project delays. Remaining Drawings are Stair cabin slab with Over Head Water Tank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Due to heavy rains over the past three days, the approach road to the site has become muddy. To improve accessibility, debris will be laid along the road to stabilize the surface and facilitate movement.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13 / 58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CAPEX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sp>
        <p:nvSpPr>
          <p:cNvPr id="8" name="Text 5"/>
          <p:cNvSpPr/>
          <p:nvPr/>
        </p:nvSpPr>
        <p:spPr>
          <a:xfrm>
            <a:off x="411480" y="1024128"/>
            <a:ext cx="11368735" cy="347472"/>
          </a:xfrm>
          <a:prstGeom prst="rect">
            <a:avLst/>
          </a:prstGeom>
          <a:noFill/>
          <a:ln/>
        </p:spPr>
        <p:txBody>
          <a:bodyPr wrap="square" rtlCol="0" anchor="ctr"/>
          <a:lstStyle/>
          <a:p>
            <a:pPr indent="0" marL="0">
              <a:buNone/>
            </a:pPr>
            <a:r>
              <a:rPr lang="en-US" sz="1000" dirty="0">
                <a:solidFill>
                  <a:srgbClr val="5C6578"/>
                </a:solidFill>
              </a:rPr>
              <a:t>SPDC Budget WBS — Arvind dormitory pack (week 52).</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408176"/>
          <a:ext cx="11368735" cy="914400"/>
        </p:xfrm>
        <a:graphic>
          <a:graphicData uri="http://schemas.openxmlformats.org/drawingml/2006/table">
            <a:tbl>
              <a:tblPr/>
              <a:tblGrid>
                <a:gridCol w="502233"/>
                <a:gridCol w="1734988"/>
                <a:gridCol w="1734988"/>
                <a:gridCol w="913151"/>
                <a:gridCol w="913151"/>
                <a:gridCol w="913151"/>
                <a:gridCol w="776179"/>
                <a:gridCol w="913151"/>
                <a:gridCol w="502233"/>
                <a:gridCol w="776179"/>
                <a:gridCol w="913151"/>
                <a:gridCol w="776179"/>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Description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Name of Stackholder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WO Amount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(Basic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Certified Amount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 Basic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Fore Casted ( Based on GFC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Non Tendered Items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Steel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Till Date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Cement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Till  Date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  Development  Consultancy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SPDC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2400000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1720000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2221707.94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501708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AK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740000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Vishwas Patel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Construction cost for Dormitory blocks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M/s 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64212977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67396394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48992314.580000006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5808266.608385501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11014505.009695001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4048503.5656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30538.629999999997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1662431.5727999997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Road development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2214305.134549993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499950.22969000007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Compound wall (Precast)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896162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1758380.3753097039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Soil filling (within Plot 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UG Tank/PVC Tank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1540298.1395353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Anti-termite 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M/s Surti Pest-Control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35532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35532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28424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Borewell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Shree Shakti Pump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1790460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1755864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External Electrification ( power connection cost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Electech Engineering Pvt Ltd.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4850000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3707500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239500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94350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10"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1"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14 / 58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CAPEX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02233"/>
                <a:gridCol w="1734988"/>
                <a:gridCol w="1734988"/>
                <a:gridCol w="913151"/>
                <a:gridCol w="913151"/>
                <a:gridCol w="913151"/>
                <a:gridCol w="776179"/>
                <a:gridCol w="913151"/>
                <a:gridCol w="502233"/>
                <a:gridCol w="776179"/>
                <a:gridCol w="913151"/>
                <a:gridCol w="776179"/>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Description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Name of Stackholder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WO Amount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(Basic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Certified Amount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 Basic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Fore Casted ( Based on GFC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Non Tendered Items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Steel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Till Date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Cement </a:t>
                      </a:r>
                      <a:endParaRPr lang="en-US" sz="900" dirty="0">
                        <a:latin typeface="Calibri" charset="0"/>
                        <a:ea typeface="Calibri" charset="0"/>
                        <a:cs typeface="Calibri" charset="0"/>
                      </a:endParaRPr>
                    </a:p>
                    <a:p>
                      <a:pPr algn="ctr" indent="0" marL="0">
                        <a:buNone/>
                      </a:pPr>
                      <a:r>
                        <a:rPr lang="en-US" sz="900" b="1" dirty="0">
                          <a:solidFill>
                            <a:srgbClr val="FFFFFF"/>
                          </a:solidFill>
                          <a:latin typeface="Calibri" pitchFamily="34" charset="0"/>
                          <a:ea typeface="Calibri" pitchFamily="34" charset="-122"/>
                          <a:cs typeface="Calibri" pitchFamily="34" charset="-120"/>
                        </a:rPr>
                        <a:t>( Till  Date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Temporary Power Connection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M/s. Indian Electricals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350050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333900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Electrical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Pearl Electricals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5258950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7053515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6779312.3052058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1352729.2019670154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977194.7674700882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Plumbing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Nayak Novel Engg &amp; Const.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5258950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6261956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6505414.66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1744301.4400000002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1074920.6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External Drainage network &amp; STP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1317691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1201595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Furniture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Vinayak Enterprise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9146000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3039740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2710958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508800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783960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Furniture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Pitrukrupa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5088000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4452000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300144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Aluminum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New SB Glass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1143250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934315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331239.04999999993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129200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 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PMS Projects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228650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1961379.72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1217520.4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749450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Gas 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Jimit &amp; Co.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1050550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1050048.9300000002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18540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122400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Misc. Electric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Indian Electric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70825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70825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WPC Door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Gajjar Furniture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1014880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701535.8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101488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Duct Louvers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Metalium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348336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15 / 58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PR Tracker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628423"/>
                <a:gridCol w="1771009"/>
                <a:gridCol w="1142586"/>
                <a:gridCol w="1142586"/>
                <a:gridCol w="971198"/>
                <a:gridCol w="1142586"/>
                <a:gridCol w="1142586"/>
                <a:gridCol w="1142586"/>
                <a:gridCol w="1142586"/>
                <a:gridCol w="1142586"/>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 Type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Discipline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Material Code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1300087731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 PHASE-1 &amp; EXTERNAL DEVELOPMENT WORKS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67396394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67396394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3000717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1300087775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CHARGES FOR BOREWELL AS PER DETAIL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1790460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1790460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3000717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1300087776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CHARGES FOR TEMPORARY POWER CONNECTION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350050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350050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3001591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3100007990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1300087778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CHARGES - DORMITORY SANTEJ</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1720000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1720000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3000417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1300087945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DESIGN CONSULTANCY CHARGES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3000791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3100008018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1300088433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DESIGN CONSULTANCY CHARGES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740000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740000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3000791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3100008017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1300088431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ANTI-TERMITE FOR DORMITORY BUILDING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35532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35532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3001591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3100008035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1300088933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ELECTRICAL WORK FOR WORKER DORMITORY PHASE-1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7053515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7053515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3001220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1300091487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PLUMBING WORK FOR WORKER DORMITORY PHASE-1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7579647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7579647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3100008191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1300094218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 WINDOW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934315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934315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3001076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3100008357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1300094219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MISC ELELECTRICAL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70825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70825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3000901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3100008418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FURNITURE WORK(Bed &amp; Kitchen Platform)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2742300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2742300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3100008445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16 / 58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PR Tracker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628423"/>
                <a:gridCol w="1771009"/>
                <a:gridCol w="1142586"/>
                <a:gridCol w="1142586"/>
                <a:gridCol w="971198"/>
                <a:gridCol w="1142586"/>
                <a:gridCol w="1142586"/>
                <a:gridCol w="1142586"/>
                <a:gridCol w="1142586"/>
                <a:gridCol w="1142586"/>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 Type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Discipline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Material Code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1300096253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WPC DOOR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1014880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1014880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3001066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3100008581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1300095557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GAS LINE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1050550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1050550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3000449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3100008498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1300096252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 FIGHTING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2341330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2341330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3000939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3100008552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1300096254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METALIUM LOUVERS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258336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258336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3001066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3100008591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FURNITURE WORK(Wardrobe)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5088000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5088000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3001066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3100008575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External Electric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4850000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4850000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3000901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3100008668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Dining Tables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707000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707000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Net Total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106473134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17 / 58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Invoice Processing Tracker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767215"/>
                <a:gridCol w="2650380"/>
                <a:gridCol w="1394937"/>
                <a:gridCol w="1394937"/>
                <a:gridCol w="1394937"/>
                <a:gridCol w="1185696"/>
                <a:gridCol w="1394937"/>
                <a:gridCol w="1185696"/>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Name of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Invoice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Vendor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Invoice 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Invoice Rise (Excl. GST)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COP Status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(July-25)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32/25-26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37096.77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(Aug-25)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115000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Borewell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Shree Shakti Pump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895230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4758645.56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(Sep-25)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34/25-26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168333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Design consultancy charges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VPA-03-25-26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3100008018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VPA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Design consultancy charges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44/25-26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3100008017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Ashish K Bhavsar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2762022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910033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988771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(Oct-25)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INV-000003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189032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(Nov-25)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213333.33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18 / 58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Invoice Processing Tracker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767215"/>
                <a:gridCol w="2650380"/>
                <a:gridCol w="1394937"/>
                <a:gridCol w="1394937"/>
                <a:gridCol w="1394937"/>
                <a:gridCol w="1185696"/>
                <a:gridCol w="1394937"/>
                <a:gridCol w="1185696"/>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Name of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Invoice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Vendor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Invoice 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Invoice Rise (Excl. GST)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COP Status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45996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5138504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Temp Electric connection for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IECI25-26/049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3100007990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Indian Electric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45982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333900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2592839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2639623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693242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771847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ANTI-TERMITE FOR DORMITORY BUILDING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1582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3100008035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Surti Pest Control Service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28424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Borewell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Shree Shakti Pump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860634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2694318.9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(Dec-25)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PROFORMA-08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212484.84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 Services for Worker Dormitory (Jan-26)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57/25-26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Sharnam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46053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215000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 work for Worker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3100007903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46055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613639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19 / 58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Hinderance Register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43722"/>
                <a:gridCol w="1878313"/>
                <a:gridCol w="1878313"/>
                <a:gridCol w="988586"/>
                <a:gridCol w="988586"/>
                <a:gridCol w="988586"/>
                <a:gridCol w="840298"/>
                <a:gridCol w="840298"/>
                <a:gridCol w="543722"/>
                <a:gridCol w="1878313"/>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Description of Hindrance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Location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Work affected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Correspondence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Type of Hindrance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 of Occurrence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 Resolved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No. of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 Activity affected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Non-availability of updated and approved drawings is causing delays in construction activities and may lead to execution errors due to outdated design references. Immediate action is required to provide the latest drawings.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mail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Work in Progress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Non availability of permanent  power connection  for 3 phase power supply and borewell for construction purposes at site may affect  overall activities at site. Immediate action reqquired for permanent power supply and  borewell construction.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Container office at site for office and documentation works required at urgent basis. Immediate action requred to setup office at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office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documentation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documentation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Ground beam and plinth beam drawings are required for making BBS and procuring steel. Drawings are demanded from last 15 days its required on urgent basis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Steel Procurement &amp; 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 spite of repeated instructions and assurances, the manpower deployment for finishing work has not been augmented by M/s Bhavana Infra Projects Pvt. Ltd., leading to delays in planned activities and affecting the overall completion timeline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 instructed before the detailed delay mitigation plan shoud be developed and needs to submit by contractor. As it still yet receive from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all drawings should be delivered on time as per schedule. Delay in drawings can lead to overall construction project delays. Remaining Drawings are Stair cabin slab with Over Head Water Tank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Due to heavy rains over the past three days, the approach road to the site has become muddy. To improve accessibility, debris will be laid along the road to stabilize the surface and facilitate movement.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Firefighting work vendor is still not available at site, which may potentially delay the completion of dependent activities; therefore, timely mobilization of the vendor is essential.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Vendor Onboarding Delays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45957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Vendor POs are not alloted to all of the vendors. Which is causing delays in timely submission of bills and payment on time.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45959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Billing and Payments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All material procurement approvals shall be shared with the vendor, ensuring that the PMC is kept informed.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45959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Execution / Construction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final drawings for external development works—including the septic tank with soak pit, road, and paver block layout and sections—are still pending submission from the design consultant, AK Bhavsar.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20 / 58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Hinderance Register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43722"/>
                <a:gridCol w="1878313"/>
                <a:gridCol w="1878313"/>
                <a:gridCol w="988586"/>
                <a:gridCol w="988586"/>
                <a:gridCol w="988586"/>
                <a:gridCol w="840298"/>
                <a:gridCol w="840298"/>
                <a:gridCol w="543722"/>
                <a:gridCol w="1878313"/>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Description of Hindrance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Location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Work affected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Correspondence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Type of Hindrance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 of Occurrence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 Resolved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No. of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 Activity affected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required changes for the electrical raising layout, Single Line Diagram (SLD) plan, and wire diagram are still pending submission, which is delaying the final approval and coordination of MEP works 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timely completion of all external development activities is being affected due to the delay in onboarding the required vendor. Vendor onboarding is essential to mobilize resources and commence the scheduled works. Any further delay in finalizing and engaging the vendor will directly impact the project timeline and may result in unavoidable delays in completing the external development works.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Vendor Onboarding Delays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45992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Ground Floor Canteen Floor plan is yet to receive. Which is causing delays in completion of ground floor activities.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If you want, I can also draft a concise version suitable for a site daily report or hindrance log.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execution of compound wall work due to non-confirmation of compound wall marking by DILR survey.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plumbing work due to non-mobilization of adequate manpower by the plumbing vendor, which is consequently affecting progress of dependent activities such as masonry, plastering, and flooring works.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46063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tiling work and dependent activities has been noted on site due to non availability of materials at site due to shortage in supply from manufacturar. Alternative arrangements should be made by Vendor.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Materials procurement delay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46098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Constrcution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21 / 58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Risk Register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931864"/>
                <a:gridCol w="1444388"/>
                <a:gridCol w="792084"/>
                <a:gridCol w="1770541"/>
                <a:gridCol w="1770541"/>
                <a:gridCol w="931864"/>
                <a:gridCol w="931864"/>
                <a:gridCol w="931864"/>
                <a:gridCol w="931864"/>
                <a:gridCol w="931864"/>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ID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Category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Dated Raised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Name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Description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Probability of Risk occuring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Consequence of Risk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Owner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Contractor Mobilization Delay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mobilization activities of the appointed civil contractor are progressing at a significantly slower pace than originally planned. Critical tasks such as site establishment, manpower deployment, material procurement, machinery mobilization, safety arrangements, and initial site clearance are either delayed or not being executed efficiently, potentially impacting the timely commencement of construction works.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Testing Lab Setup Delay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To ensure adherence to project-specific technical specifications and quality standards, it is essential to establish a fully functional testing laboratory at the project site. The absence or delay in setting up this facility may hinder the timely sampling and testing of critical construction materials such as concrete, cement, aggregates, bricks, steel, and water. This can compromise the quality control (QC) process, delay approvals, and increase the risk of using substandard materials, ultimately affecting the structural integrity, safety, and overall progress of the project.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Shuttering Material Supply and Site Organization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shuttering materials required for upcoming PCC and RCC footing concreting works have not been fully supplied, nor are they properly stacked at the designated storage area on site. This delay and disorganization may hinder the concreting schedule and compromise shuttering alignment quality.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available site manpower is currently insufficient to meet scheduled activity demands, there is insufficiency of masons for masonry and plaster work 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It has been observed that the manpower currently available at the site is inadequate to meet the scheduled activity requirements of the project. The contractor has been instructed to mobilize the remaining workforce at the earliest. 8 masons are available on site for masonry and plaster work , which is targeted for 30 nos.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Unauthorized Land Encroachment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Use of unauthorized land—whether for parking, material storage, machinery movement, or any other construction-related activity—is strictly prohibited and may result in serious legal and contractual consequences, including penalties, work stoppages, or disputes with landowners or authorities. To mitigate this risk, the approved site boundaries must be clearly demarcated using visible markers, barricades, or fencing. All workers, operators, and site personnel must be informed and routinely guided about the designated work area limits to prevent inadvertent encroachment.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Structural Drawing Release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Ground beam and plinth beam construction drawings are currently pending, which are essential for preparing the Bar Bending Schedule (BBS) and initiating steel procurement. The design consultant has committed to providing the required drawings within two days. Any delay beyond this timeline may lead to procurement hold-ups, reinforcement cutting/fabrication delays, and a potential impact on the construction schedule.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AK.Consultant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Footing Work Progress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 our footing work activity is already delayed contractor should makeup the lost time by increasing manpower and productivity.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plinth level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mitgation plan target date for completion of the Ground Floor slab RCC work is set for 18th October. Bhavana Infra has been instructed to increase night work hours work and aim for completion by 18th October.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Wastage of raw materials and mixing with soil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Raw materials should be stacked at proper cleaned area to decrease wastage and maintain proper quality of materials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Electrcal Safety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 distribution box shall be securely fixed and installed with all necessary accessories. All connections to equipment must be made using appropriate pin-top plugs to ensure safety, security, and compliance with electrical standards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Hard Barricading for excavated 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 excavated area is deep as 3 meters proper hard barricading should be required for safety of all livelyhood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Unavailability of permanent Power Supply And Borewell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ongoing unavailability of a permanent 3-phase power connection and borewell at the construction site is significantly impacting overall site activities. The current temporary power supply is insufficient to support multiple operations, especially during night shifts, leading to delays and inefficiencies.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22 / 58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Risk Register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931864"/>
                <a:gridCol w="1444388"/>
                <a:gridCol w="792084"/>
                <a:gridCol w="1770541"/>
                <a:gridCol w="1770541"/>
                <a:gridCol w="931864"/>
                <a:gridCol w="931864"/>
                <a:gridCol w="931864"/>
                <a:gridCol w="931864"/>
                <a:gridCol w="931864"/>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ID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Category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Dated Raised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Name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Description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Probability of Risk occuring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Consequence of Risk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Owner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Padestal Conctete Activity Delay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Concrete work for the pedestal must commence at the earliest to mitigate delays in the overall project schedule.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Drawings shoudld be made available on time.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design deliverables schedule should be signed off by the consultant, and all design submissions must be delivered on time as per the agreed schedule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45895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steel procurement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steel delivery has been delayed due to a production issue at the supplier’s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45893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Waterlogging in excavated 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Due to heavy rains flood water is looged in excavated area. Dewatering should be carried out at earliest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45895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Bricks Procurement Pending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Bhavana Infra should procure bricks that approximate the specified make and standards</a:t>
                      </a:r>
                      <a:endParaRPr lang="en-US" sz="900" dirty="0">
                        <a:latin typeface="Calibri" charset="0"/>
                        <a:ea typeface="Calibri" charset="0"/>
                        <a:cs typeface="Calibri" charset="0"/>
                      </a:endParaRPr>
                    </a:p>
                    <a:p>
                      <a:pPr indent="0" marL="0">
                        <a:buNone/>
                      </a:pPr>
                      <a:r>
                        <a:rPr lang="en-US" sz="900" dirty="0">
                          <a:solidFill>
                            <a:srgbClr val="1F2937"/>
                          </a:solidFill>
                          <a:latin typeface="Calibri" pitchFamily="34" charset="0"/>
                          <a:ea typeface="Calibri" pitchFamily="34" charset="-122"/>
                          <a:cs typeface="Calibri" pitchFamily="34" charset="-120"/>
                        </a:rPr>
                        <a:t>outlined in the BOQ. This will help ensure timely material availability on site and facilitate the</a:t>
                      </a:r>
                      <a:endParaRPr lang="en-US" sz="900" dirty="0">
                        <a:latin typeface="Calibri" charset="0"/>
                        <a:ea typeface="Calibri" charset="0"/>
                        <a:cs typeface="Calibri" charset="0"/>
                      </a:endParaRPr>
                    </a:p>
                    <a:p>
                      <a:pPr indent="0" marL="0">
                        <a:buNone/>
                      </a:pPr>
                      <a:r>
                        <a:rPr lang="en-US" sz="900" dirty="0">
                          <a:solidFill>
                            <a:srgbClr val="1F2937"/>
                          </a:solidFill>
                          <a:latin typeface="Calibri" pitchFamily="34" charset="0"/>
                          <a:ea typeface="Calibri" pitchFamily="34" charset="-122"/>
                          <a:cs typeface="Calibri" pitchFamily="34" charset="-120"/>
                        </a:rPr>
                        <a:t>completion of testing as scheduled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Shuttering and steel to be stacked at desired place.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Materials Should not be dumped directly on soil surface. Steel and shuttering materials found layed in mud and soil.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PPE Issuance and workerd ID list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Workers safety and ID list with PPE issuance is required for safety and security purposes.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Sieve test set not available at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testing materials(sieve test set) for gradation test not available 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Volume box not available at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Volume box for preparing mortar for masonry is not available 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Honey Combing in columns and damages to the egdes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During the site visit, it was observed that the quality of the concrete was unsatisfactory, with honeycombing noted on the cast columns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Open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NDT test Confirmation pending by Design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7-day concrete cube test results failed to meet the required strength parameters. Following this, Non-Destructive Testing (NDT) was conducted and all relevant reports and supporting documents were submitted to the design consultant (AK Consultant). However, no comments, approval, or technical confirmation have been received from the consultant. This lack of timely feedback poses a risk to construction progress, quality assurance, and structural safety decision-making.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erection, provision of proper structural supports, and installation of stair access for the watch tower are still pending.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Since the watch tower is proposed primarily for observation and work tracking purposes, the delay may affect site monitoring efficiency and hinder effective supervision of ongoing construction activities. Limited visibility from ground level could result in reduced oversight of manpower deployment, equipment utilization, and progress tracking. This may lead to coordination challenges, delays in identifying on-site issues, and reduced accuracy in reporting daily work progress. Although the pending erection does not pose a direct structural or safety risk to ongoing works, it impacts project management effectiveness and may indirectly influence overall productivity and schedule adherence.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23 / 58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Legal Approval Tracker</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722868"/>
                <a:gridCol w="2037172"/>
                <a:gridCol w="1314305"/>
                <a:gridCol w="1314305"/>
                <a:gridCol w="1314305"/>
                <a:gridCol w="1117159"/>
                <a:gridCol w="1117159"/>
                <a:gridCol w="1314305"/>
                <a:gridCol w="1117159"/>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Approvals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Authority for Approval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Action Taken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Action Required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Due 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Approval 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Associated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3-Phase Electrical Power Supply at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Construction electric power has to provided by client at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Construction 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Labour License (Form V)</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Required if more than 20 workers are engaged at the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Form 5 must be issued by 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Legal penalty,project stoppage.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Not 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Form V – Principal Employer Certificate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Must be signed and stamped by the client (principal employer).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Form 5 must be issued by 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Delay in license; unclear liability.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Not 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Contractor’s All Risk (CAR) Insurance Policy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Must cover civil works, machinery, equipment, and third-party liabilities.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Financial loss from damages; contract issues.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Not 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Workmen Compensation Insurance Policy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Mandatory to safeguard against workplace accidents and injuries.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Heavy liability in case of injury; legal action.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PPE Issuance Proof</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Record of issued helmets, shoes, jackets, gloves, etc., with signature.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Injury risk; safety non-compliance.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Labour Law Compliance Undertaking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Arvind limited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Signed declaration by contractor to comply with labour laws and safety standards.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Form 5 must be issued by 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Legal gaps; accountability issues.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Not 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ESIC Registration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Declaration submitted. Not applicable if &lt;10 workers.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Penalty for non-compliance; worker dissatisfaction.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EPF Registration &amp; Challan Copy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Registration completed. Latest challan submitted.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Audit issues; client may withhold payment.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First Aid Facility Details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First aid kit arranged and available 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Poor emergency response; safety violation.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Worker List with ID Proof</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Bhavna 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Updated list with ID proofs submitted weekly.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Security risk; claims complications.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24 / 58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Drawing Register _ DCI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sp>
        <p:nvSpPr>
          <p:cNvPr id="8" name="Text 5"/>
          <p:cNvSpPr/>
          <p:nvPr/>
        </p:nvSpPr>
        <p:spPr>
          <a:xfrm>
            <a:off x="411480" y="1024128"/>
            <a:ext cx="11368735" cy="347472"/>
          </a:xfrm>
          <a:prstGeom prst="rect">
            <a:avLst/>
          </a:prstGeom>
          <a:noFill/>
          <a:ln/>
        </p:spPr>
        <p:txBody>
          <a:bodyPr wrap="square" rtlCol="0" anchor="ctr"/>
          <a:lstStyle/>
          <a:p>
            <a:pPr indent="0" marL="0">
              <a:buNone/>
            </a:pPr>
            <a:r>
              <a:rPr lang="en-US" sz="1000" dirty="0">
                <a:solidFill>
                  <a:srgbClr val="5C6578"/>
                </a:solidFill>
              </a:rPr>
              <a:t>DCI — Arvind Limited drawing register (17 Jun 2026 cut).</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1408176"/>
          <a:ext cx="11368735" cy="914400"/>
        </p:xfrm>
        <a:graphic>
          <a:graphicData uri="http://schemas.openxmlformats.org/drawingml/2006/table">
            <a:tbl>
              <a:tblPr/>
              <a:tblGrid>
                <a:gridCol w="854792"/>
                <a:gridCol w="1324928"/>
                <a:gridCol w="854792"/>
                <a:gridCol w="854792"/>
                <a:gridCol w="1624105"/>
                <a:gridCol w="726573"/>
                <a:gridCol w="854792"/>
                <a:gridCol w="854792"/>
                <a:gridCol w="854792"/>
                <a:gridCol w="854792"/>
                <a:gridCol w="854792"/>
                <a:gridCol w="854792"/>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DISCIPLINE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BUILDING/AREA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DWG.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CONSULTANT DRW.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TITLE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DATES RECEIVED BY THE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Area diagram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Layout Option-04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Revised plan for 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Master Layout Plan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boundaries, access, services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Area Statement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Floor-Wise BUA/FAR/FSI</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A6–A11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 Plans (GF to 4F + Terrace)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A6–A11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Room layout, shafts, corridor widths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46029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A12–A15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Elevations (North, East, South, West)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A12–A15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Façade, window alignment, height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A-15.1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Elevations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A-15.1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G.A.~  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ELEVATION.~  A    for   DORMITORY  BUILDING.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A16–A17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Sections (AA, BB)</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A16–A17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Vertical height, structural cut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Door/Window Schedule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Type, sizes, opening direction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45967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Staircase Plan &amp; Details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Riser, tread, railing detail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A20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Typical Toilet Layout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A20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Plumbing point, tile zone, partition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10"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1"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25 / 58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Drawing Register _ DCI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854792"/>
                <a:gridCol w="1324928"/>
                <a:gridCol w="854792"/>
                <a:gridCol w="854792"/>
                <a:gridCol w="1624105"/>
                <a:gridCol w="726573"/>
                <a:gridCol w="854792"/>
                <a:gridCol w="854792"/>
                <a:gridCol w="854792"/>
                <a:gridCol w="854792"/>
                <a:gridCol w="854792"/>
                <a:gridCol w="854792"/>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DISCIPLINE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BUILDING/AREA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DWG.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CONSULTANT DRW.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TITLE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DATES RECEIVED BY THE CONSULTANT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A21–A24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Toilet Elevations (4 Sides)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A21–A24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Tile layout, mirror, tap fittings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A25–A31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Finishing Layouts (GF–4F)</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A25–A31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 finish types, borders, skirting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45979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Finishing Schedule – Room-wise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Wall/ceiling/floor finish, paint codes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45990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 Evacuation Plan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 exits, signage, assembly point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 Build-up Section (typical)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Slab + screed + tile + skirting buildup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Column Location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Column Location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Schedule of column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Typical footing section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ST-04-12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Dormitory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ST-04-12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Combined foundation detail for C1,C2,C3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45856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Design Basis Report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Load assumptions, codes, seismic zone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S-06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Wall Foundation detail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Bar spacing, lap, type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26 / 58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Drawing register · DCI by discipline</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Share of registered drawings per discipline</a:t>
            </a:r>
            <a:endParaRPr lang="en-US" sz="1000" dirty="0"/>
          </a:p>
        </p:txBody>
      </p:sp>
      <p:graphicFrame>
        <p:nvGraphicFramePr>
          <p:cNvPr id="8" name="Chart 0" descr=""/>
          <p:cNvGraphicFramePr/>
          <p:nvPr/>
        </p:nvGraphicFramePr>
        <p:xfrm>
          <a:off x="1280160" y="128016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27 / 58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Design Status</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781601"/>
                <a:gridCol w="1207928"/>
                <a:gridCol w="1207928"/>
                <a:gridCol w="1207928"/>
                <a:gridCol w="2700075"/>
                <a:gridCol w="1421092"/>
                <a:gridCol w="1421092"/>
                <a:gridCol w="1421092"/>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 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Status (In Percentage)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End 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Remark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Architectural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 Per Approved MockUp sample Further Drawings were not required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Structural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As Per Approved MockUp sample Further Drawings were not required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Electrical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Plumbing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 Protection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28 / 58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Procurement Status</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463171"/>
                <a:gridCol w="1305299"/>
                <a:gridCol w="1600044"/>
                <a:gridCol w="842129"/>
                <a:gridCol w="1600044"/>
                <a:gridCol w="715809"/>
                <a:gridCol w="715809"/>
                <a:gridCol w="842129"/>
                <a:gridCol w="842129"/>
                <a:gridCol w="842129"/>
                <a:gridCol w="1600044"/>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Workpackage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Items descriptions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Responsible stakeholder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Contractor Name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Target date of inquiry float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 of Vendor appointment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Lead time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Priority Level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Vendor Appointed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Remark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Weight Bridge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Weight bridge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Eagle Scale Manufacturing Works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45677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45699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Dock Leveller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Dock Leveller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45677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Mechanical Packages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HVAC (Heating, Ventilation &amp; Air Conditioning), Fire Fighting &amp; Suppression System, Plumbing &amp; Drainage and Compressed Air System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45787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Electrical Packages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Power Distribution System, Lighting &amp; Small Power, Low Current Systems (CCTV, Access Control) &amp; Earthing &amp; Lightning Protection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45818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Process Equipment &amp; Utilities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Heavy Machinery &amp; Equipment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45789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29 / 58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97132"/>
          </a:solidFill>
          <a:ln/>
        </p:spPr>
      </p:sp>
      <p:sp>
        <p:nvSpPr>
          <p:cNvPr id="3" name="Shape 1"/>
          <p:cNvSpPr/>
          <p:nvPr/>
        </p:nvSpPr>
        <p:spPr>
          <a:xfrm>
            <a:off x="201168" y="0"/>
            <a:ext cx="11990527" cy="73152"/>
          </a:xfrm>
          <a:prstGeom prst="rect">
            <a:avLst/>
          </a:prstGeom>
          <a:solidFill>
            <a:srgbClr val="15608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640080" y="1965960"/>
            <a:ext cx="10972800" cy="365760"/>
          </a:xfrm>
          <a:prstGeom prst="rect">
            <a:avLst/>
          </a:prstGeom>
          <a:noFill/>
          <a:ln/>
        </p:spPr>
        <p:txBody>
          <a:bodyPr wrap="square" rtlCol="0" anchor="ctr"/>
          <a:lstStyle/>
          <a:p>
            <a:pPr indent="0" marL="0">
              <a:buNone/>
            </a:pPr>
            <a:r>
              <a:rPr lang="en-US" sz="1400" b="1" dirty="0">
                <a:solidFill>
                  <a:srgbClr val="E97132"/>
                </a:solidFill>
              </a:rPr>
              <a:t>21</a:t>
            </a:r>
            <a:endParaRPr lang="en-US" sz="1400" dirty="0"/>
          </a:p>
        </p:txBody>
      </p:sp>
      <p:sp>
        <p:nvSpPr>
          <p:cNvPr id="6" name="Text 3"/>
          <p:cNvSpPr/>
          <p:nvPr/>
        </p:nvSpPr>
        <p:spPr>
          <a:xfrm>
            <a:off x="640080" y="2331720"/>
            <a:ext cx="10972800" cy="960120"/>
          </a:xfrm>
          <a:prstGeom prst="rect">
            <a:avLst/>
          </a:prstGeom>
          <a:noFill/>
          <a:ln/>
        </p:spPr>
        <p:txBody>
          <a:bodyPr wrap="square" rtlCol="0" anchor="ctr"/>
          <a:lstStyle/>
          <a:p>
            <a:pPr indent="0" marL="0">
              <a:buNone/>
            </a:pPr>
            <a:r>
              <a:rPr lang="en-US" sz="3600" b="1" dirty="0">
                <a:solidFill>
                  <a:srgbClr val="FFFFFF"/>
                </a:solidFill>
              </a:rPr>
              <a:t>Project Progress</a:t>
            </a:r>
            <a:endParaRPr lang="en-US" sz="3600" dirty="0"/>
          </a:p>
        </p:txBody>
      </p:sp>
      <p:sp>
        <p:nvSpPr>
          <p:cNvPr id="7" name="Text 4"/>
          <p:cNvSpPr/>
          <p:nvPr/>
        </p:nvSpPr>
        <p:spPr>
          <a:xfrm>
            <a:off x="640080" y="3383280"/>
            <a:ext cx="10972800" cy="365760"/>
          </a:xfrm>
          <a:prstGeom prst="rect">
            <a:avLst/>
          </a:prstGeom>
          <a:noFill/>
          <a:ln/>
        </p:spPr>
        <p:txBody>
          <a:bodyPr wrap="square" rtlCol="0" anchor="ctr"/>
          <a:lstStyle/>
          <a:p>
            <a:pPr indent="0" marL="0">
              <a:buNone/>
            </a:pPr>
            <a:r>
              <a:rPr lang="en-US" sz="1600" dirty="0">
                <a:solidFill>
                  <a:srgbClr val="B8C4D0"/>
                </a:solidFill>
              </a:rPr>
              <a:t>Arvind Limited</a:t>
            </a:r>
            <a:endParaRPr lang="en-US" sz="1600" dirty="0"/>
          </a:p>
        </p:txBody>
      </p:sp>
      <p:sp>
        <p:nvSpPr>
          <p:cNvPr id="8"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9"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30 / 58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Milestone Schedule</a:t>
            </a:r>
            <a:endParaRPr lang="en-US" sz="2000" dirty="0"/>
          </a:p>
        </p:txBody>
      </p:sp>
      <p:sp>
        <p:nvSpPr>
          <p:cNvPr id="7" name="Shape 4"/>
          <p:cNvSpPr/>
          <p:nvPr/>
        </p:nvSpPr>
        <p:spPr>
          <a:xfrm>
            <a:off x="411480" y="841248"/>
            <a:ext cx="1417320" cy="50292"/>
          </a:xfrm>
          <a:prstGeom prst="rect">
            <a:avLst/>
          </a:prstGeom>
          <a:solidFill>
            <a:srgbClr val="E97132"/>
          </a:solidFill>
          <a:ln/>
        </p:spPr>
      </p:sp>
      <p:sp>
        <p:nvSpPr>
          <p:cNvPr id="8" name="Text 5"/>
          <p:cNvSpPr/>
          <p:nvPr/>
        </p:nvSpPr>
        <p:spPr>
          <a:xfrm>
            <a:off x="411480" y="1024128"/>
            <a:ext cx="11368735" cy="347472"/>
          </a:xfrm>
          <a:prstGeom prst="rect">
            <a:avLst/>
          </a:prstGeom>
          <a:noFill/>
          <a:ln/>
        </p:spPr>
        <p:txBody>
          <a:bodyPr wrap="square" rtlCol="0" anchor="ctr"/>
          <a:lstStyle/>
          <a:p>
            <a:pPr indent="0" marL="0">
              <a:buNone/>
            </a:pPr>
            <a:r>
              <a:rPr lang="en-US" sz="1000" dirty="0">
                <a:solidFill>
                  <a:srgbClr val="5C6578"/>
                </a:solidFill>
              </a:rPr>
              <a:t>Arvind dormitory dates from Dash Bord For Budget 52 (Anup-II) — not the generic Progress Overview sample.</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1408176"/>
          <a:ext cx="11368735" cy="914400"/>
        </p:xfrm>
        <a:graphic>
          <a:graphicData uri="http://schemas.openxmlformats.org/drawingml/2006/table">
            <a:tbl>
              <a:tblPr/>
              <a:tblGrid>
                <a:gridCol w="1093148"/>
                <a:gridCol w="1694379"/>
                <a:gridCol w="1093148"/>
                <a:gridCol w="1093148"/>
                <a:gridCol w="1093148"/>
                <a:gridCol w="1093148"/>
                <a:gridCol w="1093148"/>
                <a:gridCol w="1093148"/>
                <a:gridCol w="1093148"/>
                <a:gridCol w="929175"/>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Phase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Milestone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start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start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Weight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Start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Construction start vs calendar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2025-06-18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2026-04-30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2025-07-23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Civil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Building civil work anticipated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2026-04-30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2026-07-20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External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External civil anticipated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2026-08-02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MEP</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Plumbing anticipated end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2026-08-11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10"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1"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31 / 58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Project milestone schedule</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Plan vs actual days — edit data labels in PowerPoint</a:t>
            </a:r>
            <a:endParaRPr lang="en-US" sz="1000" dirty="0"/>
          </a:p>
        </p:txBody>
      </p:sp>
      <p:graphicFrame>
        <p:nvGraphicFramePr>
          <p:cNvPr id="8" name="Chart 0" descr=""/>
          <p:cNvGraphicFramePr/>
          <p:nvPr/>
        </p:nvGraphicFramePr>
        <p:xfrm>
          <a:off x="411480" y="1280160"/>
          <a:ext cx="11368735"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32 / 58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Manpower Histogram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2952918"/>
                <a:gridCol w="2509980"/>
                <a:gridCol w="2952918"/>
                <a:gridCol w="295291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Type of Manpower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Required Manpower for week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Available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Shortage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Reinforcement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Carpenter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Mason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Helper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Unskilled Worker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Drivers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Staff</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Plumbing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Tiles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Painter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Electric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Fabricator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Flush Door - Carpenter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PreCast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33 / 58</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Manpower Histogram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2952918"/>
                <a:gridCol w="2509980"/>
                <a:gridCol w="2952918"/>
                <a:gridCol w="295291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Type of Manpower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Required Manpower for week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Available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Shortage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WPC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Fire Fighting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Gas Line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Wardrobe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Bed and Platform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Windows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Total of Above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296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Available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Rein.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Carpenter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Mason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46184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46186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46187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46188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34 / 58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Weekly manpower histogram</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Required vs available / daily headcount</a:t>
            </a:r>
            <a:endParaRPr lang="en-US" sz="1000" dirty="0"/>
          </a:p>
        </p:txBody>
      </p:sp>
      <p:graphicFrame>
        <p:nvGraphicFramePr>
          <p:cNvPr id="8" name="Chart 0" descr=""/>
          <p:cNvGraphicFramePr/>
          <p:nvPr/>
        </p:nvGraphicFramePr>
        <p:xfrm>
          <a:off x="411480" y="1280160"/>
          <a:ext cx="11368735"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35 / 58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Executed Plan  ·  Part 1 of 3</a:t>
            </a:r>
            <a:endParaRPr lang="en-US" sz="2000" dirty="0"/>
          </a:p>
        </p:txBody>
      </p:sp>
      <p:sp>
        <p:nvSpPr>
          <p:cNvPr id="7" name="Shape 4"/>
          <p:cNvSpPr/>
          <p:nvPr/>
        </p:nvSpPr>
        <p:spPr>
          <a:xfrm>
            <a:off x="411480" y="841248"/>
            <a:ext cx="1417320" cy="50292"/>
          </a:xfrm>
          <a:prstGeom prst="rect">
            <a:avLst/>
          </a:prstGeom>
          <a:solidFill>
            <a:srgbClr val="E97132"/>
          </a:solidFill>
          <a:ln/>
        </p:spPr>
      </p:sp>
      <p:pic>
        <p:nvPicPr>
          <p:cNvPr id="8" name="Image 1" descr="/var/folders/5b/jq48xrw117vb17wjlqgdl6300000gn/T/wpr50-media/ppt/media/image21.png">    </p:cNvPr>
          <p:cNvPicPr>
            <a:picLocks noChangeAspect="1"/>
          </p:cNvPicPr>
          <p:nvPr/>
        </p:nvPicPr>
        <p:blipFill>
          <a:blip r:embed="rId2"/>
          <a:srcRect l="0" r="0" t="0" b="0"/>
          <a:stretch/>
        </p:blipFill>
        <p:spPr>
          <a:xfrm>
            <a:off x="411480" y="1051560"/>
            <a:ext cx="5532120" cy="2331720"/>
          </a:xfrm>
          <a:prstGeom prst="rect">
            <a:avLst/>
          </a:prstGeom>
        </p:spPr>
      </p:pic>
      <p:sp>
        <p:nvSpPr>
          <p:cNvPr id="9" name="Text 5"/>
          <p:cNvSpPr/>
          <p:nvPr/>
        </p:nvSpPr>
        <p:spPr>
          <a:xfrm>
            <a:off x="411480" y="3401568"/>
            <a:ext cx="5532120" cy="201168"/>
          </a:xfrm>
          <a:prstGeom prst="rect">
            <a:avLst/>
          </a:prstGeom>
          <a:noFill/>
          <a:ln/>
        </p:spPr>
        <p:txBody>
          <a:bodyPr wrap="square" rtlCol="0" anchor="ctr"/>
          <a:lstStyle/>
          <a:p>
            <a:pPr indent="0" marL="0">
              <a:buNone/>
            </a:pPr>
            <a:r>
              <a:rPr lang="en-US" sz="900" dirty="0">
                <a:solidFill>
                  <a:srgbClr val="1F2937"/>
                </a:solidFill>
              </a:rPr>
              <a:t>1</a:t>
            </a:r>
            <a:endParaRPr lang="en-US" sz="900" dirty="0"/>
          </a:p>
        </p:txBody>
      </p:sp>
      <p:pic>
        <p:nvPicPr>
          <p:cNvPr id="10" name="Image 2" descr="/var/folders/5b/jq48xrw117vb17wjlqgdl6300000gn/T/wpr50-media/ppt/media/image2.jpg">    </p:cNvPr>
          <p:cNvPicPr>
            <a:picLocks noChangeAspect="1"/>
          </p:cNvPicPr>
          <p:nvPr/>
        </p:nvPicPr>
        <p:blipFill>
          <a:blip r:embed="rId3"/>
          <a:srcRect l="0" r="0" t="0" b="0"/>
          <a:stretch/>
        </p:blipFill>
        <p:spPr>
          <a:xfrm>
            <a:off x="6144768" y="1051560"/>
            <a:ext cx="5532120" cy="2331720"/>
          </a:xfrm>
          <a:prstGeom prst="rect">
            <a:avLst/>
          </a:prstGeom>
        </p:spPr>
      </p:pic>
      <p:sp>
        <p:nvSpPr>
          <p:cNvPr id="11" name="Text 6"/>
          <p:cNvSpPr/>
          <p:nvPr/>
        </p:nvSpPr>
        <p:spPr>
          <a:xfrm>
            <a:off x="6144768" y="3401568"/>
            <a:ext cx="5532120" cy="201168"/>
          </a:xfrm>
          <a:prstGeom prst="rect">
            <a:avLst/>
          </a:prstGeom>
          <a:noFill/>
          <a:ln/>
        </p:spPr>
        <p:txBody>
          <a:bodyPr wrap="square" rtlCol="0" anchor="ctr"/>
          <a:lstStyle/>
          <a:p>
            <a:pPr indent="0" marL="0">
              <a:buNone/>
            </a:pPr>
            <a:r>
              <a:rPr lang="en-US" sz="900" dirty="0">
                <a:solidFill>
                  <a:srgbClr val="1F2937"/>
                </a:solidFill>
              </a:rPr>
              <a:t>2</a:t>
            </a:r>
            <a:endParaRPr lang="en-US" sz="900" dirty="0"/>
          </a:p>
        </p:txBody>
      </p:sp>
      <p:sp>
        <p:nvSpPr>
          <p:cNvPr id="12" name="Shape 7"/>
          <p:cNvSpPr/>
          <p:nvPr/>
        </p:nvSpPr>
        <p:spPr>
          <a:xfrm>
            <a:off x="411480" y="3840480"/>
            <a:ext cx="5532120" cy="2331720"/>
          </a:xfrm>
          <a:prstGeom prst="rect">
            <a:avLst/>
          </a:prstGeom>
          <a:solidFill>
            <a:srgbClr val="E8EEF4"/>
          </a:solidFill>
          <a:ln w="6350">
            <a:solidFill>
              <a:srgbClr val="E2E5EB"/>
            </a:solidFill>
            <a:prstDash val="solid"/>
          </a:ln>
        </p:spPr>
      </p:sp>
      <p:sp>
        <p:nvSpPr>
          <p:cNvPr id="13" name="Text 8"/>
          <p:cNvSpPr/>
          <p:nvPr/>
        </p:nvSpPr>
        <p:spPr>
          <a:xfrm>
            <a:off x="411480" y="3840480"/>
            <a:ext cx="5532120" cy="2331720"/>
          </a:xfrm>
          <a:prstGeom prst="rect">
            <a:avLst/>
          </a:prstGeom>
          <a:noFill/>
          <a:ln/>
        </p:spPr>
        <p:txBody>
          <a:bodyPr wrap="square" rtlCol="0" anchor="ctr"/>
          <a:lstStyle/>
          <a:p>
            <a:pPr algn="ctr" indent="0" marL="0">
              <a:buNone/>
            </a:pPr>
            <a:r>
              <a:rPr lang="en-US" sz="1000" dirty="0">
                <a:solidFill>
                  <a:srgbClr val="5C6578"/>
                </a:solidFill>
              </a:rPr>
              <a:t>(No photo)</a:t>
            </a:r>
            <a:endParaRPr lang="en-US" sz="1000" dirty="0"/>
          </a:p>
        </p:txBody>
      </p:sp>
      <p:sp>
        <p:nvSpPr>
          <p:cNvPr id="14" name="Text 9"/>
          <p:cNvSpPr/>
          <p:nvPr/>
        </p:nvSpPr>
        <p:spPr>
          <a:xfrm>
            <a:off x="411480" y="6190488"/>
            <a:ext cx="5532120" cy="201168"/>
          </a:xfrm>
          <a:prstGeom prst="rect">
            <a:avLst/>
          </a:prstGeom>
          <a:noFill/>
          <a:ln/>
        </p:spPr>
        <p:txBody>
          <a:bodyPr wrap="square" rtlCol="0" anchor="ctr"/>
          <a:lstStyle/>
          <a:p>
            <a:pPr indent="0" marL="0">
              <a:buNone/>
            </a:pPr>
            <a:r>
              <a:rPr lang="en-US" sz="900" dirty="0">
                <a:solidFill>
                  <a:srgbClr val="1F2937"/>
                </a:solidFill>
              </a:rPr>
              <a:t>Photo 3</a:t>
            </a:r>
            <a:endParaRPr lang="en-US" sz="900" dirty="0"/>
          </a:p>
        </p:txBody>
      </p:sp>
      <p:sp>
        <p:nvSpPr>
          <p:cNvPr id="15" name="Shape 10"/>
          <p:cNvSpPr/>
          <p:nvPr/>
        </p:nvSpPr>
        <p:spPr>
          <a:xfrm>
            <a:off x="6144768" y="3840480"/>
            <a:ext cx="5532120" cy="2331720"/>
          </a:xfrm>
          <a:prstGeom prst="rect">
            <a:avLst/>
          </a:prstGeom>
          <a:solidFill>
            <a:srgbClr val="E8EEF4"/>
          </a:solidFill>
          <a:ln w="6350">
            <a:solidFill>
              <a:srgbClr val="E2E5EB"/>
            </a:solidFill>
            <a:prstDash val="solid"/>
          </a:ln>
        </p:spPr>
      </p:sp>
      <p:sp>
        <p:nvSpPr>
          <p:cNvPr id="16" name="Text 11"/>
          <p:cNvSpPr/>
          <p:nvPr/>
        </p:nvSpPr>
        <p:spPr>
          <a:xfrm>
            <a:off x="6144768" y="3840480"/>
            <a:ext cx="5532120" cy="2331720"/>
          </a:xfrm>
          <a:prstGeom prst="rect">
            <a:avLst/>
          </a:prstGeom>
          <a:noFill/>
          <a:ln/>
        </p:spPr>
        <p:txBody>
          <a:bodyPr wrap="square" rtlCol="0" anchor="ctr"/>
          <a:lstStyle/>
          <a:p>
            <a:pPr algn="ctr" indent="0" marL="0">
              <a:buNone/>
            </a:pPr>
            <a:r>
              <a:rPr lang="en-US" sz="1000" dirty="0">
                <a:solidFill>
                  <a:srgbClr val="5C6578"/>
                </a:solidFill>
              </a:rPr>
              <a:t>(No photo)</a:t>
            </a:r>
            <a:endParaRPr lang="en-US" sz="1000" dirty="0"/>
          </a:p>
        </p:txBody>
      </p:sp>
      <p:sp>
        <p:nvSpPr>
          <p:cNvPr id="17" name="Text 12"/>
          <p:cNvSpPr/>
          <p:nvPr/>
        </p:nvSpPr>
        <p:spPr>
          <a:xfrm>
            <a:off x="6144768" y="6190488"/>
            <a:ext cx="5532120" cy="201168"/>
          </a:xfrm>
          <a:prstGeom prst="rect">
            <a:avLst/>
          </a:prstGeom>
          <a:noFill/>
          <a:ln/>
        </p:spPr>
        <p:txBody>
          <a:bodyPr wrap="square" rtlCol="0" anchor="ctr"/>
          <a:lstStyle/>
          <a:p>
            <a:pPr indent="0" marL="0">
              <a:buNone/>
            </a:pPr>
            <a:r>
              <a:rPr lang="en-US" sz="900" dirty="0">
                <a:solidFill>
                  <a:srgbClr val="1F2937"/>
                </a:solidFill>
              </a:rPr>
              <a:t>Photo 4</a:t>
            </a:r>
            <a:endParaRPr lang="en-US" sz="900" dirty="0"/>
          </a:p>
        </p:txBody>
      </p:sp>
      <p:sp>
        <p:nvSpPr>
          <p:cNvPr id="18" name="Text 13"/>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9" name="Text 14"/>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36 / 58</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Executed Plan  ·  Part 2 of 3</a:t>
            </a:r>
            <a:endParaRPr lang="en-US" sz="2000" dirty="0"/>
          </a:p>
        </p:txBody>
      </p:sp>
      <p:sp>
        <p:nvSpPr>
          <p:cNvPr id="7" name="Shape 4"/>
          <p:cNvSpPr/>
          <p:nvPr/>
        </p:nvSpPr>
        <p:spPr>
          <a:xfrm>
            <a:off x="411480" y="841248"/>
            <a:ext cx="1417320" cy="50292"/>
          </a:xfrm>
          <a:prstGeom prst="rect">
            <a:avLst/>
          </a:prstGeom>
          <a:solidFill>
            <a:srgbClr val="E97132"/>
          </a:solidFill>
          <a:ln/>
        </p:spPr>
      </p:sp>
      <p:pic>
        <p:nvPicPr>
          <p:cNvPr id="8" name="Image 1" descr="/var/folders/5b/jq48xrw117vb17wjlqgdl6300000gn/T/wpr50-media/ppt/media/image41.png">    </p:cNvPr>
          <p:cNvPicPr>
            <a:picLocks noChangeAspect="1"/>
          </p:cNvPicPr>
          <p:nvPr/>
        </p:nvPicPr>
        <p:blipFill>
          <a:blip r:embed="rId2"/>
          <a:srcRect l="0" r="0" t="0" b="0"/>
          <a:stretch/>
        </p:blipFill>
        <p:spPr>
          <a:xfrm>
            <a:off x="411480" y="1051560"/>
            <a:ext cx="5532120" cy="2331720"/>
          </a:xfrm>
          <a:prstGeom prst="rect">
            <a:avLst/>
          </a:prstGeom>
        </p:spPr>
      </p:pic>
      <p:sp>
        <p:nvSpPr>
          <p:cNvPr id="9" name="Text 5"/>
          <p:cNvSpPr/>
          <p:nvPr/>
        </p:nvSpPr>
        <p:spPr>
          <a:xfrm>
            <a:off x="411480" y="3401568"/>
            <a:ext cx="5532120" cy="201168"/>
          </a:xfrm>
          <a:prstGeom prst="rect">
            <a:avLst/>
          </a:prstGeom>
          <a:noFill/>
          <a:ln/>
        </p:spPr>
        <p:txBody>
          <a:bodyPr wrap="square" rtlCol="0" anchor="ctr"/>
          <a:lstStyle/>
          <a:p>
            <a:pPr indent="0" marL="0">
              <a:buNone/>
            </a:pPr>
            <a:r>
              <a:rPr lang="en-US" sz="900" dirty="0">
                <a:solidFill>
                  <a:srgbClr val="1F2937"/>
                </a:solidFill>
              </a:rPr>
              <a:t>3</a:t>
            </a:r>
            <a:endParaRPr lang="en-US" sz="900" dirty="0"/>
          </a:p>
        </p:txBody>
      </p:sp>
      <p:pic>
        <p:nvPicPr>
          <p:cNvPr id="10" name="Image 2" descr="/var/folders/5b/jq48xrw117vb17wjlqgdl6300000gn/T/wpr50-media/ppt/media/image16.png">    </p:cNvPr>
          <p:cNvPicPr>
            <a:picLocks noChangeAspect="1"/>
          </p:cNvPicPr>
          <p:nvPr/>
        </p:nvPicPr>
        <p:blipFill>
          <a:blip r:embed="rId3"/>
          <a:srcRect l="0" r="0" t="0" b="0"/>
          <a:stretch/>
        </p:blipFill>
        <p:spPr>
          <a:xfrm>
            <a:off x="6144768" y="1051560"/>
            <a:ext cx="5532120" cy="2331720"/>
          </a:xfrm>
          <a:prstGeom prst="rect">
            <a:avLst/>
          </a:prstGeom>
        </p:spPr>
      </p:pic>
      <p:sp>
        <p:nvSpPr>
          <p:cNvPr id="11" name="Text 6"/>
          <p:cNvSpPr/>
          <p:nvPr/>
        </p:nvSpPr>
        <p:spPr>
          <a:xfrm>
            <a:off x="6144768" y="3401568"/>
            <a:ext cx="5532120" cy="201168"/>
          </a:xfrm>
          <a:prstGeom prst="rect">
            <a:avLst/>
          </a:prstGeom>
          <a:noFill/>
          <a:ln/>
        </p:spPr>
        <p:txBody>
          <a:bodyPr wrap="square" rtlCol="0" anchor="ctr"/>
          <a:lstStyle/>
          <a:p>
            <a:pPr indent="0" marL="0">
              <a:buNone/>
            </a:pPr>
            <a:r>
              <a:rPr lang="en-US" sz="900" dirty="0">
                <a:solidFill>
                  <a:srgbClr val="1F2937"/>
                </a:solidFill>
              </a:rPr>
              <a:t>4</a:t>
            </a:r>
            <a:endParaRPr lang="en-US" sz="900" dirty="0"/>
          </a:p>
        </p:txBody>
      </p:sp>
      <p:sp>
        <p:nvSpPr>
          <p:cNvPr id="12" name="Shape 7"/>
          <p:cNvSpPr/>
          <p:nvPr/>
        </p:nvSpPr>
        <p:spPr>
          <a:xfrm>
            <a:off x="411480" y="3840480"/>
            <a:ext cx="5532120" cy="2331720"/>
          </a:xfrm>
          <a:prstGeom prst="rect">
            <a:avLst/>
          </a:prstGeom>
          <a:solidFill>
            <a:srgbClr val="E8EEF4"/>
          </a:solidFill>
          <a:ln w="6350">
            <a:solidFill>
              <a:srgbClr val="E2E5EB"/>
            </a:solidFill>
            <a:prstDash val="solid"/>
          </a:ln>
        </p:spPr>
      </p:sp>
      <p:sp>
        <p:nvSpPr>
          <p:cNvPr id="13" name="Text 8"/>
          <p:cNvSpPr/>
          <p:nvPr/>
        </p:nvSpPr>
        <p:spPr>
          <a:xfrm>
            <a:off x="411480" y="3840480"/>
            <a:ext cx="5532120" cy="2331720"/>
          </a:xfrm>
          <a:prstGeom prst="rect">
            <a:avLst/>
          </a:prstGeom>
          <a:noFill/>
          <a:ln/>
        </p:spPr>
        <p:txBody>
          <a:bodyPr wrap="square" rtlCol="0" anchor="ctr"/>
          <a:lstStyle/>
          <a:p>
            <a:pPr algn="ctr" indent="0" marL="0">
              <a:buNone/>
            </a:pPr>
            <a:r>
              <a:rPr lang="en-US" sz="1000" dirty="0">
                <a:solidFill>
                  <a:srgbClr val="5C6578"/>
                </a:solidFill>
              </a:rPr>
              <a:t>(No photo)</a:t>
            </a:r>
            <a:endParaRPr lang="en-US" sz="1000" dirty="0"/>
          </a:p>
        </p:txBody>
      </p:sp>
      <p:sp>
        <p:nvSpPr>
          <p:cNvPr id="14" name="Text 9"/>
          <p:cNvSpPr/>
          <p:nvPr/>
        </p:nvSpPr>
        <p:spPr>
          <a:xfrm>
            <a:off x="411480" y="6190488"/>
            <a:ext cx="5532120" cy="201168"/>
          </a:xfrm>
          <a:prstGeom prst="rect">
            <a:avLst/>
          </a:prstGeom>
          <a:noFill/>
          <a:ln/>
        </p:spPr>
        <p:txBody>
          <a:bodyPr wrap="square" rtlCol="0" anchor="ctr"/>
          <a:lstStyle/>
          <a:p>
            <a:pPr indent="0" marL="0">
              <a:buNone/>
            </a:pPr>
            <a:r>
              <a:rPr lang="en-US" sz="900" dirty="0">
                <a:solidFill>
                  <a:srgbClr val="1F2937"/>
                </a:solidFill>
              </a:rPr>
              <a:t>Photo 3</a:t>
            </a:r>
            <a:endParaRPr lang="en-US" sz="900" dirty="0"/>
          </a:p>
        </p:txBody>
      </p:sp>
      <p:sp>
        <p:nvSpPr>
          <p:cNvPr id="15" name="Shape 10"/>
          <p:cNvSpPr/>
          <p:nvPr/>
        </p:nvSpPr>
        <p:spPr>
          <a:xfrm>
            <a:off x="6144768" y="3840480"/>
            <a:ext cx="5532120" cy="2331720"/>
          </a:xfrm>
          <a:prstGeom prst="rect">
            <a:avLst/>
          </a:prstGeom>
          <a:solidFill>
            <a:srgbClr val="E8EEF4"/>
          </a:solidFill>
          <a:ln w="6350">
            <a:solidFill>
              <a:srgbClr val="E2E5EB"/>
            </a:solidFill>
            <a:prstDash val="solid"/>
          </a:ln>
        </p:spPr>
      </p:sp>
      <p:sp>
        <p:nvSpPr>
          <p:cNvPr id="16" name="Text 11"/>
          <p:cNvSpPr/>
          <p:nvPr/>
        </p:nvSpPr>
        <p:spPr>
          <a:xfrm>
            <a:off x="6144768" y="3840480"/>
            <a:ext cx="5532120" cy="2331720"/>
          </a:xfrm>
          <a:prstGeom prst="rect">
            <a:avLst/>
          </a:prstGeom>
          <a:noFill/>
          <a:ln/>
        </p:spPr>
        <p:txBody>
          <a:bodyPr wrap="square" rtlCol="0" anchor="ctr"/>
          <a:lstStyle/>
          <a:p>
            <a:pPr algn="ctr" indent="0" marL="0">
              <a:buNone/>
            </a:pPr>
            <a:r>
              <a:rPr lang="en-US" sz="1000" dirty="0">
                <a:solidFill>
                  <a:srgbClr val="5C6578"/>
                </a:solidFill>
              </a:rPr>
              <a:t>(No photo)</a:t>
            </a:r>
            <a:endParaRPr lang="en-US" sz="1000" dirty="0"/>
          </a:p>
        </p:txBody>
      </p:sp>
      <p:sp>
        <p:nvSpPr>
          <p:cNvPr id="17" name="Text 12"/>
          <p:cNvSpPr/>
          <p:nvPr/>
        </p:nvSpPr>
        <p:spPr>
          <a:xfrm>
            <a:off x="6144768" y="6190488"/>
            <a:ext cx="5532120" cy="201168"/>
          </a:xfrm>
          <a:prstGeom prst="rect">
            <a:avLst/>
          </a:prstGeom>
          <a:noFill/>
          <a:ln/>
        </p:spPr>
        <p:txBody>
          <a:bodyPr wrap="square" rtlCol="0" anchor="ctr"/>
          <a:lstStyle/>
          <a:p>
            <a:pPr indent="0" marL="0">
              <a:buNone/>
            </a:pPr>
            <a:r>
              <a:rPr lang="en-US" sz="900" dirty="0">
                <a:solidFill>
                  <a:srgbClr val="1F2937"/>
                </a:solidFill>
              </a:rPr>
              <a:t>Photo 4</a:t>
            </a:r>
            <a:endParaRPr lang="en-US" sz="900" dirty="0"/>
          </a:p>
        </p:txBody>
      </p:sp>
      <p:sp>
        <p:nvSpPr>
          <p:cNvPr id="18" name="Text 13"/>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9" name="Text 14"/>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37 / 58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Executed Plan  ·  Part 3 of 3</a:t>
            </a:r>
            <a:endParaRPr lang="en-US" sz="2000" dirty="0"/>
          </a:p>
        </p:txBody>
      </p:sp>
      <p:sp>
        <p:nvSpPr>
          <p:cNvPr id="7" name="Shape 4"/>
          <p:cNvSpPr/>
          <p:nvPr/>
        </p:nvSpPr>
        <p:spPr>
          <a:xfrm>
            <a:off x="411480" y="841248"/>
            <a:ext cx="1417320" cy="50292"/>
          </a:xfrm>
          <a:prstGeom prst="rect">
            <a:avLst/>
          </a:prstGeom>
          <a:solidFill>
            <a:srgbClr val="E97132"/>
          </a:solidFill>
          <a:ln/>
        </p:spPr>
      </p:sp>
      <p:pic>
        <p:nvPicPr>
          <p:cNvPr id="8" name="Image 1" descr="/var/folders/5b/jq48xrw117vb17wjlqgdl6300000gn/T/wpr50-media/ppt/media/image12.png">    </p:cNvPr>
          <p:cNvPicPr>
            <a:picLocks noChangeAspect="1"/>
          </p:cNvPicPr>
          <p:nvPr/>
        </p:nvPicPr>
        <p:blipFill>
          <a:blip r:embed="rId2"/>
          <a:srcRect l="0" r="0" t="0" b="0"/>
          <a:stretch/>
        </p:blipFill>
        <p:spPr>
          <a:xfrm>
            <a:off x="411480" y="1051560"/>
            <a:ext cx="5532120" cy="2331720"/>
          </a:xfrm>
          <a:prstGeom prst="rect">
            <a:avLst/>
          </a:prstGeom>
        </p:spPr>
      </p:pic>
      <p:sp>
        <p:nvSpPr>
          <p:cNvPr id="9" name="Text 5"/>
          <p:cNvSpPr/>
          <p:nvPr/>
        </p:nvSpPr>
        <p:spPr>
          <a:xfrm>
            <a:off x="411480" y="3401568"/>
            <a:ext cx="5532120" cy="201168"/>
          </a:xfrm>
          <a:prstGeom prst="rect">
            <a:avLst/>
          </a:prstGeom>
          <a:noFill/>
          <a:ln/>
        </p:spPr>
        <p:txBody>
          <a:bodyPr wrap="square" rtlCol="0" anchor="ctr"/>
          <a:lstStyle/>
          <a:p>
            <a:pPr indent="0" marL="0">
              <a:buNone/>
            </a:pPr>
            <a:r>
              <a:rPr lang="en-US" sz="900" dirty="0">
                <a:solidFill>
                  <a:srgbClr val="1F2937"/>
                </a:solidFill>
              </a:rPr>
              <a:t>5</a:t>
            </a:r>
            <a:endParaRPr lang="en-US" sz="900" dirty="0"/>
          </a:p>
        </p:txBody>
      </p:sp>
      <p:pic>
        <p:nvPicPr>
          <p:cNvPr id="10" name="Image 2" descr="/var/folders/5b/jq48xrw117vb17wjlqgdl6300000gn/T/wpr50-media/ppt/media/image10.png">    </p:cNvPr>
          <p:cNvPicPr>
            <a:picLocks noChangeAspect="1"/>
          </p:cNvPicPr>
          <p:nvPr/>
        </p:nvPicPr>
        <p:blipFill>
          <a:blip r:embed="rId3"/>
          <a:srcRect l="0" r="0" t="0" b="0"/>
          <a:stretch/>
        </p:blipFill>
        <p:spPr>
          <a:xfrm>
            <a:off x="6144768" y="1051560"/>
            <a:ext cx="5532120" cy="2331720"/>
          </a:xfrm>
          <a:prstGeom prst="rect">
            <a:avLst/>
          </a:prstGeom>
        </p:spPr>
      </p:pic>
      <p:sp>
        <p:nvSpPr>
          <p:cNvPr id="11" name="Text 6"/>
          <p:cNvSpPr/>
          <p:nvPr/>
        </p:nvSpPr>
        <p:spPr>
          <a:xfrm>
            <a:off x="6144768" y="3401568"/>
            <a:ext cx="5532120" cy="201168"/>
          </a:xfrm>
          <a:prstGeom prst="rect">
            <a:avLst/>
          </a:prstGeom>
          <a:noFill/>
          <a:ln/>
        </p:spPr>
        <p:txBody>
          <a:bodyPr wrap="square" rtlCol="0" anchor="ctr"/>
          <a:lstStyle/>
          <a:p>
            <a:pPr indent="0" marL="0">
              <a:buNone/>
            </a:pPr>
            <a:r>
              <a:rPr lang="en-US" sz="900" dirty="0">
                <a:solidFill>
                  <a:srgbClr val="1F2937"/>
                </a:solidFill>
              </a:rPr>
              <a:t>6</a:t>
            </a:r>
            <a:endParaRPr lang="en-US" sz="900" dirty="0"/>
          </a:p>
        </p:txBody>
      </p:sp>
      <p:sp>
        <p:nvSpPr>
          <p:cNvPr id="12" name="Shape 7"/>
          <p:cNvSpPr/>
          <p:nvPr/>
        </p:nvSpPr>
        <p:spPr>
          <a:xfrm>
            <a:off x="411480" y="3840480"/>
            <a:ext cx="5532120" cy="2331720"/>
          </a:xfrm>
          <a:prstGeom prst="rect">
            <a:avLst/>
          </a:prstGeom>
          <a:solidFill>
            <a:srgbClr val="E8EEF4"/>
          </a:solidFill>
          <a:ln w="6350">
            <a:solidFill>
              <a:srgbClr val="E2E5EB"/>
            </a:solidFill>
            <a:prstDash val="solid"/>
          </a:ln>
        </p:spPr>
      </p:sp>
      <p:sp>
        <p:nvSpPr>
          <p:cNvPr id="13" name="Text 8"/>
          <p:cNvSpPr/>
          <p:nvPr/>
        </p:nvSpPr>
        <p:spPr>
          <a:xfrm>
            <a:off x="411480" y="3840480"/>
            <a:ext cx="5532120" cy="2331720"/>
          </a:xfrm>
          <a:prstGeom prst="rect">
            <a:avLst/>
          </a:prstGeom>
          <a:noFill/>
          <a:ln/>
        </p:spPr>
        <p:txBody>
          <a:bodyPr wrap="square" rtlCol="0" anchor="ctr"/>
          <a:lstStyle/>
          <a:p>
            <a:pPr algn="ctr" indent="0" marL="0">
              <a:buNone/>
            </a:pPr>
            <a:r>
              <a:rPr lang="en-US" sz="1000" dirty="0">
                <a:solidFill>
                  <a:srgbClr val="5C6578"/>
                </a:solidFill>
              </a:rPr>
              <a:t>(No photo)</a:t>
            </a:r>
            <a:endParaRPr lang="en-US" sz="1000" dirty="0"/>
          </a:p>
        </p:txBody>
      </p:sp>
      <p:sp>
        <p:nvSpPr>
          <p:cNvPr id="14" name="Text 9"/>
          <p:cNvSpPr/>
          <p:nvPr/>
        </p:nvSpPr>
        <p:spPr>
          <a:xfrm>
            <a:off x="411480" y="6190488"/>
            <a:ext cx="5532120" cy="201168"/>
          </a:xfrm>
          <a:prstGeom prst="rect">
            <a:avLst/>
          </a:prstGeom>
          <a:noFill/>
          <a:ln/>
        </p:spPr>
        <p:txBody>
          <a:bodyPr wrap="square" rtlCol="0" anchor="ctr"/>
          <a:lstStyle/>
          <a:p>
            <a:pPr indent="0" marL="0">
              <a:buNone/>
            </a:pPr>
            <a:r>
              <a:rPr lang="en-US" sz="900" dirty="0">
                <a:solidFill>
                  <a:srgbClr val="1F2937"/>
                </a:solidFill>
              </a:rPr>
              <a:t>Photo 3</a:t>
            </a:r>
            <a:endParaRPr lang="en-US" sz="900" dirty="0"/>
          </a:p>
        </p:txBody>
      </p:sp>
      <p:sp>
        <p:nvSpPr>
          <p:cNvPr id="15" name="Shape 10"/>
          <p:cNvSpPr/>
          <p:nvPr/>
        </p:nvSpPr>
        <p:spPr>
          <a:xfrm>
            <a:off x="6144768" y="3840480"/>
            <a:ext cx="5532120" cy="2331720"/>
          </a:xfrm>
          <a:prstGeom prst="rect">
            <a:avLst/>
          </a:prstGeom>
          <a:solidFill>
            <a:srgbClr val="E8EEF4"/>
          </a:solidFill>
          <a:ln w="6350">
            <a:solidFill>
              <a:srgbClr val="E2E5EB"/>
            </a:solidFill>
            <a:prstDash val="solid"/>
          </a:ln>
        </p:spPr>
      </p:sp>
      <p:sp>
        <p:nvSpPr>
          <p:cNvPr id="16" name="Text 11"/>
          <p:cNvSpPr/>
          <p:nvPr/>
        </p:nvSpPr>
        <p:spPr>
          <a:xfrm>
            <a:off x="6144768" y="3840480"/>
            <a:ext cx="5532120" cy="2331720"/>
          </a:xfrm>
          <a:prstGeom prst="rect">
            <a:avLst/>
          </a:prstGeom>
          <a:noFill/>
          <a:ln/>
        </p:spPr>
        <p:txBody>
          <a:bodyPr wrap="square" rtlCol="0" anchor="ctr"/>
          <a:lstStyle/>
          <a:p>
            <a:pPr algn="ctr" indent="0" marL="0">
              <a:buNone/>
            </a:pPr>
            <a:r>
              <a:rPr lang="en-US" sz="1000" dirty="0">
                <a:solidFill>
                  <a:srgbClr val="5C6578"/>
                </a:solidFill>
              </a:rPr>
              <a:t>(No photo)</a:t>
            </a:r>
            <a:endParaRPr lang="en-US" sz="1000" dirty="0"/>
          </a:p>
        </p:txBody>
      </p:sp>
      <p:sp>
        <p:nvSpPr>
          <p:cNvPr id="17" name="Text 12"/>
          <p:cNvSpPr/>
          <p:nvPr/>
        </p:nvSpPr>
        <p:spPr>
          <a:xfrm>
            <a:off x="6144768" y="6190488"/>
            <a:ext cx="5532120" cy="201168"/>
          </a:xfrm>
          <a:prstGeom prst="rect">
            <a:avLst/>
          </a:prstGeom>
          <a:noFill/>
          <a:ln/>
        </p:spPr>
        <p:txBody>
          <a:bodyPr wrap="square" rtlCol="0" anchor="ctr"/>
          <a:lstStyle/>
          <a:p>
            <a:pPr indent="0" marL="0">
              <a:buNone/>
            </a:pPr>
            <a:r>
              <a:rPr lang="en-US" sz="900" dirty="0">
                <a:solidFill>
                  <a:srgbClr val="1F2937"/>
                </a:solidFill>
              </a:rPr>
              <a:t>Photo 4</a:t>
            </a:r>
            <a:endParaRPr lang="en-US" sz="900" dirty="0"/>
          </a:p>
        </p:txBody>
      </p:sp>
      <p:sp>
        <p:nvSpPr>
          <p:cNvPr id="18" name="Text 13"/>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9" name="Text 14"/>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38 / 58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Cashflow Overview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2048421"/>
                <a:gridCol w="3175052"/>
                <a:gridCol w="2048421"/>
                <a:gridCol w="2048421"/>
                <a:gridCol w="2048421"/>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Month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Budgeted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August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1063955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September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7200000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7797193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October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168333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November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2376171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December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12765763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January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9000000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2906803.7399999998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February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12596861.8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9418848.1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March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12596861.8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2123756.45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April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12596861.8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8730949.04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12596861.8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19313808.5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June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12596861.8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8306604.76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July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 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12596861.8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5227082.93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Month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January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Planned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39 / 58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Cashflow Overview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2048421"/>
                <a:gridCol w="3175052"/>
                <a:gridCol w="2048421"/>
                <a:gridCol w="2048421"/>
                <a:gridCol w="2048421"/>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Month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Budgeted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Actual Work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Actual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40 / 58</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Project cashflow overview</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Planned vs actual (₹ lakh) by period</a:t>
            </a:r>
            <a:endParaRPr lang="en-US" sz="1000" dirty="0"/>
          </a:p>
        </p:txBody>
      </p:sp>
      <p:graphicFrame>
        <p:nvGraphicFramePr>
          <p:cNvPr id="8" name="Chart 0" descr=""/>
          <p:cNvGraphicFramePr/>
          <p:nvPr/>
        </p:nvGraphicFramePr>
        <p:xfrm>
          <a:off x="411480" y="1280160"/>
          <a:ext cx="11368735"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41 / 58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97132"/>
          </a:solidFill>
          <a:ln/>
        </p:spPr>
      </p:sp>
      <p:sp>
        <p:nvSpPr>
          <p:cNvPr id="3" name="Shape 1"/>
          <p:cNvSpPr/>
          <p:nvPr/>
        </p:nvSpPr>
        <p:spPr>
          <a:xfrm>
            <a:off x="201168" y="0"/>
            <a:ext cx="11990527" cy="73152"/>
          </a:xfrm>
          <a:prstGeom prst="rect">
            <a:avLst/>
          </a:prstGeom>
          <a:solidFill>
            <a:srgbClr val="15608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640080" y="1965960"/>
            <a:ext cx="10972800" cy="365760"/>
          </a:xfrm>
          <a:prstGeom prst="rect">
            <a:avLst/>
          </a:prstGeom>
          <a:noFill/>
          <a:ln/>
        </p:spPr>
        <p:txBody>
          <a:bodyPr wrap="square" rtlCol="0" anchor="ctr"/>
          <a:lstStyle/>
          <a:p>
            <a:pPr indent="0" marL="0">
              <a:buNone/>
            </a:pPr>
            <a:r>
              <a:rPr lang="en-US" sz="1400" b="1" dirty="0">
                <a:solidFill>
                  <a:srgbClr val="E97132"/>
                </a:solidFill>
              </a:rPr>
              <a:t>40</a:t>
            </a:r>
            <a:endParaRPr lang="en-US" sz="1400" dirty="0"/>
          </a:p>
        </p:txBody>
      </p:sp>
      <p:sp>
        <p:nvSpPr>
          <p:cNvPr id="6" name="Text 3"/>
          <p:cNvSpPr/>
          <p:nvPr/>
        </p:nvSpPr>
        <p:spPr>
          <a:xfrm>
            <a:off x="640080" y="2331720"/>
            <a:ext cx="10972800" cy="960120"/>
          </a:xfrm>
          <a:prstGeom prst="rect">
            <a:avLst/>
          </a:prstGeom>
          <a:noFill/>
          <a:ln/>
        </p:spPr>
        <p:txBody>
          <a:bodyPr wrap="square" rtlCol="0" anchor="ctr"/>
          <a:lstStyle/>
          <a:p>
            <a:pPr indent="0" marL="0">
              <a:buNone/>
            </a:pPr>
            <a:r>
              <a:rPr lang="en-US" sz="3600" b="1" dirty="0">
                <a:solidFill>
                  <a:srgbClr val="FFFFFF"/>
                </a:solidFill>
              </a:rPr>
              <a:t>Weekly Quality Update</a:t>
            </a:r>
            <a:endParaRPr lang="en-US" sz="3600" dirty="0"/>
          </a:p>
        </p:txBody>
      </p:sp>
      <p:sp>
        <p:nvSpPr>
          <p:cNvPr id="7" name="Text 4"/>
          <p:cNvSpPr/>
          <p:nvPr/>
        </p:nvSpPr>
        <p:spPr>
          <a:xfrm>
            <a:off x="640080" y="3383280"/>
            <a:ext cx="10972800" cy="365760"/>
          </a:xfrm>
          <a:prstGeom prst="rect">
            <a:avLst/>
          </a:prstGeom>
          <a:noFill/>
          <a:ln/>
        </p:spPr>
        <p:txBody>
          <a:bodyPr wrap="square" rtlCol="0" anchor="ctr"/>
          <a:lstStyle/>
          <a:p>
            <a:pPr indent="0" marL="0">
              <a:buNone/>
            </a:pPr>
            <a:r>
              <a:rPr lang="en-US" sz="1600" dirty="0">
                <a:solidFill>
                  <a:srgbClr val="B8C4D0"/>
                </a:solidFill>
              </a:rPr>
              <a:t>Arvind Limited</a:t>
            </a:r>
            <a:endParaRPr lang="en-US" sz="1600" dirty="0"/>
          </a:p>
        </p:txBody>
      </p:sp>
      <p:sp>
        <p:nvSpPr>
          <p:cNvPr id="8"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9"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42 / 58</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Quality Updates</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1147304"/>
                <a:gridCol w="3963412"/>
                <a:gridCol w="2086006"/>
                <a:gridCol w="2086006"/>
                <a:gridCol w="2086006"/>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Observation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Open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Close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Observation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Instruction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NCR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43 / 58</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Quality Statistic</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Site Observation / Instruction / NCR — totals from the week sheet</a:t>
            </a:r>
            <a:endParaRPr lang="en-US" sz="1000" dirty="0"/>
          </a:p>
        </p:txBody>
      </p:sp>
      <p:graphicFrame>
        <p:nvGraphicFramePr>
          <p:cNvPr id="8" name="Chart 0" descr=""/>
          <p:cNvGraphicFramePr/>
          <p:nvPr/>
        </p:nvGraphicFramePr>
        <p:xfrm>
          <a:off x="1280160" y="128016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44 / 58</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Cube Test</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2452080"/>
                <a:gridCol w="4458328"/>
                <a:gridCol w="4458328"/>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No of sample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Compressive strength at 7 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IS code lower limit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17.97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18.45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45 / 58</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97132"/>
          </a:solidFill>
          <a:ln/>
        </p:spPr>
      </p:sp>
      <p:sp>
        <p:nvSpPr>
          <p:cNvPr id="3" name="Shape 1"/>
          <p:cNvSpPr/>
          <p:nvPr/>
        </p:nvSpPr>
        <p:spPr>
          <a:xfrm>
            <a:off x="201168" y="0"/>
            <a:ext cx="11990527" cy="73152"/>
          </a:xfrm>
          <a:prstGeom prst="rect">
            <a:avLst/>
          </a:prstGeom>
          <a:solidFill>
            <a:srgbClr val="15608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640080" y="1965960"/>
            <a:ext cx="10972800" cy="365760"/>
          </a:xfrm>
          <a:prstGeom prst="rect">
            <a:avLst/>
          </a:prstGeom>
          <a:noFill/>
          <a:ln/>
        </p:spPr>
        <p:txBody>
          <a:bodyPr wrap="square" rtlCol="0" anchor="ctr"/>
          <a:lstStyle/>
          <a:p>
            <a:pPr indent="0" marL="0">
              <a:buNone/>
            </a:pPr>
            <a:r>
              <a:rPr lang="en-US" sz="1400" b="1" dirty="0">
                <a:solidFill>
                  <a:srgbClr val="E97132"/>
                </a:solidFill>
              </a:rPr>
              <a:t>51</a:t>
            </a:r>
            <a:endParaRPr lang="en-US" sz="1400" dirty="0"/>
          </a:p>
        </p:txBody>
      </p:sp>
      <p:sp>
        <p:nvSpPr>
          <p:cNvPr id="6" name="Text 3"/>
          <p:cNvSpPr/>
          <p:nvPr/>
        </p:nvSpPr>
        <p:spPr>
          <a:xfrm>
            <a:off x="640080" y="2331720"/>
            <a:ext cx="10972800" cy="960120"/>
          </a:xfrm>
          <a:prstGeom prst="rect">
            <a:avLst/>
          </a:prstGeom>
          <a:noFill/>
          <a:ln/>
        </p:spPr>
        <p:txBody>
          <a:bodyPr wrap="square" rtlCol="0" anchor="ctr"/>
          <a:lstStyle/>
          <a:p>
            <a:pPr indent="0" marL="0">
              <a:buNone/>
            </a:pPr>
            <a:r>
              <a:rPr lang="en-US" sz="3600" b="1" dirty="0">
                <a:solidFill>
                  <a:srgbClr val="FFFFFF"/>
                </a:solidFill>
              </a:rPr>
              <a:t>Weekly Safety Update</a:t>
            </a:r>
            <a:endParaRPr lang="en-US" sz="3600" dirty="0"/>
          </a:p>
        </p:txBody>
      </p:sp>
      <p:sp>
        <p:nvSpPr>
          <p:cNvPr id="7" name="Text 4"/>
          <p:cNvSpPr/>
          <p:nvPr/>
        </p:nvSpPr>
        <p:spPr>
          <a:xfrm>
            <a:off x="640080" y="3383280"/>
            <a:ext cx="10972800" cy="365760"/>
          </a:xfrm>
          <a:prstGeom prst="rect">
            <a:avLst/>
          </a:prstGeom>
          <a:noFill/>
          <a:ln/>
        </p:spPr>
        <p:txBody>
          <a:bodyPr wrap="square" rtlCol="0" anchor="ctr"/>
          <a:lstStyle/>
          <a:p>
            <a:pPr indent="0" marL="0">
              <a:buNone/>
            </a:pPr>
            <a:r>
              <a:rPr lang="en-US" sz="1600" dirty="0">
                <a:solidFill>
                  <a:srgbClr val="B8C4D0"/>
                </a:solidFill>
              </a:rPr>
              <a:t>Arvind Limited</a:t>
            </a:r>
            <a:endParaRPr lang="en-US" sz="1600" dirty="0"/>
          </a:p>
        </p:txBody>
      </p:sp>
      <p:sp>
        <p:nvSpPr>
          <p:cNvPr id="8"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9"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46 / 58</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Weekly Safety Updates</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1302668"/>
                <a:gridCol w="3671154"/>
                <a:gridCol w="2013214"/>
                <a:gridCol w="2013214"/>
                <a:gridCol w="2368486"/>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HSE indicators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Up to Previous Week (PW)</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Current Week (CW)</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Cumulative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Safe-manhours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253648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255848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Safe-man-days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Toolbox Talk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HSE induction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HSE trainings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Reported Incident/Accident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Site safety Instructions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241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241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NCN Raised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SOR Raised</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FAC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47 / 58</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HSE Statistic · previous vs current week</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Safe manhours, TBT, induction, trainings — PW vs CW from the week sheet</a:t>
            </a:r>
            <a:endParaRPr lang="en-US" sz="1000" dirty="0"/>
          </a:p>
        </p:txBody>
      </p:sp>
      <p:graphicFrame>
        <p:nvGraphicFramePr>
          <p:cNvPr id="8" name="Chart 0" descr=""/>
          <p:cNvGraphicFramePr/>
          <p:nvPr/>
        </p:nvGraphicFramePr>
        <p:xfrm>
          <a:off x="411480" y="1280160"/>
          <a:ext cx="11368735"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48 / 58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97132"/>
          </a:solidFill>
          <a:ln/>
        </p:spPr>
      </p:sp>
      <p:sp>
        <p:nvSpPr>
          <p:cNvPr id="3" name="Shape 1"/>
          <p:cNvSpPr/>
          <p:nvPr/>
        </p:nvSpPr>
        <p:spPr>
          <a:xfrm>
            <a:off x="201168" y="0"/>
            <a:ext cx="11990527" cy="73152"/>
          </a:xfrm>
          <a:prstGeom prst="rect">
            <a:avLst/>
          </a:prstGeom>
          <a:solidFill>
            <a:srgbClr val="15608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640080" y="1965960"/>
            <a:ext cx="10972800" cy="365760"/>
          </a:xfrm>
          <a:prstGeom prst="rect">
            <a:avLst/>
          </a:prstGeom>
          <a:noFill/>
          <a:ln/>
        </p:spPr>
        <p:txBody>
          <a:bodyPr wrap="square" rtlCol="0" anchor="ctr"/>
          <a:lstStyle/>
          <a:p>
            <a:pPr indent="0" marL="0">
              <a:buNone/>
            </a:pPr>
            <a:r>
              <a:rPr lang="en-US" sz="1400" b="1" dirty="0">
                <a:solidFill>
                  <a:srgbClr val="E97132"/>
                </a:solidFill>
              </a:rPr>
              <a:t>54</a:t>
            </a:r>
            <a:endParaRPr lang="en-US" sz="1400" dirty="0"/>
          </a:p>
        </p:txBody>
      </p:sp>
      <p:sp>
        <p:nvSpPr>
          <p:cNvPr id="6" name="Text 3"/>
          <p:cNvSpPr/>
          <p:nvPr/>
        </p:nvSpPr>
        <p:spPr>
          <a:xfrm>
            <a:off x="640080" y="2331720"/>
            <a:ext cx="10972800" cy="960120"/>
          </a:xfrm>
          <a:prstGeom prst="rect">
            <a:avLst/>
          </a:prstGeom>
          <a:noFill/>
          <a:ln/>
        </p:spPr>
        <p:txBody>
          <a:bodyPr wrap="square" rtlCol="0" anchor="ctr"/>
          <a:lstStyle/>
          <a:p>
            <a:pPr indent="0" marL="0">
              <a:buNone/>
            </a:pPr>
            <a:r>
              <a:rPr lang="en-US" sz="3600" b="1" dirty="0">
                <a:solidFill>
                  <a:srgbClr val="FFFFFF"/>
                </a:solidFill>
              </a:rPr>
              <a:t>Weekly Planned Vs. Actual</a:t>
            </a:r>
            <a:endParaRPr lang="en-US" sz="3600" dirty="0"/>
          </a:p>
        </p:txBody>
      </p:sp>
      <p:sp>
        <p:nvSpPr>
          <p:cNvPr id="7" name="Text 4"/>
          <p:cNvSpPr/>
          <p:nvPr/>
        </p:nvSpPr>
        <p:spPr>
          <a:xfrm>
            <a:off x="640080" y="3383280"/>
            <a:ext cx="10972800" cy="365760"/>
          </a:xfrm>
          <a:prstGeom prst="rect">
            <a:avLst/>
          </a:prstGeom>
          <a:noFill/>
          <a:ln/>
        </p:spPr>
        <p:txBody>
          <a:bodyPr wrap="square" rtlCol="0" anchor="ctr"/>
          <a:lstStyle/>
          <a:p>
            <a:pPr indent="0" marL="0">
              <a:buNone/>
            </a:pPr>
            <a:r>
              <a:rPr lang="en-US" sz="1600" dirty="0">
                <a:solidFill>
                  <a:srgbClr val="B8C4D0"/>
                </a:solidFill>
              </a:rPr>
              <a:t>Arvind Limited</a:t>
            </a:r>
            <a:endParaRPr lang="en-US" sz="1600" dirty="0"/>
          </a:p>
        </p:txBody>
      </p:sp>
      <p:sp>
        <p:nvSpPr>
          <p:cNvPr id="8"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9"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49 / 58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Planned Vs. Actual  ·  Part 1 of 3</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23247"/>
                <a:gridCol w="1474606"/>
                <a:gridCol w="1807581"/>
                <a:gridCol w="808655"/>
                <a:gridCol w="808655"/>
                <a:gridCol w="951359"/>
                <a:gridCol w="951359"/>
                <a:gridCol w="808655"/>
                <a:gridCol w="808655"/>
                <a:gridCol w="808655"/>
                <a:gridCol w="808655"/>
                <a:gridCol w="808655"/>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Tower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Start Date by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End Date by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As per BOQ total Quantity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 GFC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Executed qty till 22-07-2026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Balance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Weekly planned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Weekly actual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Upto Plinth</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Excavation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1826.1999999999998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-0.1999999999998181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Footing PCC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91.31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91.31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Yellow Soil Filling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10000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1123.22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1123.22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Rubble Soling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195.5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173.81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173.81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Footing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441.908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441.91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-0.0020000000000095497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Footing RCC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292.764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292.76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0.004000000000019099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Padestal Upto Plinth Top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664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663.9999999999999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Padestal Upto Plinth Top RCC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62.65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62.65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GB Excavation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3925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11.795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11.795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GB PCC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7.944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7.944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GB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142.938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142.85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0.08799999999999386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GB RCC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23.994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23.979999999999997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0.014000000000002899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50 / 58</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Planned Vs. Actual  ·  Part 2 of 3</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23247"/>
                <a:gridCol w="1474606"/>
                <a:gridCol w="1807581"/>
                <a:gridCol w="808655"/>
                <a:gridCol w="808655"/>
                <a:gridCol w="951359"/>
                <a:gridCol w="951359"/>
                <a:gridCol w="808655"/>
                <a:gridCol w="808655"/>
                <a:gridCol w="808655"/>
                <a:gridCol w="808655"/>
                <a:gridCol w="808655"/>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Tower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Start Date by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End Date by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As per BOQ total Quantity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 GFC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Executed qty till 22-07-2026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Balance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Weekly planned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Weekly actual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Masonry Above GB</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86.294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86.294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Plinth Beam PCC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18.07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18.07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Plinth Beam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387.1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Plinth Beam RCC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45.72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45.72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Plinth Plaster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5235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92.29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92.29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Masonry above PB</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16.168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16.17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-0.0020000000000024443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 PCC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86.9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86.9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 RCC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 RCC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46009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46015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88.03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88.03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Avreage  Achivement  : -</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Ground Floor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Plinth to GF slab column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1680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427.554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427.554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beam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700.59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700.59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51 / 58</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Planned Vs. Actual  ·  Part 3 of 3</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23247"/>
                <a:gridCol w="1474606"/>
                <a:gridCol w="1807581"/>
                <a:gridCol w="808655"/>
                <a:gridCol w="808655"/>
                <a:gridCol w="951359"/>
                <a:gridCol w="951359"/>
                <a:gridCol w="808655"/>
                <a:gridCol w="808655"/>
                <a:gridCol w="808655"/>
                <a:gridCol w="808655"/>
                <a:gridCol w="808655"/>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Tower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Activity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Start Date by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Planned End Date by Contractor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As per BOQ total Quantity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 GFC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Executed qty till 22-07-2026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Balance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Weekly planned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Weekly actual Qty.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Slab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664.23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664.23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staircase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57.39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57.39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lintel shuttering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SQM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70.36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70.36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Plinth to GF slab column concrete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32.82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32.82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beam Concrete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61.75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61.75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Slab Concrete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101.98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101.98</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staircase concrete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8.52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8.52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GF lintel Concrete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6.92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6.92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Brick masonary GF (230 mm)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75.25000000000001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Brick masonary GF (115 mm)</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404.61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404.61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Internal Plaster</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1591.21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1812.85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1812.85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Flooring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46176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830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895.5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895.5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52 / 58</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sp>
        <p:nvSpPr>
          <p:cNvPr id="4"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5" name="Text 3"/>
          <p:cNvSpPr/>
          <p:nvPr/>
        </p:nvSpPr>
        <p:spPr>
          <a:xfrm>
            <a:off x="411480" y="438912"/>
            <a:ext cx="11368735" cy="365760"/>
          </a:xfrm>
          <a:prstGeom prst="rect">
            <a:avLst/>
          </a:prstGeom>
          <a:noFill/>
          <a:ln/>
        </p:spPr>
        <p:txBody>
          <a:bodyPr wrap="square" rtlCol="0" anchor="ctr"/>
          <a:lstStyle/>
          <a:p>
            <a:pPr indent="0" marL="0">
              <a:buNone/>
            </a:pPr>
            <a:r>
              <a:rPr lang="en-US" sz="2000" b="1" dirty="0">
                <a:solidFill>
                  <a:srgbClr val="0E2841"/>
                </a:solidFill>
              </a:rPr>
              <a:t>Weekly planned vs actual quantities</a:t>
            </a:r>
            <a:endParaRPr lang="en-US" sz="2000" dirty="0"/>
          </a:p>
        </p:txBody>
      </p:sp>
      <p:sp>
        <p:nvSpPr>
          <p:cNvPr id="6" name="Shape 4"/>
          <p:cNvSpPr/>
          <p:nvPr/>
        </p:nvSpPr>
        <p:spPr>
          <a:xfrm>
            <a:off x="411480" y="841248"/>
            <a:ext cx="1417320" cy="50292"/>
          </a:xfrm>
          <a:prstGeom prst="rect">
            <a:avLst/>
          </a:prstGeom>
          <a:solidFill>
            <a:srgbClr val="E97132"/>
          </a:solidFill>
          <a:ln/>
        </p:spPr>
      </p:sp>
      <p:sp>
        <p:nvSpPr>
          <p:cNvPr id="7" name="Text 5"/>
          <p:cNvSpPr/>
          <p:nvPr/>
        </p:nvSpPr>
        <p:spPr>
          <a:xfrm>
            <a:off x="411480" y="960120"/>
            <a:ext cx="11368735" cy="274320"/>
          </a:xfrm>
          <a:prstGeom prst="rect">
            <a:avLst/>
          </a:prstGeom>
          <a:noFill/>
          <a:ln/>
        </p:spPr>
        <p:txBody>
          <a:bodyPr wrap="square" rtlCol="0" anchor="ctr"/>
          <a:lstStyle/>
          <a:p>
            <a:pPr indent="0" marL="0">
              <a:buNone/>
            </a:pPr>
            <a:r>
              <a:rPr lang="en-US" sz="1000" dirty="0">
                <a:solidFill>
                  <a:srgbClr val="5C6578"/>
                </a:solidFill>
              </a:rPr>
              <a:t>Activity-level progress for the reporting week</a:t>
            </a:r>
            <a:endParaRPr lang="en-US" sz="1000" dirty="0"/>
          </a:p>
        </p:txBody>
      </p:sp>
      <p:graphicFrame>
        <p:nvGraphicFramePr>
          <p:cNvPr id="8" name="Chart 0" descr=""/>
          <p:cNvGraphicFramePr/>
          <p:nvPr/>
        </p:nvGraphicFramePr>
        <p:xfrm>
          <a:off x="411480" y="1280160"/>
          <a:ext cx="11368735"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7"/>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53 / 58</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Value Addition</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516761"/>
                <a:gridCol w="1456326"/>
                <a:gridCol w="939565"/>
                <a:gridCol w="939565"/>
                <a:gridCol w="939565"/>
                <a:gridCol w="939565"/>
                <a:gridCol w="939565"/>
                <a:gridCol w="939565"/>
                <a:gridCol w="939565"/>
                <a:gridCol w="939565"/>
                <a:gridCol w="939565"/>
                <a:gridCol w="939565"/>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Block</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Package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Planning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Suggestions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Value Engineering Points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Cost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Time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Quality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Approval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Utility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Vendor Name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Provide vendor details for Hume pipe procurement and negotiate total cost hjkhf</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33600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Infra</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Vastu Compound Wall</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Rate Assesment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Provide well-defined rate analysis for rate as per VMS vol 1 &amp; 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587500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Client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MFB</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RMC Mix Design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Observation on Quality Standards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cement content has to meet the standard specifications &amp; also consider only 20% of fly ash in their mix design</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819600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PMC</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54 / 58</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Material Stock</a:t>
            </a:r>
            <a:endParaRPr lang="en-US" sz="2000" dirty="0"/>
          </a:p>
        </p:txBody>
      </p:sp>
      <p:sp>
        <p:nvSpPr>
          <p:cNvPr id="7" name="Shape 4"/>
          <p:cNvSpPr/>
          <p:nvPr/>
        </p:nvSpPr>
        <p:spPr>
          <a:xfrm>
            <a:off x="411480" y="841248"/>
            <a:ext cx="1417320" cy="50292"/>
          </a:xfrm>
          <a:prstGeom prst="rect">
            <a:avLst/>
          </a:prstGeom>
          <a:solidFill>
            <a:srgbClr val="E97132"/>
          </a:solidFill>
          <a:ln/>
        </p:spPr>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68735" cy="914400"/>
        </p:xfrm>
        <a:graphic>
          <a:graphicData uri="http://schemas.openxmlformats.org/drawingml/2006/table">
            <a:tbl>
              <a:tblPr/>
              <a:tblGrid>
                <a:gridCol w="619090"/>
                <a:gridCol w="956775"/>
                <a:gridCol w="2138673"/>
                <a:gridCol w="1125617"/>
                <a:gridCol w="1125617"/>
                <a:gridCol w="1125617"/>
                <a:gridCol w="2138673"/>
                <a:gridCol w="2138673"/>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Sr.No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Material Name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 Purchase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Balance Quantity</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Location/Storage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Remarks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002060"/>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46232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Cement (OPC 53 Grade)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14380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Bags</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46232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TMT(For Building)</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196.25</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46232</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TMT(For External Dev)</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17.86</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On Site</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FFFFF"/>
                    </a:solidFill>
                  </a:tcPr>
                </a:tc>
              </a:tr>
              <a:tr h="0">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ro</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1550</a:t>
                      </a:r>
                      <a:endParaRPr lang="en-US" sz="900" dirty="0">
                        <a:latin typeface="Calibri" charset="0"/>
                        <a:ea typeface="Calibri" charset="0"/>
                        <a:cs typeface="Calibri" charset="0"/>
                      </a:endParaRPr>
                    </a:p>
                  </a:txBody>
                  <a:tcPr marL="91440" marR="91440" marT="45720" marB="45720" anchor="ctr">
                    <a:lnL w="6350" cap="flat" cmpd="sng" algn="ctr">
                      <a:solidFill>
                        <a:srgbClr val="D6DEE8"/>
                      </a:solidFill>
                      <a:prstDash val="solid"/>
                      <a:round/>
                      <a:headEnd type="none" w="med" len="med"/>
                      <a:tailEnd type="none" w="med" len="med"/>
                    </a:lnL>
                    <a:lnR w="6350" cap="flat" cmpd="sng" algn="ctr">
                      <a:solidFill>
                        <a:srgbClr val="D6DEE8"/>
                      </a:solidFill>
                      <a:prstDash val="solid"/>
                      <a:round/>
                      <a:headEnd type="none" w="med" len="med"/>
                      <a:tailEnd type="none" w="med" len="med"/>
                    </a:lnR>
                    <a:lnT w="6350" cap="flat" cmpd="sng" algn="ctr">
                      <a:solidFill>
                        <a:srgbClr val="D6DEE8"/>
                      </a:solidFill>
                      <a:prstDash val="solid"/>
                      <a:round/>
                      <a:headEnd type="none" w="med" len="med"/>
                      <a:tailEnd type="none" w="med" len="med"/>
                    </a:lnT>
                    <a:lnB w="6350" cap="flat" cmpd="sng" algn="ctr">
                      <a:solidFill>
                        <a:srgbClr val="D6DEE8"/>
                      </a:solidFill>
                      <a:prstDash val="solid"/>
                      <a:round/>
                      <a:headEnd type="none" w="med" len="med"/>
                      <a:tailEnd type="none" w="med" len="med"/>
                    </a:lnB>
                    <a:solidFill>
                      <a:srgbClr val="F3F6F9"/>
                    </a:solidFill>
                  </a:tcPr>
                </a:tc>
              </a:tr>
            </a:tbl>
          </a:graphicData>
        </a:graphic>
      </p:graphicFrame>
      <p:sp>
        <p:nvSpPr>
          <p:cNvPr id="9"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0"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55 / 58</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97132"/>
          </a:solidFill>
          <a:ln/>
        </p:spPr>
      </p:sp>
      <p:sp>
        <p:nvSpPr>
          <p:cNvPr id="3" name="Shape 1"/>
          <p:cNvSpPr/>
          <p:nvPr/>
        </p:nvSpPr>
        <p:spPr>
          <a:xfrm>
            <a:off x="201168" y="0"/>
            <a:ext cx="11990527" cy="73152"/>
          </a:xfrm>
          <a:prstGeom prst="rect">
            <a:avLst/>
          </a:prstGeom>
          <a:solidFill>
            <a:srgbClr val="15608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640080" y="1965960"/>
            <a:ext cx="10972800" cy="365760"/>
          </a:xfrm>
          <a:prstGeom prst="rect">
            <a:avLst/>
          </a:prstGeom>
          <a:noFill/>
          <a:ln/>
        </p:spPr>
        <p:txBody>
          <a:bodyPr wrap="square" rtlCol="0" anchor="ctr"/>
          <a:lstStyle/>
          <a:p>
            <a:pPr indent="0" marL="0">
              <a:buNone/>
            </a:pPr>
            <a:r>
              <a:rPr lang="en-US" sz="1400" b="1" dirty="0">
                <a:solidFill>
                  <a:srgbClr val="E97132"/>
                </a:solidFill>
              </a:rPr>
              <a:t>59</a:t>
            </a:r>
            <a:endParaRPr lang="en-US" sz="1400" dirty="0"/>
          </a:p>
        </p:txBody>
      </p:sp>
      <p:sp>
        <p:nvSpPr>
          <p:cNvPr id="6" name="Text 3"/>
          <p:cNvSpPr/>
          <p:nvPr/>
        </p:nvSpPr>
        <p:spPr>
          <a:xfrm>
            <a:off x="640080" y="2331720"/>
            <a:ext cx="10972800" cy="960120"/>
          </a:xfrm>
          <a:prstGeom prst="rect">
            <a:avLst/>
          </a:prstGeom>
          <a:noFill/>
          <a:ln/>
        </p:spPr>
        <p:txBody>
          <a:bodyPr wrap="square" rtlCol="0" anchor="ctr"/>
          <a:lstStyle/>
          <a:p>
            <a:pPr indent="0" marL="0">
              <a:buNone/>
            </a:pPr>
            <a:r>
              <a:rPr lang="en-US" sz="3600" b="1" dirty="0">
                <a:solidFill>
                  <a:srgbClr val="FFFFFF"/>
                </a:solidFill>
              </a:rPr>
              <a:t>Project Progress Pictures</a:t>
            </a:r>
            <a:endParaRPr lang="en-US" sz="3600" dirty="0"/>
          </a:p>
        </p:txBody>
      </p:sp>
      <p:sp>
        <p:nvSpPr>
          <p:cNvPr id="7" name="Text 4"/>
          <p:cNvSpPr/>
          <p:nvPr/>
        </p:nvSpPr>
        <p:spPr>
          <a:xfrm>
            <a:off x="640080" y="3383280"/>
            <a:ext cx="10972800" cy="365760"/>
          </a:xfrm>
          <a:prstGeom prst="rect">
            <a:avLst/>
          </a:prstGeom>
          <a:noFill/>
          <a:ln/>
        </p:spPr>
        <p:txBody>
          <a:bodyPr wrap="square" rtlCol="0" anchor="ctr"/>
          <a:lstStyle/>
          <a:p>
            <a:pPr indent="0" marL="0">
              <a:buNone/>
            </a:pPr>
            <a:r>
              <a:rPr lang="en-US" sz="1600" dirty="0">
                <a:solidFill>
                  <a:srgbClr val="B8C4D0"/>
                </a:solidFill>
              </a:rPr>
              <a:t>Arvind Limited</a:t>
            </a:r>
            <a:endParaRPr lang="en-US" sz="1600" dirty="0"/>
          </a:p>
        </p:txBody>
      </p:sp>
      <p:sp>
        <p:nvSpPr>
          <p:cNvPr id="8" name="Text 5"/>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B8C4D0"/>
                </a:solidFill>
              </a:rPr>
              <a:t>Arvind Limited</a:t>
            </a:r>
            <a:endParaRPr lang="en-US" sz="900" dirty="0"/>
          </a:p>
        </p:txBody>
      </p:sp>
      <p:sp>
        <p:nvSpPr>
          <p:cNvPr id="9" name="Text 6"/>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B8C4D0"/>
                </a:solidFill>
              </a:rPr>
              <a:t>56 / 58</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Progress  ·  Part 1 of 2</a:t>
            </a:r>
            <a:endParaRPr lang="en-US" sz="2000" dirty="0"/>
          </a:p>
        </p:txBody>
      </p:sp>
      <p:sp>
        <p:nvSpPr>
          <p:cNvPr id="7" name="Shape 4"/>
          <p:cNvSpPr/>
          <p:nvPr/>
        </p:nvSpPr>
        <p:spPr>
          <a:xfrm>
            <a:off x="411480" y="841248"/>
            <a:ext cx="1417320" cy="50292"/>
          </a:xfrm>
          <a:prstGeom prst="rect">
            <a:avLst/>
          </a:prstGeom>
          <a:solidFill>
            <a:srgbClr val="E97132"/>
          </a:solidFill>
          <a:ln/>
        </p:spPr>
      </p:sp>
      <p:pic>
        <p:nvPicPr>
          <p:cNvPr id="8" name="Image 1" descr="/var/folders/5b/jq48xrw117vb17wjlqgdl6300000gn/T/wpr50-media/ppt/media/image42.png">    </p:cNvPr>
          <p:cNvPicPr>
            <a:picLocks noChangeAspect="1"/>
          </p:cNvPicPr>
          <p:nvPr/>
        </p:nvPicPr>
        <p:blipFill>
          <a:blip r:embed="rId2"/>
          <a:srcRect l="0" r="0" t="0" b="0"/>
          <a:stretch/>
        </p:blipFill>
        <p:spPr>
          <a:xfrm>
            <a:off x="411480" y="1051560"/>
            <a:ext cx="5532120" cy="2331720"/>
          </a:xfrm>
          <a:prstGeom prst="rect">
            <a:avLst/>
          </a:prstGeom>
        </p:spPr>
      </p:pic>
      <p:sp>
        <p:nvSpPr>
          <p:cNvPr id="9" name="Text 5"/>
          <p:cNvSpPr/>
          <p:nvPr/>
        </p:nvSpPr>
        <p:spPr>
          <a:xfrm>
            <a:off x="411480" y="3401568"/>
            <a:ext cx="5532120" cy="201168"/>
          </a:xfrm>
          <a:prstGeom prst="rect">
            <a:avLst/>
          </a:prstGeom>
          <a:noFill/>
          <a:ln/>
        </p:spPr>
        <p:txBody>
          <a:bodyPr wrap="square" rtlCol="0" anchor="ctr"/>
          <a:lstStyle/>
          <a:p>
            <a:pPr indent="0" marL="0">
              <a:buNone/>
            </a:pPr>
            <a:r>
              <a:rPr lang="en-US" sz="900" dirty="0">
                <a:solidFill>
                  <a:srgbClr val="1F2937"/>
                </a:solidFill>
              </a:rPr>
              <a:t>Progress photo 1</a:t>
            </a:r>
            <a:endParaRPr lang="en-US" sz="900" dirty="0"/>
          </a:p>
        </p:txBody>
      </p:sp>
      <p:pic>
        <p:nvPicPr>
          <p:cNvPr id="10" name="Image 2" descr="/var/folders/5b/jq48xrw117vb17wjlqgdl6300000gn/T/wpr50-media/ppt/media/image37.png">    </p:cNvPr>
          <p:cNvPicPr>
            <a:picLocks noChangeAspect="1"/>
          </p:cNvPicPr>
          <p:nvPr/>
        </p:nvPicPr>
        <p:blipFill>
          <a:blip r:embed="rId3"/>
          <a:srcRect l="0" r="0" t="0" b="0"/>
          <a:stretch/>
        </p:blipFill>
        <p:spPr>
          <a:xfrm>
            <a:off x="6144768" y="1051560"/>
            <a:ext cx="5532120" cy="2331720"/>
          </a:xfrm>
          <a:prstGeom prst="rect">
            <a:avLst/>
          </a:prstGeom>
        </p:spPr>
      </p:pic>
      <p:sp>
        <p:nvSpPr>
          <p:cNvPr id="11" name="Text 6"/>
          <p:cNvSpPr/>
          <p:nvPr/>
        </p:nvSpPr>
        <p:spPr>
          <a:xfrm>
            <a:off x="6144768" y="3401568"/>
            <a:ext cx="5532120" cy="201168"/>
          </a:xfrm>
          <a:prstGeom prst="rect">
            <a:avLst/>
          </a:prstGeom>
          <a:noFill/>
          <a:ln/>
        </p:spPr>
        <p:txBody>
          <a:bodyPr wrap="square" rtlCol="0" anchor="ctr"/>
          <a:lstStyle/>
          <a:p>
            <a:pPr indent="0" marL="0">
              <a:buNone/>
            </a:pPr>
            <a:r>
              <a:rPr lang="en-US" sz="900" dirty="0">
                <a:solidFill>
                  <a:srgbClr val="1F2937"/>
                </a:solidFill>
              </a:rPr>
              <a:t>Progress photo 2</a:t>
            </a:r>
            <a:endParaRPr lang="en-US" sz="900" dirty="0"/>
          </a:p>
        </p:txBody>
      </p:sp>
      <p:pic>
        <p:nvPicPr>
          <p:cNvPr id="12" name="Image 3" descr="/var/folders/5b/jq48xrw117vb17wjlqgdl6300000gn/T/wpr50-media/ppt/media/image13.png">    </p:cNvPr>
          <p:cNvPicPr>
            <a:picLocks noChangeAspect="1"/>
          </p:cNvPicPr>
          <p:nvPr/>
        </p:nvPicPr>
        <p:blipFill>
          <a:blip r:embed="rId4"/>
          <a:srcRect l="0" r="0" t="0" b="0"/>
          <a:stretch/>
        </p:blipFill>
        <p:spPr>
          <a:xfrm>
            <a:off x="411480" y="3840480"/>
            <a:ext cx="5532120" cy="2331720"/>
          </a:xfrm>
          <a:prstGeom prst="rect">
            <a:avLst/>
          </a:prstGeom>
        </p:spPr>
      </p:pic>
      <p:sp>
        <p:nvSpPr>
          <p:cNvPr id="13" name="Text 7"/>
          <p:cNvSpPr/>
          <p:nvPr/>
        </p:nvSpPr>
        <p:spPr>
          <a:xfrm>
            <a:off x="411480" y="6190488"/>
            <a:ext cx="5532120" cy="201168"/>
          </a:xfrm>
          <a:prstGeom prst="rect">
            <a:avLst/>
          </a:prstGeom>
          <a:noFill/>
          <a:ln/>
        </p:spPr>
        <p:txBody>
          <a:bodyPr wrap="square" rtlCol="0" anchor="ctr"/>
          <a:lstStyle/>
          <a:p>
            <a:pPr indent="0" marL="0">
              <a:buNone/>
            </a:pPr>
            <a:r>
              <a:rPr lang="en-US" sz="900" dirty="0">
                <a:solidFill>
                  <a:srgbClr val="1F2937"/>
                </a:solidFill>
              </a:rPr>
              <a:t>Progress photo 3</a:t>
            </a:r>
            <a:endParaRPr lang="en-US" sz="900" dirty="0"/>
          </a:p>
        </p:txBody>
      </p:sp>
      <p:pic>
        <p:nvPicPr>
          <p:cNvPr id="14" name="Image 4" descr="/var/folders/5b/jq48xrw117vb17wjlqgdl6300000gn/T/wpr50-media/ppt/media/image36.png">    </p:cNvPr>
          <p:cNvPicPr>
            <a:picLocks noChangeAspect="1"/>
          </p:cNvPicPr>
          <p:nvPr/>
        </p:nvPicPr>
        <p:blipFill>
          <a:blip r:embed="rId5"/>
          <a:srcRect l="0" r="0" t="0" b="0"/>
          <a:stretch/>
        </p:blipFill>
        <p:spPr>
          <a:xfrm>
            <a:off x="6144768" y="3840480"/>
            <a:ext cx="5532120" cy="2331720"/>
          </a:xfrm>
          <a:prstGeom prst="rect">
            <a:avLst/>
          </a:prstGeom>
        </p:spPr>
      </p:pic>
      <p:sp>
        <p:nvSpPr>
          <p:cNvPr id="15" name="Text 8"/>
          <p:cNvSpPr/>
          <p:nvPr/>
        </p:nvSpPr>
        <p:spPr>
          <a:xfrm>
            <a:off x="6144768" y="6190488"/>
            <a:ext cx="5532120" cy="201168"/>
          </a:xfrm>
          <a:prstGeom prst="rect">
            <a:avLst/>
          </a:prstGeom>
          <a:noFill/>
          <a:ln/>
        </p:spPr>
        <p:txBody>
          <a:bodyPr wrap="square" rtlCol="0" anchor="ctr"/>
          <a:lstStyle/>
          <a:p>
            <a:pPr indent="0" marL="0">
              <a:buNone/>
            </a:pPr>
            <a:r>
              <a:rPr lang="en-US" sz="900" dirty="0">
                <a:solidFill>
                  <a:srgbClr val="1F2937"/>
                </a:solidFill>
              </a:rPr>
              <a:t>Progress photo 4</a:t>
            </a:r>
            <a:endParaRPr lang="en-US" sz="900" dirty="0"/>
          </a:p>
        </p:txBody>
      </p:sp>
      <p:sp>
        <p:nvSpPr>
          <p:cNvPr id="16" name="Text 9"/>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7" name="Text 10"/>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57 / 58</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56082"/>
          </a:solidFill>
          <a:ln/>
        </p:spPr>
      </p:sp>
      <p:sp>
        <p:nvSpPr>
          <p:cNvPr id="3" name="Shape 1"/>
          <p:cNvSpPr/>
          <p:nvPr/>
        </p:nvSpPr>
        <p:spPr>
          <a:xfrm>
            <a:off x="0" y="73152"/>
            <a:ext cx="12191695" cy="32004"/>
          </a:xfrm>
          <a:prstGeom prst="rect">
            <a:avLst/>
          </a:prstGeom>
          <a:solidFill>
            <a:srgbClr val="E97132"/>
          </a:solidFill>
          <a:ln/>
        </p:spPr>
      </p:sp>
      <p:pic>
        <p:nvPicPr>
          <p:cNvPr id="4" name="Image 0" descr="/Users/baibhab/Downloads/sharnam-portal/apps/api/assets/logo-transparent.png">    </p:cNvPr>
          <p:cNvPicPr>
            <a:picLocks noChangeAspect="1"/>
          </p:cNvPicPr>
          <p:nvPr/>
        </p:nvPicPr>
        <p:blipFill>
          <a:blip r:embed="rId1"/>
          <a:stretch>
            <a:fillRect/>
          </a:stretch>
        </p:blipFill>
        <p:spPr>
          <a:xfrm>
            <a:off x="10561320" y="128016"/>
            <a:ext cx="1234440" cy="384048"/>
          </a:xfrm>
          <a:prstGeom prst="rect">
            <a:avLst/>
          </a:prstGeom>
        </p:spPr>
      </p:pic>
      <p:sp>
        <p:nvSpPr>
          <p:cNvPr id="5" name="Text 2"/>
          <p:cNvSpPr/>
          <p:nvPr/>
        </p:nvSpPr>
        <p:spPr>
          <a:xfrm>
            <a:off x="411480" y="182880"/>
            <a:ext cx="7315200" cy="237744"/>
          </a:xfrm>
          <a:prstGeom prst="rect">
            <a:avLst/>
          </a:prstGeom>
          <a:noFill/>
          <a:ln/>
        </p:spPr>
        <p:txBody>
          <a:bodyPr wrap="square" rtlCol="0" anchor="ctr"/>
          <a:lstStyle/>
          <a:p>
            <a:pPr indent="0" marL="0">
              <a:buNone/>
            </a:pPr>
            <a:r>
              <a:rPr lang="en-US" sz="1100" b="1" dirty="0">
                <a:solidFill>
                  <a:srgbClr val="156082"/>
                </a:solidFill>
              </a:rPr>
              <a:t>Arvind Limited</a:t>
            </a:r>
            <a:endParaRPr lang="en-US" sz="1100" dirty="0"/>
          </a:p>
        </p:txBody>
      </p:sp>
      <p:sp>
        <p:nvSpPr>
          <p:cNvPr id="6" name="Text 3"/>
          <p:cNvSpPr/>
          <p:nvPr/>
        </p:nvSpPr>
        <p:spPr>
          <a:xfrm>
            <a:off x="411480" y="438912"/>
            <a:ext cx="9905695" cy="365760"/>
          </a:xfrm>
          <a:prstGeom prst="rect">
            <a:avLst/>
          </a:prstGeom>
          <a:noFill/>
          <a:ln/>
        </p:spPr>
        <p:txBody>
          <a:bodyPr wrap="square" rtlCol="0" anchor="ctr"/>
          <a:lstStyle/>
          <a:p>
            <a:pPr indent="0" marL="0">
              <a:buNone/>
            </a:pPr>
            <a:r>
              <a:rPr lang="en-US" sz="2000" b="1" dirty="0">
                <a:solidFill>
                  <a:srgbClr val="0E2841"/>
                </a:solidFill>
              </a:rPr>
              <a:t>Project Progress  ·  Part 2 of 2</a:t>
            </a:r>
            <a:endParaRPr lang="en-US" sz="2000" dirty="0"/>
          </a:p>
        </p:txBody>
      </p:sp>
      <p:sp>
        <p:nvSpPr>
          <p:cNvPr id="7" name="Shape 4"/>
          <p:cNvSpPr/>
          <p:nvPr/>
        </p:nvSpPr>
        <p:spPr>
          <a:xfrm>
            <a:off x="411480" y="841248"/>
            <a:ext cx="1417320" cy="50292"/>
          </a:xfrm>
          <a:prstGeom prst="rect">
            <a:avLst/>
          </a:prstGeom>
          <a:solidFill>
            <a:srgbClr val="E97132"/>
          </a:solidFill>
          <a:ln/>
        </p:spPr>
      </p:sp>
      <p:pic>
        <p:nvPicPr>
          <p:cNvPr id="8" name="Image 1" descr="/var/folders/5b/jq48xrw117vb17wjlqgdl6300000gn/T/wpr50-media/ppt/media/image35.png">    </p:cNvPr>
          <p:cNvPicPr>
            <a:picLocks noChangeAspect="1"/>
          </p:cNvPicPr>
          <p:nvPr/>
        </p:nvPicPr>
        <p:blipFill>
          <a:blip r:embed="rId2"/>
          <a:srcRect l="0" r="0" t="0" b="0"/>
          <a:stretch/>
        </p:blipFill>
        <p:spPr>
          <a:xfrm>
            <a:off x="411480" y="1051560"/>
            <a:ext cx="5532120" cy="2331720"/>
          </a:xfrm>
          <a:prstGeom prst="rect">
            <a:avLst/>
          </a:prstGeom>
        </p:spPr>
      </p:pic>
      <p:sp>
        <p:nvSpPr>
          <p:cNvPr id="9" name="Text 5"/>
          <p:cNvSpPr/>
          <p:nvPr/>
        </p:nvSpPr>
        <p:spPr>
          <a:xfrm>
            <a:off x="411480" y="3401568"/>
            <a:ext cx="5532120" cy="201168"/>
          </a:xfrm>
          <a:prstGeom prst="rect">
            <a:avLst/>
          </a:prstGeom>
          <a:noFill/>
          <a:ln/>
        </p:spPr>
        <p:txBody>
          <a:bodyPr wrap="square" rtlCol="0" anchor="ctr"/>
          <a:lstStyle/>
          <a:p>
            <a:pPr indent="0" marL="0">
              <a:buNone/>
            </a:pPr>
            <a:r>
              <a:rPr lang="en-US" sz="900" dirty="0">
                <a:solidFill>
                  <a:srgbClr val="1F2937"/>
                </a:solidFill>
              </a:rPr>
              <a:t>Progress photo 5</a:t>
            </a:r>
            <a:endParaRPr lang="en-US" sz="900" dirty="0"/>
          </a:p>
        </p:txBody>
      </p:sp>
      <p:pic>
        <p:nvPicPr>
          <p:cNvPr id="10" name="Image 2" descr="/var/folders/5b/jq48xrw117vb17wjlqgdl6300000gn/T/wpr50-media/ppt/media/image55.png">    </p:cNvPr>
          <p:cNvPicPr>
            <a:picLocks noChangeAspect="1"/>
          </p:cNvPicPr>
          <p:nvPr/>
        </p:nvPicPr>
        <p:blipFill>
          <a:blip r:embed="rId3"/>
          <a:srcRect l="0" r="0" t="0" b="0"/>
          <a:stretch/>
        </p:blipFill>
        <p:spPr>
          <a:xfrm>
            <a:off x="6144768" y="1051560"/>
            <a:ext cx="5532120" cy="2331720"/>
          </a:xfrm>
          <a:prstGeom prst="rect">
            <a:avLst/>
          </a:prstGeom>
        </p:spPr>
      </p:pic>
      <p:sp>
        <p:nvSpPr>
          <p:cNvPr id="11" name="Text 6"/>
          <p:cNvSpPr/>
          <p:nvPr/>
        </p:nvSpPr>
        <p:spPr>
          <a:xfrm>
            <a:off x="6144768" y="3401568"/>
            <a:ext cx="5532120" cy="201168"/>
          </a:xfrm>
          <a:prstGeom prst="rect">
            <a:avLst/>
          </a:prstGeom>
          <a:noFill/>
          <a:ln/>
        </p:spPr>
        <p:txBody>
          <a:bodyPr wrap="square" rtlCol="0" anchor="ctr"/>
          <a:lstStyle/>
          <a:p>
            <a:pPr indent="0" marL="0">
              <a:buNone/>
            </a:pPr>
            <a:r>
              <a:rPr lang="en-US" sz="900" dirty="0">
                <a:solidFill>
                  <a:srgbClr val="1F2937"/>
                </a:solidFill>
              </a:rPr>
              <a:t>Progress photo 6</a:t>
            </a:r>
            <a:endParaRPr lang="en-US" sz="900" dirty="0"/>
          </a:p>
        </p:txBody>
      </p:sp>
      <p:pic>
        <p:nvPicPr>
          <p:cNvPr id="12" name="Image 3" descr="/var/folders/5b/jq48xrw117vb17wjlqgdl6300000gn/T/wpr50-media/ppt/media/image40.png">    </p:cNvPr>
          <p:cNvPicPr>
            <a:picLocks noChangeAspect="1"/>
          </p:cNvPicPr>
          <p:nvPr/>
        </p:nvPicPr>
        <p:blipFill>
          <a:blip r:embed="rId4"/>
          <a:srcRect l="0" r="0" t="0" b="0"/>
          <a:stretch/>
        </p:blipFill>
        <p:spPr>
          <a:xfrm>
            <a:off x="411480" y="3840480"/>
            <a:ext cx="5532120" cy="2331720"/>
          </a:xfrm>
          <a:prstGeom prst="rect">
            <a:avLst/>
          </a:prstGeom>
        </p:spPr>
      </p:pic>
      <p:sp>
        <p:nvSpPr>
          <p:cNvPr id="13" name="Text 7"/>
          <p:cNvSpPr/>
          <p:nvPr/>
        </p:nvSpPr>
        <p:spPr>
          <a:xfrm>
            <a:off x="411480" y="6190488"/>
            <a:ext cx="5532120" cy="201168"/>
          </a:xfrm>
          <a:prstGeom prst="rect">
            <a:avLst/>
          </a:prstGeom>
          <a:noFill/>
          <a:ln/>
        </p:spPr>
        <p:txBody>
          <a:bodyPr wrap="square" rtlCol="0" anchor="ctr"/>
          <a:lstStyle/>
          <a:p>
            <a:pPr indent="0" marL="0">
              <a:buNone/>
            </a:pPr>
            <a:r>
              <a:rPr lang="en-US" sz="900" dirty="0">
                <a:solidFill>
                  <a:srgbClr val="1F2937"/>
                </a:solidFill>
              </a:rPr>
              <a:t>Progress photo 7</a:t>
            </a:r>
            <a:endParaRPr lang="en-US" sz="900" dirty="0"/>
          </a:p>
        </p:txBody>
      </p:sp>
      <p:pic>
        <p:nvPicPr>
          <p:cNvPr id="14" name="Image 4" descr="/var/folders/5b/jq48xrw117vb17wjlqgdl6300000gn/T/wpr50-media/ppt/media/image11.png">    </p:cNvPr>
          <p:cNvPicPr>
            <a:picLocks noChangeAspect="1"/>
          </p:cNvPicPr>
          <p:nvPr/>
        </p:nvPicPr>
        <p:blipFill>
          <a:blip r:embed="rId5"/>
          <a:srcRect l="0" r="0" t="0" b="0"/>
          <a:stretch/>
        </p:blipFill>
        <p:spPr>
          <a:xfrm>
            <a:off x="6144768" y="3840480"/>
            <a:ext cx="5532120" cy="2331720"/>
          </a:xfrm>
          <a:prstGeom prst="rect">
            <a:avLst/>
          </a:prstGeom>
        </p:spPr>
      </p:pic>
      <p:sp>
        <p:nvSpPr>
          <p:cNvPr id="15" name="Text 8"/>
          <p:cNvSpPr/>
          <p:nvPr/>
        </p:nvSpPr>
        <p:spPr>
          <a:xfrm>
            <a:off x="6144768" y="6190488"/>
            <a:ext cx="5532120" cy="201168"/>
          </a:xfrm>
          <a:prstGeom prst="rect">
            <a:avLst/>
          </a:prstGeom>
          <a:noFill/>
          <a:ln/>
        </p:spPr>
        <p:txBody>
          <a:bodyPr wrap="square" rtlCol="0" anchor="ctr"/>
          <a:lstStyle/>
          <a:p>
            <a:pPr indent="0" marL="0">
              <a:buNone/>
            </a:pPr>
            <a:r>
              <a:rPr lang="en-US" sz="900" dirty="0">
                <a:solidFill>
                  <a:srgbClr val="1F2937"/>
                </a:solidFill>
              </a:rPr>
              <a:t>Progress photo 8</a:t>
            </a:r>
            <a:endParaRPr lang="en-US" sz="900" dirty="0"/>
          </a:p>
        </p:txBody>
      </p:sp>
      <p:sp>
        <p:nvSpPr>
          <p:cNvPr id="16" name="Text 9"/>
          <p:cNvSpPr/>
          <p:nvPr/>
        </p:nvSpPr>
        <p:spPr>
          <a:xfrm>
            <a:off x="411480" y="6510528"/>
            <a:ext cx="7315200" cy="201168"/>
          </a:xfrm>
          <a:prstGeom prst="rect">
            <a:avLst/>
          </a:prstGeom>
          <a:noFill/>
          <a:ln/>
        </p:spPr>
        <p:txBody>
          <a:bodyPr wrap="square" rtlCol="0" anchor="ctr"/>
          <a:lstStyle/>
          <a:p>
            <a:pPr indent="0" marL="0">
              <a:buNone/>
            </a:pPr>
            <a:r>
              <a:rPr lang="en-US" sz="900" dirty="0">
                <a:solidFill>
                  <a:srgbClr val="5C6578"/>
                </a:solidFill>
              </a:rPr>
              <a:t>Arvind Limited</a:t>
            </a:r>
            <a:endParaRPr lang="en-US" sz="900" dirty="0"/>
          </a:p>
        </p:txBody>
      </p:sp>
      <p:sp>
        <p:nvSpPr>
          <p:cNvPr id="17" name="Text 10"/>
          <p:cNvSpPr/>
          <p:nvPr/>
        </p:nvSpPr>
        <p:spPr>
          <a:xfrm>
            <a:off x="10317175" y="6510528"/>
            <a:ext cx="1463040" cy="201168"/>
          </a:xfrm>
          <a:prstGeom prst="rect">
            <a:avLst/>
          </a:prstGeom>
          <a:noFill/>
          <a:ln/>
        </p:spPr>
        <p:txBody>
          <a:bodyPr wrap="square" rtlCol="0" anchor="ctr"/>
          <a:lstStyle/>
          <a:p>
            <a:pPr algn="r" indent="0" marL="0">
              <a:buNone/>
            </a:pPr>
            <a:r>
              <a:rPr lang="en-US" sz="900" dirty="0">
                <a:solidFill>
                  <a:srgbClr val="5C6578"/>
                </a:solidFill>
              </a:rPr>
              <a:t>58 / 58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58</vt:i4></vt:variant>
		</vt:vector>
	</HeadingPairs>
	<TitlesOfParts>
		<vt:vector size="61"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vt:lpstr>Slide 13</vt:lpstr><vt:lpstr>Slide 14</vt:lpstr><vt:lpstr>Slide 15</vt:lpstr><vt:lpstr>Slide 16</vt:lpstr><vt:lpstr>Slide 17</vt:lpstr><vt:lpstr>Slide 18</vt:lpstr><vt:lpstr>Slide 19</vt:lpstr><vt:lpstr>Slide 20</vt:lpstr><vt:lpstr>Slide 21</vt:lpstr><vt:lpstr>Slide 22</vt:lpstr><vt:lpstr>Slide 23</vt:lpstr><vt:lpstr>Slide 24</vt:lpstr><vt:lpstr>Slide 25</vt:lpstr><vt:lpstr>Slide 26</vt:lpstr><vt:lpstr>Slide 27</vt:lpstr><vt:lpstr>Slide 28</vt:lpstr><vt:lpstr>Slide 29</vt:lpstr><vt:lpstr>Slide 30</vt:lpstr><vt:lpstr>Slide 31</vt:lpstr><vt:lpstr>Slide 32</vt:lpstr><vt:lpstr>Slide 33</vt:lpstr><vt:lpstr>Slide 34</vt:lpstr><vt:lpstr>Slide 35</vt:lpstr><vt:lpstr>Slide 36</vt:lpstr><vt:lpstr>Slide 37</vt:lpstr><vt:lpstr>Slide 38</vt:lpstr><vt:lpstr>Slide 39</vt:lpstr><vt:lpstr>Slide 40</vt:lpstr><vt:lpstr>Slide 41</vt:lpstr><vt:lpstr>Slide 42</vt:lpstr><vt:lpstr>Slide 43</vt:lpstr><vt:lpstr>Slide 44</vt:lpstr><vt:lpstr>Slide 45</vt:lpstr><vt:lpstr>Slide 46</vt:lpstr><vt:lpstr>Slide 47</vt:lpstr><vt:lpstr>Slide 48</vt:lpstr><vt:lpstr>Slide 49</vt:lpstr><vt:lpstr>Slide 50</vt:lpstr><vt:lpstr>Slide 51</vt:lpstr><vt:lpstr>Slide 52</vt:lpstr><vt:lpstr>Slide 53</vt:lpstr><vt:lpstr>Slide 54</vt:lpstr><vt:lpstr>Slide 55</vt:lpstr><vt:lpstr>Slide 56</vt:lpstr><vt:lpstr>Slide 57</vt:lpstr><vt:lpstr>Slide 58</vt:lpstr>
		</vt:vector>
	</TitlesOfParts>
	<Company>Sharnam Project Development Consultants &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Progress Report — Construction of Worker Dormitory — Arvind Limited, Santej</dc:title>
  <dc:subject>WPR 52</dc:subject>
  <dc:creator>Sharnam PMC</dc:creator>
  <cp:lastModifiedBy>Sharnam PMC</cp:lastModifiedBy>
  <cp:revision>1</cp:revision>
  <dcterms:created xsi:type="dcterms:W3CDTF">2026-09-11T20:20:06Z</dcterms:created>
  <dcterms:modified xsi:type="dcterms:W3CDTF">2026-09-11T20:20:06Z</dcterms:modified>
</cp:coreProperties>
</file>