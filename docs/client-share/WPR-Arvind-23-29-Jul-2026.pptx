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2.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3.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5.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Planned</c:v>
                </c:pt>
              </c:strCache>
            </c:strRef>
          </c:tx>
          <c:spPr>
            <a:solidFill>
              <a:srgbClr val="2563EB"/>
            </a:solidFill>
            <a:effectLst/>
          </c:spPr>
          <c:invertIfNegative val="0"/>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cat>
            <c:multiLvlStrRef>
              <c:f>Sheet1!$A$2:$A$13</c:f>
              <c:multiLvlStrCache>
                <c:ptCount val="12"/>
                <c:lvl>
                  <c:pt idx="0">
                    <c:v>Reinforcement work</c:v>
                  </c:pt>
                  <c:pt idx="1">
                    <c:v>Carpenter</c:v>
                  </c:pt>
                  <c:pt idx="2">
                    <c:v>Mason</c:v>
                  </c:pt>
                  <c:pt idx="3">
                    <c:v>Helper</c:v>
                  </c:pt>
                  <c:pt idx="4">
                    <c:v>Unskilled Worker</c:v>
                  </c:pt>
                  <c:pt idx="5">
                    <c:v>Drivers</c:v>
                  </c:pt>
                  <c:pt idx="6">
                    <c:v>Staff</c:v>
                  </c:pt>
                  <c:pt idx="7">
                    <c:v>Plumbing</c:v>
                  </c:pt>
                  <c:pt idx="8">
                    <c:v>Tiles Work</c:v>
                  </c:pt>
                  <c:pt idx="9">
                    <c:v>Painter</c:v>
                  </c:pt>
                  <c:pt idx="10">
                    <c:v>Electric Work</c:v>
                  </c:pt>
                  <c:pt idx="11">
                    <c:v>Fabricator</c:v>
                  </c:pt>
                </c:lvl>
              </c:multiLvlStrCache>
            </c:multiLvlStrRef>
          </c:cat>
          <c:val>
            <c:numRef>
              <c:f>Sheet1!$B$2:$B$13</c:f>
              <c:numCache>
                <c:formatCode>General</c:formatCode>
                <c:ptCount val="12"/>
                <c:pt idx="0">
                  <c:v>0</c:v>
                </c:pt>
                <c:pt idx="1">
                  <c:v>7</c:v>
                </c:pt>
                <c:pt idx="2">
                  <c:v>28</c:v>
                </c:pt>
                <c:pt idx="3">
                  <c:v>7</c:v>
                </c:pt>
                <c:pt idx="4">
                  <c:v>105</c:v>
                </c:pt>
                <c:pt idx="5">
                  <c:v>7</c:v>
                </c:pt>
                <c:pt idx="6">
                  <c:v>26</c:v>
                </c:pt>
                <c:pt idx="7">
                  <c:v>49</c:v>
                </c:pt>
                <c:pt idx="8">
                  <c:v>14</c:v>
                </c:pt>
                <c:pt idx="9">
                  <c:v>14</c:v>
                </c:pt>
                <c:pt idx="10">
                  <c:v>14</c:v>
                </c:pt>
                <c:pt idx="11">
                  <c:v>0</c:v>
                </c:pt>
              </c:numCache>
            </c:numRef>
          </c:val>
        </c:ser>
        <c:ser>
          <c:idx val="1"/>
          <c:order val="1"/>
          <c:tx>
            <c:strRef>
              <c:f>Sheet1!$C$1</c:f>
              <c:strCache>
                <c:ptCount val="1"/>
                <c:pt idx="0">
                  <c:v>Actual</c:v>
                </c:pt>
              </c:strCache>
            </c:strRef>
          </c:tx>
          <c:spPr>
            <a:solidFill>
              <a:srgbClr val="156082"/>
            </a:solidFill>
            <a:effectLst/>
          </c:spPr>
          <c:invertIfNegative val="0"/>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cat>
            <c:multiLvlStrRef>
              <c:f>Sheet1!$A$2:$A$13</c:f>
              <c:multiLvlStrCache>
                <c:ptCount val="12"/>
                <c:lvl>
                  <c:pt idx="0">
                    <c:v>Reinforcement work</c:v>
                  </c:pt>
                  <c:pt idx="1">
                    <c:v>Carpenter</c:v>
                  </c:pt>
                  <c:pt idx="2">
                    <c:v>Mason</c:v>
                  </c:pt>
                  <c:pt idx="3">
                    <c:v>Helper</c:v>
                  </c:pt>
                  <c:pt idx="4">
                    <c:v>Unskilled Worker</c:v>
                  </c:pt>
                  <c:pt idx="5">
                    <c:v>Drivers</c:v>
                  </c:pt>
                  <c:pt idx="6">
                    <c:v>Staff</c:v>
                  </c:pt>
                  <c:pt idx="7">
                    <c:v>Plumbing</c:v>
                  </c:pt>
                  <c:pt idx="8">
                    <c:v>Tiles Work</c:v>
                  </c:pt>
                  <c:pt idx="9">
                    <c:v>Painter</c:v>
                  </c:pt>
                  <c:pt idx="10">
                    <c:v>Electric Work</c:v>
                  </c:pt>
                  <c:pt idx="11">
                    <c:v>Fabricator</c:v>
                  </c:pt>
                </c:lvl>
              </c:multiLvlStrCache>
            </c:multiLvlStrRef>
          </c:cat>
          <c:val>
            <c:numRef>
              <c:f>Sheet1!$C$2:$C$13</c:f>
              <c:numCache>
                <c:formatCode>General</c:formatCode>
                <c:ptCount val="12"/>
                <c:pt idx="0">
                  <c:v>0</c:v>
                </c:pt>
                <c:pt idx="1">
                  <c:v>7</c:v>
                </c:pt>
                <c:pt idx="2">
                  <c:v>28</c:v>
                </c:pt>
                <c:pt idx="3">
                  <c:v>7</c:v>
                </c:pt>
                <c:pt idx="4">
                  <c:v>105</c:v>
                </c:pt>
                <c:pt idx="5">
                  <c:v>7</c:v>
                </c:pt>
                <c:pt idx="6">
                  <c:v>26</c:v>
                </c:pt>
                <c:pt idx="7">
                  <c:v>28</c:v>
                </c:pt>
                <c:pt idx="8">
                  <c:v>14</c:v>
                </c:pt>
                <c:pt idx="9">
                  <c:v>14</c:v>
                </c:pt>
                <c:pt idx="10">
                  <c:v>14</c:v>
                </c:pt>
                <c:pt idx="11">
                  <c:v>0</c:v>
                </c:pt>
              </c:numCache>
            </c:numRef>
          </c:val>
        </c:ser>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C65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5EB"/>
              </a:solidFill>
              <a:prstDash val="dash"/>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Workers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C65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Planned</c:v>
                </c:pt>
              </c:strCache>
            </c:strRef>
          </c:tx>
          <c:spPr>
            <a:solidFill>
              <a:srgbClr val="2563EB"/>
            </a:solidFill>
            <a:effectLst/>
          </c:spPr>
          <c:invertIfNegative val="0"/>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cat>
            <c:multiLvlStrRef>
              <c:f>Sheet1!$A$2:$A$13</c:f>
              <c:multiLvlStrCache>
                <c:ptCount val="12"/>
                <c:lvl>
                  <c:pt idx="0">
                    <c:v>August</c:v>
                  </c:pt>
                  <c:pt idx="1">
                    <c:v>September</c:v>
                  </c:pt>
                  <c:pt idx="2">
                    <c:v>October</c:v>
                  </c:pt>
                  <c:pt idx="3">
                    <c:v>November</c:v>
                  </c:pt>
                  <c:pt idx="4">
                    <c:v>December</c:v>
                  </c:pt>
                  <c:pt idx="5">
                    <c:v>January</c:v>
                  </c:pt>
                  <c:pt idx="6">
                    <c:v>February</c:v>
                  </c:pt>
                  <c:pt idx="7">
                    <c:v>March</c:v>
                  </c:pt>
                  <c:pt idx="8">
                    <c:v>April</c:v>
                  </c:pt>
                  <c:pt idx="9">
                    <c:v>May</c:v>
                  </c:pt>
                  <c:pt idx="10">
                    <c:v>June</c:v>
                  </c:pt>
                  <c:pt idx="11">
                    <c:v>July</c:v>
                  </c:pt>
                </c:lvl>
              </c:multiLvlStrCache>
            </c:multiLvlStrRef>
          </c:cat>
          <c:val>
            <c:numRef>
              <c:f>Sheet1!$B$2:$B$13</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0</c:v>
                </c:pt>
              </c:numCache>
            </c:numRef>
          </c:val>
        </c:ser>
        <c:ser>
          <c:idx val="1"/>
          <c:order val="1"/>
          <c:tx>
            <c:strRef>
              <c:f>Sheet1!$C$1</c:f>
              <c:strCache>
                <c:ptCount val="1"/>
                <c:pt idx="0">
                  <c:v>Actual</c:v>
                </c:pt>
              </c:strCache>
            </c:strRef>
          </c:tx>
          <c:spPr>
            <a:solidFill>
              <a:srgbClr val="156082"/>
            </a:solidFill>
            <a:effectLst/>
          </c:spPr>
          <c:invertIfNegative val="0"/>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cat>
            <c:multiLvlStrRef>
              <c:f>Sheet1!$A$2:$A$13</c:f>
              <c:multiLvlStrCache>
                <c:ptCount val="12"/>
                <c:lvl>
                  <c:pt idx="0">
                    <c:v>August</c:v>
                  </c:pt>
                  <c:pt idx="1">
                    <c:v>September</c:v>
                  </c:pt>
                  <c:pt idx="2">
                    <c:v>October</c:v>
                  </c:pt>
                  <c:pt idx="3">
                    <c:v>November</c:v>
                  </c:pt>
                  <c:pt idx="4">
                    <c:v>December</c:v>
                  </c:pt>
                  <c:pt idx="5">
                    <c:v>January</c:v>
                  </c:pt>
                  <c:pt idx="6">
                    <c:v>February</c:v>
                  </c:pt>
                  <c:pt idx="7">
                    <c:v>March</c:v>
                  </c:pt>
                  <c:pt idx="8">
                    <c:v>April</c:v>
                  </c:pt>
                  <c:pt idx="9">
                    <c:v>May</c:v>
                  </c:pt>
                  <c:pt idx="10">
                    <c:v>June</c:v>
                  </c:pt>
                  <c:pt idx="11">
                    <c:v>July</c:v>
                  </c:pt>
                </c:lvl>
              </c:multiLvlStrCache>
            </c:multiLvlStrRef>
          </c:cat>
          <c:val>
            <c:numRef>
              <c:f>Sheet1!$C$2:$C$13</c:f>
              <c:numCache>
                <c:formatCode>General</c:formatCode>
                <c:ptCount val="12"/>
                <c:pt idx="0">
                  <c:v>5000000</c:v>
                </c:pt>
                <c:pt idx="1">
                  <c:v>7200000</c:v>
                </c:pt>
                <c:pt idx="2">
                  <c:v>5000000</c:v>
                </c:pt>
                <c:pt idx="3">
                  <c:v>7500000</c:v>
                </c:pt>
                <c:pt idx="4">
                  <c:v>8000000</c:v>
                </c:pt>
                <c:pt idx="5">
                  <c:v>9000000</c:v>
                </c:pt>
                <c:pt idx="6">
                  <c:v>12596861.8</c:v>
                </c:pt>
                <c:pt idx="7">
                  <c:v>12596861.8</c:v>
                </c:pt>
                <c:pt idx="8">
                  <c:v>12596861.8</c:v>
                </c:pt>
                <c:pt idx="9">
                  <c:v>12596861.8</c:v>
                </c:pt>
                <c:pt idx="10">
                  <c:v>12596861.8</c:v>
                </c:pt>
                <c:pt idx="11">
                  <c:v>12596861.8</c:v>
                </c:pt>
              </c:numCache>
            </c:numRef>
          </c:val>
        </c:ser>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C65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5EB"/>
              </a:solidFill>
              <a:prstDash val="dash"/>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 lakh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C65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Quality Statistic</c:v>
                </c:pt>
              </c:strCache>
            </c:strRef>
          </c:tx>
          <c:spPr>
            <a:solidFill>
              <a:schemeClr val="accent1"/>
            </a:solidFill>
            <a:ln w="9525" cap="flat">
              <a:solidFill>
                <a:srgbClr val="F9F9F9"/>
              </a:solidFill>
              <a:prstDash val="solid"/>
              <a:round/>
            </a:ln>
            <a:effectLst/>
          </c:spPr>
          <c:dPt>
            <c:idx val="0"/>
            <c:bubble3D val="0"/>
            <c:spPr>
              <a:solidFill>
                <a:srgbClr val="0F766E"/>
              </a:solidFill>
              <a:effectLst/>
            </c:spPr>
          </c:dPt>
          <c:dPt>
            <c:idx val="1"/>
            <c:bubble3D val="0"/>
            <c:spPr>
              <a:solidFill>
                <a:srgbClr val="2563EB"/>
              </a:solidFill>
              <a:effectLst/>
            </c:spPr>
          </c:dPt>
          <c:dPt>
            <c:idx val="2"/>
            <c:bubble3D val="0"/>
            <c:spPr>
              <a:solidFill>
                <a:srgbClr val="C45C26"/>
              </a:solidFill>
              <a:effectLst/>
            </c:spPr>
          </c:dPt>
          <c:dLbls>
            <c:dLbl>
              <c:idx val="0"/>
              <c:numFmt formatCode="0%" sourceLinked="0"/>
              <c:spPr/>
              <c:txPr>
                <a:bodyPr/>
                <a:lstStyle/>
                <a:p>
                  <a:pPr>
                    <a:defRPr sz="1200" b="0" i="0" u="none" strike="noStrike">
                      <a:solidFill>
                        <a:srgbClr val="1A1D26"/>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1A1D26"/>
                      </a:solidFill>
                      <a:latin typeface="Arial"/>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1A1D26"/>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Site Observation</c:v>
                </c:pt>
                <c:pt idx="1">
                  <c:v>Site Instruction</c:v>
                </c:pt>
                <c:pt idx="2">
                  <c:v>NCR</c:v>
                </c:pt>
              </c:strCache>
            </c:strRef>
          </c:cat>
          <c:val>
            <c:numRef>
              <c:f>Sheet1!$B$2:$B$4</c:f>
              <c:numCache>
                <c:ptCount val="3"/>
                <c:pt idx="0">
                  <c:v>89</c:v>
                </c:pt>
                <c:pt idx="1">
                  <c:v>89</c:v>
                </c:pt>
                <c:pt idx="2">
                  <c:v>4</c:v>
                </c:pt>
              </c:numCache>
            </c:numRef>
          </c:val>
        </c:ser>
        <c:firstSliceAng val="0"/>
        <c:holeSize val="50"/>
      </c:doughnutChart>
      <c:spPr>
        <a:noFill/>
        <a:ln>
          <a:noFill/>
        </a:ln>
        <a:effectLst/>
      </c:spPr>
    </c:plotArea>
    <c:legend>
      <c:legendPos val="r"/>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Planned</c:v>
                </c:pt>
              </c:strCache>
            </c:strRef>
          </c:tx>
          <c:spPr>
            <a:solidFill>
              <a:srgbClr val="2563EB"/>
            </a:solidFill>
            <a:effectLst/>
          </c:spPr>
          <c:invertIfNegative val="0"/>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cat>
            <c:multiLvlStrRef>
              <c:f>Sheet1!$A$2:$A$9</c:f>
              <c:multiLvlStrCache>
                <c:ptCount val="8"/>
                <c:lvl>
                  <c:pt idx="0">
                    <c:v>Safe-manhours</c:v>
                  </c:pt>
                  <c:pt idx="1">
                    <c:v>Safe-man-days</c:v>
                  </c:pt>
                  <c:pt idx="2">
                    <c:v>Toolbox Talk</c:v>
                  </c:pt>
                  <c:pt idx="3">
                    <c:v>HSE induction</c:v>
                  </c:pt>
                  <c:pt idx="4">
                    <c:v>HSE trainings</c:v>
                  </c:pt>
                  <c:pt idx="5">
                    <c:v>Site safety Instructions</c:v>
                  </c:pt>
                  <c:pt idx="6">
                    <c:v>NCN Raised</c:v>
                  </c:pt>
                  <c:pt idx="7">
                    <c:v>Near Miss</c:v>
                  </c:pt>
                </c:lvl>
              </c:multiLvlStrCache>
            </c:multiLvlStrRef>
          </c:cat>
          <c:val>
            <c:numRef>
              <c:f>Sheet1!$B$2:$B$9</c:f>
              <c:numCache>
                <c:formatCode>General</c:formatCode>
                <c:ptCount val="8"/>
                <c:pt idx="0">
                  <c:v>253648</c:v>
                </c:pt>
                <c:pt idx="1">
                  <c:v>364</c:v>
                </c:pt>
                <c:pt idx="2">
                  <c:v>64</c:v>
                </c:pt>
                <c:pt idx="3">
                  <c:v>17</c:v>
                </c:pt>
                <c:pt idx="4">
                  <c:v>4</c:v>
                </c:pt>
                <c:pt idx="5">
                  <c:v>241</c:v>
                </c:pt>
                <c:pt idx="6">
                  <c:v>4</c:v>
                </c:pt>
                <c:pt idx="7">
                  <c:v>2</c:v>
                </c:pt>
              </c:numCache>
            </c:numRef>
          </c:val>
        </c:ser>
        <c:ser>
          <c:idx val="1"/>
          <c:order val="1"/>
          <c:tx>
            <c:strRef>
              <c:f>Sheet1!$C$1</c:f>
              <c:strCache>
                <c:ptCount val="1"/>
                <c:pt idx="0">
                  <c:v>Actual</c:v>
                </c:pt>
              </c:strCache>
            </c:strRef>
          </c:tx>
          <c:spPr>
            <a:solidFill>
              <a:srgbClr val="156082"/>
            </a:solidFill>
            <a:effectLst/>
          </c:spPr>
          <c:invertIfNegative val="0"/>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cat>
            <c:multiLvlStrRef>
              <c:f>Sheet1!$A$2:$A$9</c:f>
              <c:multiLvlStrCache>
                <c:ptCount val="8"/>
                <c:lvl>
                  <c:pt idx="0">
                    <c:v>Safe-manhours</c:v>
                  </c:pt>
                  <c:pt idx="1">
                    <c:v>Safe-man-days</c:v>
                  </c:pt>
                  <c:pt idx="2">
                    <c:v>Toolbox Talk</c:v>
                  </c:pt>
                  <c:pt idx="3">
                    <c:v>HSE induction</c:v>
                  </c:pt>
                  <c:pt idx="4">
                    <c:v>HSE trainings</c:v>
                  </c:pt>
                  <c:pt idx="5">
                    <c:v>Site safety Instructions</c:v>
                  </c:pt>
                  <c:pt idx="6">
                    <c:v>NCN Raised</c:v>
                  </c:pt>
                  <c:pt idx="7">
                    <c:v>Near Miss</c:v>
                  </c:pt>
                </c:lvl>
              </c:multiLvlStrCache>
            </c:multiLvlStrRef>
          </c:cat>
          <c:val>
            <c:numRef>
              <c:f>Sheet1!$C$2:$C$9</c:f>
              <c:numCache>
                <c:formatCode>General</c:formatCode>
                <c:ptCount val="8"/>
                <c:pt idx="0">
                  <c:v>2200</c:v>
                </c:pt>
                <c:pt idx="1">
                  <c:v>7</c:v>
                </c:pt>
                <c:pt idx="2">
                  <c:v>0</c:v>
                </c:pt>
                <c:pt idx="3">
                  <c:v>0</c:v>
                </c:pt>
                <c:pt idx="4">
                  <c:v>0</c:v>
                </c:pt>
                <c:pt idx="5">
                  <c:v>0</c:v>
                </c:pt>
                <c:pt idx="6">
                  <c:v>0</c:v>
                </c:pt>
                <c:pt idx="7">
                  <c:v>0</c:v>
                </c:pt>
              </c:numCache>
            </c:numRef>
          </c:val>
        </c:ser>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C65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5EB"/>
              </a:solidFill>
              <a:prstDash val="dash"/>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Count</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C65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Planned</c:v>
                </c:pt>
              </c:strCache>
            </c:strRef>
          </c:tx>
          <c:spPr>
            <a:solidFill>
              <a:srgbClr val="2563EB"/>
            </a:solidFill>
            <a:effectLst/>
          </c:spPr>
          <c:invertIfNegative val="0"/>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cat>
            <c:multiLvlStrRef>
              <c:f>Sheet1!$A$2:$A$8</c:f>
              <c:multiLvlStrCache>
                <c:ptCount val="7"/>
                <c:lvl>
                  <c:pt idx="0">
                    <c:v>First Floor GF to FF slab co</c:v>
                  </c:pt>
                  <c:pt idx="1">
                    <c:v>Brick masonary FF (115 mm)</c:v>
                  </c:pt>
                  <c:pt idx="2">
                    <c:v>Interior Paint</c:v>
                  </c:pt>
                  <c:pt idx="3">
                    <c:v>Windows Sill</c:v>
                  </c:pt>
                  <c:pt idx="4">
                    <c:v>Brick masonary FF (230 mm)</c:v>
                  </c:pt>
                  <c:pt idx="5">
                    <c:v>Kerbing</c:v>
                  </c:pt>
                  <c:pt idx="6">
                    <c:v>Paver</c:v>
                  </c:pt>
                </c:lvl>
              </c:multiLvlStrCache>
            </c:multiLvlStrRef>
          </c:cat>
          <c:val>
            <c:numRef>
              <c:f>Sheet1!$B$2:$B$8</c:f>
              <c:numCache>
                <c:formatCode>General</c:formatCode>
                <c:ptCount val="7"/>
                <c:pt idx="0">
                  <c:v>0.003999999999962256</c:v>
                </c:pt>
                <c:pt idx="1">
                  <c:v>88.13</c:v>
                </c:pt>
                <c:pt idx="2">
                  <c:v>-0.2800000000002001</c:v>
                </c:pt>
                <c:pt idx="3">
                  <c:v>8.46</c:v>
                </c:pt>
                <c:pt idx="4">
                  <c:v>0.0030000000000143245</c:v>
                </c:pt>
                <c:pt idx="5">
                  <c:v>20</c:v>
                </c:pt>
                <c:pt idx="6">
                  <c:v>100</c:v>
                </c:pt>
              </c:numCache>
            </c:numRef>
          </c:val>
        </c:ser>
        <c:ser>
          <c:idx val="1"/>
          <c:order val="1"/>
          <c:tx>
            <c:strRef>
              <c:f>Sheet1!$C$1</c:f>
              <c:strCache>
                <c:ptCount val="1"/>
                <c:pt idx="0">
                  <c:v>Actual</c:v>
                </c:pt>
              </c:strCache>
            </c:strRef>
          </c:tx>
          <c:spPr>
            <a:solidFill>
              <a:srgbClr val="156082"/>
            </a:solidFill>
            <a:effectLst/>
          </c:spPr>
          <c:invertIfNegative val="0"/>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cat>
            <c:multiLvlStrRef>
              <c:f>Sheet1!$A$2:$A$8</c:f>
              <c:multiLvlStrCache>
                <c:ptCount val="7"/>
                <c:lvl>
                  <c:pt idx="0">
                    <c:v>First Floor GF to FF slab co</c:v>
                  </c:pt>
                  <c:pt idx="1">
                    <c:v>Brick masonary FF (115 mm)</c:v>
                  </c:pt>
                  <c:pt idx="2">
                    <c:v>Interior Paint</c:v>
                  </c:pt>
                  <c:pt idx="3">
                    <c:v>Windows Sill</c:v>
                  </c:pt>
                  <c:pt idx="4">
                    <c:v>Brick masonary FF (230 mm)</c:v>
                  </c:pt>
                  <c:pt idx="5">
                    <c:v>Kerbing</c:v>
                  </c:pt>
                  <c:pt idx="6">
                    <c:v>Paver</c:v>
                  </c:pt>
                </c:lvl>
              </c:multiLvlStrCache>
            </c:multiLvlStrRef>
          </c:cat>
          <c:val>
            <c:numRef>
              <c:f>Sheet1!$C$2:$C$8</c:f>
              <c:numCache>
                <c:formatCode>General</c:formatCode>
                <c:ptCount val="7"/>
                <c:pt idx="0">
                  <c:v>0</c:v>
                </c:pt>
                <c:pt idx="1">
                  <c:v>88.13</c:v>
                </c:pt>
                <c:pt idx="2">
                  <c:v>0</c:v>
                </c:pt>
                <c:pt idx="3">
                  <c:v>8.46</c:v>
                </c:pt>
                <c:pt idx="4">
                  <c:v>0</c:v>
                </c:pt>
                <c:pt idx="5">
                  <c:v>10</c:v>
                </c:pt>
                <c:pt idx="6">
                  <c:v>10</c:v>
                </c:pt>
              </c:numCache>
            </c:numRef>
          </c:val>
        </c:ser>
        <c:dLbls>
          <c:numFmt formatCode="#,##0" sourceLinked="0"/>
          <c:txPr>
            <a:bodyPr/>
            <a:lstStyle/>
            <a:p>
              <a:pPr>
                <a:defRPr b="0" i="0" strike="noStrike" sz="1200" u="none">
                  <a:solidFill>
                    <a:srgbClr val="1A1D26"/>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C65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5EB"/>
              </a:solidFill>
              <a:prstDash val="dash"/>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Qty</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C65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1.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Shape 1"/>
          <p:cNvSpPr/>
          <p:nvPr/>
        </p:nvSpPr>
        <p:spPr>
          <a:xfrm>
            <a:off x="0" y="73152"/>
            <a:ext cx="164592" cy="5070348"/>
          </a:xfrm>
          <a:prstGeom prst="rect">
            <a:avLst/>
          </a:prstGeom>
          <a:solidFill>
            <a:srgbClr val="156082"/>
          </a:solidFill>
          <a:ln/>
        </p:spPr>
      </p:sp>
      <p:sp>
        <p:nvSpPr>
          <p:cNvPr id="4" name="Shape 2"/>
          <p:cNvSpPr/>
          <p:nvPr/>
        </p:nvSpPr>
        <p:spPr>
          <a:xfrm>
            <a:off x="164592" y="73152"/>
            <a:ext cx="8979408" cy="1234440"/>
          </a:xfrm>
          <a:prstGeom prst="rect">
            <a:avLst/>
          </a:prstGeom>
          <a:solidFill>
            <a:srgbClr val="F4F7FA"/>
          </a:solidFill>
          <a:ln/>
        </p:spPr>
      </p:sp>
      <p:pic>
        <p:nvPicPr>
          <p:cNvPr id="5"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6" name="Text 3"/>
          <p:cNvSpPr/>
          <p:nvPr/>
        </p:nvSpPr>
        <p:spPr>
          <a:xfrm>
            <a:off x="502920" y="256032"/>
            <a:ext cx="5852160" cy="292608"/>
          </a:xfrm>
          <a:prstGeom prst="rect">
            <a:avLst/>
          </a:prstGeom>
          <a:noFill/>
          <a:ln/>
        </p:spPr>
        <p:txBody>
          <a:bodyPr wrap="square" rtlCol="0" anchor="ctr"/>
          <a:lstStyle/>
          <a:p>
            <a:pPr indent="0" marL="0">
              <a:buNone/>
            </a:pPr>
            <a:r>
              <a:rPr lang="en-US" sz="1200" b="1" dirty="0">
                <a:solidFill>
                  <a:srgbClr val="156082"/>
                </a:solidFill>
              </a:rPr>
              <a:t>WEEKLY PROGRESS REPORT</a:t>
            </a:r>
            <a:endParaRPr lang="en-US" sz="1200" dirty="0"/>
          </a:p>
        </p:txBody>
      </p:sp>
      <p:sp>
        <p:nvSpPr>
          <p:cNvPr id="7" name="Text 4"/>
          <p:cNvSpPr/>
          <p:nvPr/>
        </p:nvSpPr>
        <p:spPr>
          <a:xfrm>
            <a:off x="502920" y="566928"/>
            <a:ext cx="6035040" cy="566928"/>
          </a:xfrm>
          <a:prstGeom prst="rect">
            <a:avLst/>
          </a:prstGeom>
          <a:noFill/>
          <a:ln/>
        </p:spPr>
        <p:txBody>
          <a:bodyPr wrap="square" rtlCol="0" anchor="ctr"/>
          <a:lstStyle/>
          <a:p>
            <a:pPr indent="0" marL="0">
              <a:buNone/>
            </a:pPr>
            <a:r>
              <a:rPr lang="en-US" sz="2400" b="1" dirty="0">
                <a:solidFill>
                  <a:srgbClr val="0E2841"/>
                </a:solidFill>
              </a:rPr>
              <a:t>Arvind Limited</a:t>
            </a:r>
            <a:endParaRPr lang="en-US" sz="2400" dirty="0"/>
          </a:p>
        </p:txBody>
      </p:sp>
      <p:sp>
        <p:nvSpPr>
          <p:cNvPr id="8" name="Text 5"/>
          <p:cNvSpPr/>
          <p:nvPr/>
        </p:nvSpPr>
        <p:spPr>
          <a:xfrm>
            <a:off x="502920" y="1554480"/>
            <a:ext cx="8046720" cy="1554480"/>
          </a:xfrm>
          <a:prstGeom prst="rect">
            <a:avLst/>
          </a:prstGeom>
          <a:noFill/>
          <a:ln/>
        </p:spPr>
        <p:txBody>
          <a:bodyPr wrap="square" rtlCol="0" anchor="ctr"/>
          <a:lstStyle/>
          <a:p>
            <a:pPr indent="0" marL="0">
              <a:buNone/>
            </a:pPr>
            <a:r>
              <a:rPr lang="en-US" sz="1400" dirty="0">
                <a:solidFill>
                  <a:srgbClr val="1F2937"/>
                </a:solidFill>
              </a:rPr>
              <a:t>REPORT NO.  52</a:t>
            </a:r>
            <a:endParaRPr lang="en-US" sz="1400" dirty="0"/>
          </a:p>
          <a:p>
            <a:pPr indent="0" marL="0">
              <a:buNone/>
            </a:pPr>
            <a:r>
              <a:rPr lang="en-US" sz="1400" dirty="0">
                <a:solidFill>
                  <a:srgbClr val="1F2937"/>
                </a:solidFill>
              </a:rPr>
              <a:t>(23 July 2026 to 29 July 2026)</a:t>
            </a:r>
            <a:endParaRPr lang="en-US" sz="1400" dirty="0"/>
          </a:p>
          <a:p>
            <a:pPr indent="0" marL="0">
              <a:buNone/>
            </a:pPr>
            <a:r>
              <a:rPr lang="en-US" sz="1400" dirty="0">
                <a:solidFill>
                  <a:srgbClr val="1F2937"/>
                </a:solidFill>
              </a:rPr>
              <a:t>Construction of Worker Dormitory — Arvind Limited, Santej</a:t>
            </a:r>
            <a:endParaRPr lang="en-US" sz="1400" dirty="0"/>
          </a:p>
          <a:p>
            <a:pPr indent="0" marL="0">
              <a:buNone/>
            </a:pPr>
            <a:r>
              <a:rPr lang="en-US" sz="1400" dirty="0">
                <a:solidFill>
                  <a:srgbClr val="1F2937"/>
                </a:solidFill>
              </a:rPr>
              <a:t>Contractor  Bhavana Infra</a:t>
            </a:r>
            <a:endParaRPr lang="en-US" sz="1400" dirty="0"/>
          </a:p>
          <a:p>
            <a:pPr indent="0" marL="0">
              <a:buNone/>
            </a:pPr>
            <a:r>
              <a:rPr lang="en-US" sz="1400" dirty="0">
                <a:solidFill>
                  <a:srgbClr val="1F2937"/>
                </a:solidFill>
              </a:rPr>
              <a:t>PMC  Sharnam Project Development Consultants &amp; Co.</a:t>
            </a:r>
            <a:endParaRPr lang="en-US" sz="1400" dirty="0"/>
          </a:p>
        </p:txBody>
      </p:sp>
      <p:sp>
        <p:nvSpPr>
          <p:cNvPr id="9" name="Text 6"/>
          <p:cNvSpPr/>
          <p:nvPr/>
        </p:nvSpPr>
        <p:spPr>
          <a:xfrm>
            <a:off x="502920" y="4389120"/>
            <a:ext cx="8046720" cy="274320"/>
          </a:xfrm>
          <a:prstGeom prst="rect">
            <a:avLst/>
          </a:prstGeom>
          <a:noFill/>
          <a:ln/>
        </p:spPr>
        <p:txBody>
          <a:bodyPr wrap="square" rtlCol="0" anchor="ctr"/>
          <a:lstStyle/>
          <a:p>
            <a:pPr indent="0" marL="0">
              <a:buNone/>
            </a:pPr>
            <a:r>
              <a:rPr lang="en-US" sz="1000" dirty="0">
                <a:solidFill>
                  <a:srgbClr val="5C6578"/>
                </a:solidFill>
              </a:rPr>
              <a:t>Sharnam Project Development Consultants &amp; Co.</a:t>
            </a:r>
            <a:endParaRPr lang="en-US" sz="1000" dirty="0"/>
          </a:p>
        </p:txBody>
      </p:sp>
      <p:sp>
        <p:nvSpPr>
          <p:cNvPr id="10" name="Text 7"/>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1" name="Text 8"/>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 / 49</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INDEX</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Sheet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Hinderance Register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Risk Register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Legal Approval Tracker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Procurement tracker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Weekly Manpower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Project Cashflow</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Quality Statistic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HSE Statistic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Cube Test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Planned Vs Actual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Value Addition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Weekly Executed Plan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Design 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PR Tracker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Invoice Processing Tracker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 / 49</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Shape 1"/>
          <p:cNvSpPr/>
          <p:nvPr/>
        </p:nvSpPr>
        <p:spPr>
          <a:xfrm>
            <a:off x="0" y="73152"/>
            <a:ext cx="164592" cy="5070348"/>
          </a:xfrm>
          <a:prstGeom prst="rect">
            <a:avLst/>
          </a:prstGeom>
          <a:solidFill>
            <a:srgbClr val="156082"/>
          </a:solidFill>
          <a:ln/>
        </p:spPr>
      </p:sp>
      <p:pic>
        <p:nvPicPr>
          <p:cNvPr id="4"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5" name="Text 2"/>
          <p:cNvSpPr/>
          <p:nvPr/>
        </p:nvSpPr>
        <p:spPr>
          <a:xfrm>
            <a:off x="548640" y="1463040"/>
            <a:ext cx="8046720" cy="457200"/>
          </a:xfrm>
          <a:prstGeom prst="rect">
            <a:avLst/>
          </a:prstGeom>
          <a:noFill/>
          <a:ln/>
        </p:spPr>
        <p:txBody>
          <a:bodyPr wrap="square" rtlCol="0" anchor="ctr"/>
          <a:lstStyle/>
          <a:p>
            <a:pPr indent="0" marL="0">
              <a:buNone/>
            </a:pPr>
            <a:r>
              <a:rPr lang="en-US" sz="1400" dirty="0">
                <a:solidFill>
                  <a:srgbClr val="156082"/>
                </a:solidFill>
              </a:rPr>
              <a:t>03</a:t>
            </a:r>
            <a:endParaRPr lang="en-US" sz="1400" dirty="0"/>
          </a:p>
        </p:txBody>
      </p:sp>
      <p:sp>
        <p:nvSpPr>
          <p:cNvPr id="6" name="Text 3"/>
          <p:cNvSpPr/>
          <p:nvPr/>
        </p:nvSpPr>
        <p:spPr>
          <a:xfrm>
            <a:off x="548640" y="2011680"/>
            <a:ext cx="8046720" cy="914400"/>
          </a:xfrm>
          <a:prstGeom prst="rect">
            <a:avLst/>
          </a:prstGeom>
          <a:noFill/>
          <a:ln/>
        </p:spPr>
        <p:txBody>
          <a:bodyPr wrap="square" rtlCol="0" anchor="ctr"/>
          <a:lstStyle/>
          <a:p>
            <a:pPr indent="0" marL="0">
              <a:buNone/>
            </a:pPr>
            <a:r>
              <a:rPr lang="en-US" sz="3200" b="1" dirty="0">
                <a:solidFill>
                  <a:srgbClr val="0E2841"/>
                </a:solidFill>
              </a:rPr>
              <a:t>Project Brief</a:t>
            </a:r>
            <a:endParaRPr lang="en-US" sz="3200" dirty="0"/>
          </a:p>
        </p:txBody>
      </p:sp>
      <p:sp>
        <p:nvSpPr>
          <p:cNvPr id="7" name="Text 4"/>
          <p:cNvSpPr/>
          <p:nvPr/>
        </p:nvSpPr>
        <p:spPr>
          <a:xfrm>
            <a:off x="548640" y="3200400"/>
            <a:ext cx="8046720" cy="365760"/>
          </a:xfrm>
          <a:prstGeom prst="rect">
            <a:avLst/>
          </a:prstGeom>
          <a:noFill/>
          <a:ln/>
        </p:spPr>
        <p:txBody>
          <a:bodyPr wrap="square" rtlCol="0" anchor="ctr"/>
          <a:lstStyle/>
          <a:p>
            <a:pPr indent="0" marL="0">
              <a:buNone/>
            </a:pPr>
            <a:r>
              <a:rPr lang="en-US" sz="1400" dirty="0">
                <a:solidFill>
                  <a:srgbClr val="5C6578"/>
                </a:solidFill>
              </a:rPr>
              <a:t>Arvind Limited</a:t>
            </a:r>
            <a:endParaRPr lang="en-US" sz="1400" dirty="0"/>
          </a:p>
        </p:txBody>
      </p:sp>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 / 49</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Brief</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Item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Client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Arvind Limited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Project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Construction of Worker Dormitory, Santej</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PMC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Sharnam Project Development Consultants &amp; Co.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Week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23 July 2026 to 29 July 2026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Source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WPR  23 July to 29 July.xlsx</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 / 49</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Site location / Google Earth view</a:t>
            </a:r>
            <a:endParaRPr lang="en-US" sz="1800" dirty="0"/>
          </a:p>
        </p:txBody>
      </p:sp>
      <p:sp>
        <p:nvSpPr>
          <p:cNvPr id="5" name="Shape 3"/>
          <p:cNvSpPr/>
          <p:nvPr/>
        </p:nvSpPr>
        <p:spPr>
          <a:xfrm>
            <a:off x="365760" y="1005840"/>
            <a:ext cx="8412480" cy="3200400"/>
          </a:xfrm>
          <a:prstGeom prst="rect">
            <a:avLst/>
          </a:prstGeom>
          <a:solidFill>
            <a:srgbClr val="E8F3F1"/>
          </a:solidFill>
          <a:ln/>
        </p:spPr>
      </p:sp>
      <p:sp>
        <p:nvSpPr>
          <p:cNvPr id="6" name="Text 4"/>
          <p:cNvSpPr/>
          <p:nvPr/>
        </p:nvSpPr>
        <p:spPr>
          <a:xfrm>
            <a:off x="731520" y="2011680"/>
            <a:ext cx="7680960" cy="1371600"/>
          </a:xfrm>
          <a:prstGeom prst="rect">
            <a:avLst/>
          </a:prstGeom>
          <a:noFill/>
          <a:ln/>
        </p:spPr>
        <p:txBody>
          <a:bodyPr wrap="square" rtlCol="0" anchor="ctr"/>
          <a:lstStyle/>
          <a:p>
            <a:pPr algn="ctr" indent="0" marL="0">
              <a:buNone/>
            </a:pPr>
            <a:r>
              <a:rPr lang="en-US" sz="1400" dirty="0">
                <a:solidFill>
                  <a:srgbClr val="5C6578"/>
                </a:solidFill>
              </a:rPr>
              <a:t>Construction of Worker Dormitory — Arvind Limited, Santej</a:t>
            </a:r>
            <a:endParaRPr lang="en-US" sz="1400" dirty="0"/>
          </a:p>
          <a:p>
            <a:pPr algn="ctr" indent="0" marL="0">
              <a:buNone/>
            </a:pPr>
            <a:r>
              <a:rPr lang="en-US" sz="1400" dirty="0">
                <a:solidFill>
                  <a:srgbClr val="5C6578"/>
                </a:solidFill>
              </a:rPr>
              <a:t>Santej</a:t>
            </a:r>
            <a:endParaRPr lang="en-US" sz="1400" dirty="0"/>
          </a:p>
          <a:p>
            <a:pPr algn="ctr" indent="0" marL="0">
              <a:buNone/>
            </a:pPr>
            <a:endParaRPr lang="en-US" sz="1400" dirty="0"/>
          </a:p>
          <a:p>
            <a:pPr algn="ctr" indent="0" marL="0">
              <a:buNone/>
            </a:pPr>
            <a:r>
              <a:rPr lang="en-US" sz="1400" dirty="0">
                <a:solidFill>
                  <a:srgbClr val="5C6578"/>
                </a:solidFill>
              </a:rPr>
              <a:t>Placeholder — portal photos appear on Progress Pictures slides.</a:t>
            </a:r>
            <a:endParaRPr lang="en-US" sz="1400" dirty="0"/>
          </a:p>
        </p:txBody>
      </p:sp>
      <p:sp>
        <p:nvSpPr>
          <p:cNvPr id="7"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8"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5 / 49</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Stakeholders</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Role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Organisation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Client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Arvind Limited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Consultant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AK.Consultant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PMC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Sharnam Project Development Consultants &amp; Co.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Civil contractor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Bhavana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6 / 49</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Mobilization Plan</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Item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establishment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 progress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Labour camp / dormitory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Ongoing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7 / 49</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Communication Matrix</a:t>
            </a:r>
            <a:endParaRPr lang="en-US" sz="1800" dirty="0"/>
          </a:p>
        </p:txBody>
      </p:sp>
      <p:sp>
        <p:nvSpPr>
          <p:cNvPr id="6" name="Shape 3"/>
          <p:cNvSpPr/>
          <p:nvPr/>
        </p:nvSpPr>
        <p:spPr>
          <a:xfrm>
            <a:off x="365760" y="804672"/>
            <a:ext cx="1005840" cy="45720"/>
          </a:xfrm>
          <a:prstGeom prst="rect">
            <a:avLst/>
          </a:prstGeom>
          <a:solidFill>
            <a:srgbClr val="156082"/>
          </a:solidFill>
          <a:ln/>
        </p:spPr>
      </p:sp>
      <p:sp>
        <p:nvSpPr>
          <p:cNvPr id="7" name="Text 4"/>
          <p:cNvSpPr/>
          <p:nvPr/>
        </p:nvSpPr>
        <p:spPr>
          <a:xfrm>
            <a:off x="365760" y="960120"/>
            <a:ext cx="8412480" cy="411480"/>
          </a:xfrm>
          <a:prstGeom prst="rect">
            <a:avLst/>
          </a:prstGeom>
          <a:noFill/>
          <a:ln/>
        </p:spPr>
        <p:txBody>
          <a:bodyPr wrap="square" rtlCol="0" anchor="ctr"/>
          <a:lstStyle/>
          <a:p>
            <a:pPr indent="0" marL="0">
              <a:buNone/>
            </a:pPr>
            <a:r>
              <a:rPr lang="en-US" sz="1000" dirty="0">
                <a:solidFill>
                  <a:srgbClr val="5C6578"/>
                </a:solidFill>
              </a:rPr>
              <a:t>Populate via WPR Maker sync from portal registers.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4173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Item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(Awaiting data)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Open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9"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0"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8 / 49</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Dashboard</a:t>
            </a:r>
            <a:endParaRPr lang="en-US" sz="1800" dirty="0"/>
          </a:p>
        </p:txBody>
      </p:sp>
      <p:sp>
        <p:nvSpPr>
          <p:cNvPr id="6" name="Shape 3"/>
          <p:cNvSpPr/>
          <p:nvPr/>
        </p:nvSpPr>
        <p:spPr>
          <a:xfrm>
            <a:off x="365760" y="804672"/>
            <a:ext cx="1005840" cy="45720"/>
          </a:xfrm>
          <a:prstGeom prst="rect">
            <a:avLst/>
          </a:prstGeom>
          <a:solidFill>
            <a:srgbClr val="156082"/>
          </a:solidFill>
          <a:ln/>
        </p:spPr>
      </p:sp>
      <p:sp>
        <p:nvSpPr>
          <p:cNvPr id="7" name="Text 4"/>
          <p:cNvSpPr/>
          <p:nvPr/>
        </p:nvSpPr>
        <p:spPr>
          <a:xfrm>
            <a:off x="365760" y="960120"/>
            <a:ext cx="8412480" cy="411480"/>
          </a:xfrm>
          <a:prstGeom prst="rect">
            <a:avLst/>
          </a:prstGeom>
          <a:noFill/>
          <a:ln/>
        </p:spPr>
        <p:txBody>
          <a:bodyPr wrap="square" rtlCol="0" anchor="ctr"/>
          <a:lstStyle/>
          <a:p>
            <a:pPr indent="0" marL="0">
              <a:buNone/>
            </a:pPr>
            <a:r>
              <a:rPr lang="en-US" sz="1000" dirty="0">
                <a:solidFill>
                  <a:srgbClr val="5C6578"/>
                </a:solidFill>
              </a:rPr>
              <a:t>Populate via WPR Maker sync from portal registers.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4173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Item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(Awaiting data)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Open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9"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0"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9 / 49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84048"/>
          </a:xfrm>
          <a:prstGeom prst="rect">
            <a:avLst/>
          </a:prstGeom>
          <a:noFill/>
          <a:ln/>
        </p:spPr>
        <p:txBody>
          <a:bodyPr wrap="square" rtlCol="0" anchor="ctr"/>
          <a:lstStyle/>
          <a:p>
            <a:pPr indent="0" marL="0">
              <a:buNone/>
            </a:pPr>
            <a:r>
              <a:rPr lang="en-US" sz="1800" b="1" dirty="0">
                <a:solidFill>
                  <a:srgbClr val="1A1D26"/>
                </a:solidFill>
              </a:rPr>
              <a:t>Project dashboard · KPI summary</a:t>
            </a:r>
            <a:endParaRPr lang="en-US" sz="1800" dirty="0"/>
          </a:p>
        </p:txBody>
      </p:sp>
      <p:sp>
        <p:nvSpPr>
          <p:cNvPr id="5" name="Shape 3"/>
          <p:cNvSpPr/>
          <p:nvPr/>
        </p:nvSpPr>
        <p:spPr>
          <a:xfrm>
            <a:off x="365760" y="804672"/>
            <a:ext cx="1005840" cy="45720"/>
          </a:xfrm>
          <a:prstGeom prst="rect">
            <a:avLst/>
          </a:prstGeom>
          <a:solidFill>
            <a:srgbClr val="156082"/>
          </a:solidFill>
          <a:ln/>
        </p:spPr>
      </p:sp>
      <p:sp>
        <p:nvSpPr>
          <p:cNvPr id="6" name="Text 4"/>
          <p:cNvSpPr/>
          <p:nvPr/>
        </p:nvSpPr>
        <p:spPr>
          <a:xfrm>
            <a:off x="365760" y="841248"/>
            <a:ext cx="8412480" cy="274320"/>
          </a:xfrm>
          <a:prstGeom prst="rect">
            <a:avLst/>
          </a:prstGeom>
          <a:noFill/>
          <a:ln/>
        </p:spPr>
        <p:txBody>
          <a:bodyPr wrap="square" rtlCol="0" anchor="ctr"/>
          <a:lstStyle/>
          <a:p>
            <a:pPr indent="0" marL="0">
              <a:buNone/>
            </a:pPr>
            <a:r>
              <a:rPr lang="en-US" sz="900" dirty="0">
                <a:solidFill>
                  <a:srgbClr val="5C6578"/>
                </a:solidFill>
              </a:rPr>
              <a:t>Reporting window: 2026-07-23 → 2026-07-29</a:t>
            </a:r>
            <a:endParaRPr lang="en-US" sz="900" dirty="0"/>
          </a:p>
        </p:txBody>
      </p:sp>
      <p:sp>
        <p:nvSpPr>
          <p:cNvPr id="7" name="Shape 5"/>
          <p:cNvSpPr/>
          <p:nvPr/>
        </p:nvSpPr>
        <p:spPr>
          <a:xfrm>
            <a:off x="411480" y="1097280"/>
            <a:ext cx="2697480" cy="658368"/>
          </a:xfrm>
          <a:prstGeom prst="rect">
            <a:avLst/>
          </a:prstGeom>
          <a:solidFill>
            <a:srgbClr val="F0F2F5"/>
          </a:solidFill>
          <a:ln w="6350">
            <a:solidFill>
              <a:srgbClr val="E2E5EB"/>
            </a:solidFill>
            <a:prstDash val="solid"/>
          </a:ln>
        </p:spPr>
      </p:sp>
      <p:sp>
        <p:nvSpPr>
          <p:cNvPr id="8" name="Text 6"/>
          <p:cNvSpPr/>
          <p:nvPr/>
        </p:nvSpPr>
        <p:spPr>
          <a:xfrm>
            <a:off x="521208" y="1170432"/>
            <a:ext cx="2514600" cy="256032"/>
          </a:xfrm>
          <a:prstGeom prst="rect">
            <a:avLst/>
          </a:prstGeom>
          <a:noFill/>
          <a:ln/>
        </p:spPr>
        <p:txBody>
          <a:bodyPr wrap="square" rtlCol="0" anchor="ctr"/>
          <a:lstStyle/>
          <a:p>
            <a:pPr indent="0" marL="0">
              <a:buNone/>
            </a:pPr>
            <a:r>
              <a:rPr lang="en-US" sz="800" dirty="0">
                <a:solidFill>
                  <a:srgbClr val="5C6578"/>
                </a:solidFill>
              </a:rPr>
              <a:t>Week</a:t>
            </a:r>
            <a:endParaRPr lang="en-US" sz="800" dirty="0"/>
          </a:p>
        </p:txBody>
      </p:sp>
      <p:sp>
        <p:nvSpPr>
          <p:cNvPr id="9" name="Text 7"/>
          <p:cNvSpPr/>
          <p:nvPr/>
        </p:nvSpPr>
        <p:spPr>
          <a:xfrm>
            <a:off x="521208" y="1389888"/>
            <a:ext cx="2514600" cy="292608"/>
          </a:xfrm>
          <a:prstGeom prst="rect">
            <a:avLst/>
          </a:prstGeom>
          <a:noFill/>
          <a:ln/>
        </p:spPr>
        <p:txBody>
          <a:bodyPr wrap="square" rtlCol="0" anchor="ctr"/>
          <a:lstStyle/>
          <a:p>
            <a:pPr indent="0" marL="0">
              <a:buNone/>
            </a:pPr>
            <a:r>
              <a:rPr lang="en-US" sz="1600" b="1" dirty="0">
                <a:solidFill>
                  <a:srgbClr val="1A1D26"/>
                </a:solidFill>
              </a:rPr>
              <a:t>23–29 Jul 2026</a:t>
            </a:r>
            <a:endParaRPr lang="en-US" sz="1600" dirty="0"/>
          </a:p>
        </p:txBody>
      </p:sp>
      <p:sp>
        <p:nvSpPr>
          <p:cNvPr id="10" name="Shape 8"/>
          <p:cNvSpPr/>
          <p:nvPr/>
        </p:nvSpPr>
        <p:spPr>
          <a:xfrm>
            <a:off x="3246120" y="1097280"/>
            <a:ext cx="2697480" cy="658368"/>
          </a:xfrm>
          <a:prstGeom prst="rect">
            <a:avLst/>
          </a:prstGeom>
          <a:solidFill>
            <a:srgbClr val="F0F2F5"/>
          </a:solidFill>
          <a:ln w="6350">
            <a:solidFill>
              <a:srgbClr val="E2E5EB"/>
            </a:solidFill>
            <a:prstDash val="solid"/>
          </a:ln>
        </p:spPr>
      </p:sp>
      <p:sp>
        <p:nvSpPr>
          <p:cNvPr id="11" name="Text 9"/>
          <p:cNvSpPr/>
          <p:nvPr/>
        </p:nvSpPr>
        <p:spPr>
          <a:xfrm>
            <a:off x="3355848" y="1170432"/>
            <a:ext cx="2514600" cy="256032"/>
          </a:xfrm>
          <a:prstGeom prst="rect">
            <a:avLst/>
          </a:prstGeom>
          <a:noFill/>
          <a:ln/>
        </p:spPr>
        <p:txBody>
          <a:bodyPr wrap="square" rtlCol="0" anchor="ctr"/>
          <a:lstStyle/>
          <a:p>
            <a:pPr indent="0" marL="0">
              <a:buNone/>
            </a:pPr>
            <a:r>
              <a:rPr lang="en-US" sz="800" dirty="0">
                <a:solidFill>
                  <a:srgbClr val="5C6578"/>
                </a:solidFill>
              </a:rPr>
              <a:t>Safe manhours (cum.)</a:t>
            </a:r>
            <a:endParaRPr lang="en-US" sz="800" dirty="0"/>
          </a:p>
        </p:txBody>
      </p:sp>
      <p:sp>
        <p:nvSpPr>
          <p:cNvPr id="12" name="Text 10"/>
          <p:cNvSpPr/>
          <p:nvPr/>
        </p:nvSpPr>
        <p:spPr>
          <a:xfrm>
            <a:off x="3355848" y="1389888"/>
            <a:ext cx="2514600" cy="292608"/>
          </a:xfrm>
          <a:prstGeom prst="rect">
            <a:avLst/>
          </a:prstGeom>
          <a:noFill/>
          <a:ln/>
        </p:spPr>
        <p:txBody>
          <a:bodyPr wrap="square" rtlCol="0" anchor="ctr"/>
          <a:lstStyle/>
          <a:p>
            <a:pPr indent="0" marL="0">
              <a:buNone/>
            </a:pPr>
            <a:r>
              <a:rPr lang="en-US" sz="1600" b="1" dirty="0">
                <a:solidFill>
                  <a:srgbClr val="1A1D26"/>
                </a:solidFill>
              </a:rPr>
              <a:t>255848</a:t>
            </a:r>
            <a:endParaRPr lang="en-US" sz="1600" dirty="0"/>
          </a:p>
        </p:txBody>
      </p:sp>
      <p:sp>
        <p:nvSpPr>
          <p:cNvPr id="13" name="Shape 11"/>
          <p:cNvSpPr/>
          <p:nvPr/>
        </p:nvSpPr>
        <p:spPr>
          <a:xfrm>
            <a:off x="6080760" y="1097280"/>
            <a:ext cx="2697480" cy="658368"/>
          </a:xfrm>
          <a:prstGeom prst="rect">
            <a:avLst/>
          </a:prstGeom>
          <a:solidFill>
            <a:srgbClr val="F0F2F5"/>
          </a:solidFill>
          <a:ln w="6350">
            <a:solidFill>
              <a:srgbClr val="E2E5EB"/>
            </a:solidFill>
            <a:prstDash val="solid"/>
          </a:ln>
        </p:spPr>
      </p:sp>
      <p:sp>
        <p:nvSpPr>
          <p:cNvPr id="14" name="Text 12"/>
          <p:cNvSpPr/>
          <p:nvPr/>
        </p:nvSpPr>
        <p:spPr>
          <a:xfrm>
            <a:off x="6190488" y="1170432"/>
            <a:ext cx="2514600" cy="256032"/>
          </a:xfrm>
          <a:prstGeom prst="rect">
            <a:avLst/>
          </a:prstGeom>
          <a:noFill/>
          <a:ln/>
        </p:spPr>
        <p:txBody>
          <a:bodyPr wrap="square" rtlCol="0" anchor="ctr"/>
          <a:lstStyle/>
          <a:p>
            <a:pPr indent="0" marL="0">
              <a:buNone/>
            </a:pPr>
            <a:r>
              <a:rPr lang="en-US" sz="800" dirty="0">
                <a:solidFill>
                  <a:srgbClr val="5C6578"/>
                </a:solidFill>
              </a:rPr>
              <a:t>Quality observations</a:t>
            </a:r>
            <a:endParaRPr lang="en-US" sz="800" dirty="0"/>
          </a:p>
        </p:txBody>
      </p:sp>
      <p:sp>
        <p:nvSpPr>
          <p:cNvPr id="15" name="Text 13"/>
          <p:cNvSpPr/>
          <p:nvPr/>
        </p:nvSpPr>
        <p:spPr>
          <a:xfrm>
            <a:off x="6190488" y="1389888"/>
            <a:ext cx="2514600" cy="292608"/>
          </a:xfrm>
          <a:prstGeom prst="rect">
            <a:avLst/>
          </a:prstGeom>
          <a:noFill/>
          <a:ln/>
        </p:spPr>
        <p:txBody>
          <a:bodyPr wrap="square" rtlCol="0" anchor="ctr"/>
          <a:lstStyle/>
          <a:p>
            <a:pPr indent="0" marL="0">
              <a:buNone/>
            </a:pPr>
            <a:r>
              <a:rPr lang="en-US" sz="1600" b="1" dirty="0">
                <a:solidFill>
                  <a:srgbClr val="1A1D26"/>
                </a:solidFill>
              </a:rPr>
              <a:t>182</a:t>
            </a:r>
            <a:endParaRPr lang="en-US" sz="1600" dirty="0"/>
          </a:p>
        </p:txBody>
      </p:sp>
      <p:sp>
        <p:nvSpPr>
          <p:cNvPr id="16" name="Shape 14"/>
          <p:cNvSpPr/>
          <p:nvPr/>
        </p:nvSpPr>
        <p:spPr>
          <a:xfrm>
            <a:off x="411480" y="1865376"/>
            <a:ext cx="2697480" cy="658368"/>
          </a:xfrm>
          <a:prstGeom prst="rect">
            <a:avLst/>
          </a:prstGeom>
          <a:solidFill>
            <a:srgbClr val="F0F2F5"/>
          </a:solidFill>
          <a:ln w="6350">
            <a:solidFill>
              <a:srgbClr val="E2E5EB"/>
            </a:solidFill>
            <a:prstDash val="solid"/>
          </a:ln>
        </p:spPr>
      </p:sp>
      <p:sp>
        <p:nvSpPr>
          <p:cNvPr id="17" name="Text 15"/>
          <p:cNvSpPr/>
          <p:nvPr/>
        </p:nvSpPr>
        <p:spPr>
          <a:xfrm>
            <a:off x="521208" y="1938528"/>
            <a:ext cx="2514600" cy="256032"/>
          </a:xfrm>
          <a:prstGeom prst="rect">
            <a:avLst/>
          </a:prstGeom>
          <a:noFill/>
          <a:ln/>
        </p:spPr>
        <p:txBody>
          <a:bodyPr wrap="square" rtlCol="0" anchor="ctr"/>
          <a:lstStyle/>
          <a:p>
            <a:pPr indent="0" marL="0">
              <a:buNone/>
            </a:pPr>
            <a:r>
              <a:rPr lang="en-US" sz="800" dirty="0">
                <a:solidFill>
                  <a:srgbClr val="5C6578"/>
                </a:solidFill>
              </a:rPr>
              <a:t>Open NCRs</a:t>
            </a:r>
            <a:endParaRPr lang="en-US" sz="800" dirty="0"/>
          </a:p>
        </p:txBody>
      </p:sp>
      <p:sp>
        <p:nvSpPr>
          <p:cNvPr id="18" name="Text 16"/>
          <p:cNvSpPr/>
          <p:nvPr/>
        </p:nvSpPr>
        <p:spPr>
          <a:xfrm>
            <a:off x="521208" y="2157984"/>
            <a:ext cx="2514600" cy="292608"/>
          </a:xfrm>
          <a:prstGeom prst="rect">
            <a:avLst/>
          </a:prstGeom>
          <a:noFill/>
          <a:ln/>
        </p:spPr>
        <p:txBody>
          <a:bodyPr wrap="square" rtlCol="0" anchor="ctr"/>
          <a:lstStyle/>
          <a:p>
            <a:pPr indent="0" marL="0">
              <a:buNone/>
            </a:pPr>
            <a:r>
              <a:rPr lang="en-US" sz="1600" b="1" dirty="0">
                <a:solidFill>
                  <a:srgbClr val="1A1D26"/>
                </a:solidFill>
              </a:rPr>
              <a:t>0</a:t>
            </a:r>
            <a:endParaRPr lang="en-US" sz="1600" dirty="0"/>
          </a:p>
        </p:txBody>
      </p:sp>
      <p:sp>
        <p:nvSpPr>
          <p:cNvPr id="19" name="Shape 17"/>
          <p:cNvSpPr/>
          <p:nvPr/>
        </p:nvSpPr>
        <p:spPr>
          <a:xfrm>
            <a:off x="3246120" y="1865376"/>
            <a:ext cx="2697480" cy="658368"/>
          </a:xfrm>
          <a:prstGeom prst="rect">
            <a:avLst/>
          </a:prstGeom>
          <a:solidFill>
            <a:srgbClr val="F0F2F5"/>
          </a:solidFill>
          <a:ln w="6350">
            <a:solidFill>
              <a:srgbClr val="E2E5EB"/>
            </a:solidFill>
            <a:prstDash val="solid"/>
          </a:ln>
        </p:spPr>
      </p:sp>
      <p:sp>
        <p:nvSpPr>
          <p:cNvPr id="20" name="Text 18"/>
          <p:cNvSpPr/>
          <p:nvPr/>
        </p:nvSpPr>
        <p:spPr>
          <a:xfrm>
            <a:off x="3355848" y="1938528"/>
            <a:ext cx="2514600" cy="256032"/>
          </a:xfrm>
          <a:prstGeom prst="rect">
            <a:avLst/>
          </a:prstGeom>
          <a:noFill/>
          <a:ln/>
        </p:spPr>
        <p:txBody>
          <a:bodyPr wrap="square" rtlCol="0" anchor="ctr"/>
          <a:lstStyle/>
          <a:p>
            <a:pPr indent="0" marL="0">
              <a:buNone/>
            </a:pPr>
            <a:r>
              <a:rPr lang="en-US" sz="800" dirty="0">
                <a:solidFill>
                  <a:srgbClr val="5C6578"/>
                </a:solidFill>
              </a:rPr>
              <a:t>Hindrances logged</a:t>
            </a:r>
            <a:endParaRPr lang="en-US" sz="800" dirty="0"/>
          </a:p>
        </p:txBody>
      </p:sp>
      <p:sp>
        <p:nvSpPr>
          <p:cNvPr id="21" name="Text 19"/>
          <p:cNvSpPr/>
          <p:nvPr/>
        </p:nvSpPr>
        <p:spPr>
          <a:xfrm>
            <a:off x="3355848" y="2157984"/>
            <a:ext cx="2514600" cy="292608"/>
          </a:xfrm>
          <a:prstGeom prst="rect">
            <a:avLst/>
          </a:prstGeom>
          <a:noFill/>
          <a:ln/>
        </p:spPr>
        <p:txBody>
          <a:bodyPr wrap="square" rtlCol="0" anchor="ctr"/>
          <a:lstStyle/>
          <a:p>
            <a:pPr indent="0" marL="0">
              <a:buNone/>
            </a:pPr>
            <a:r>
              <a:rPr lang="en-US" sz="1600" b="1" dirty="0">
                <a:solidFill>
                  <a:srgbClr val="1A1D26"/>
                </a:solidFill>
              </a:rPr>
              <a:t>20</a:t>
            </a:r>
            <a:endParaRPr lang="en-US" sz="1600" dirty="0"/>
          </a:p>
        </p:txBody>
      </p:sp>
      <p:sp>
        <p:nvSpPr>
          <p:cNvPr id="22" name="Shape 20"/>
          <p:cNvSpPr/>
          <p:nvPr/>
        </p:nvSpPr>
        <p:spPr>
          <a:xfrm>
            <a:off x="6080760" y="1865376"/>
            <a:ext cx="2697480" cy="658368"/>
          </a:xfrm>
          <a:prstGeom prst="rect">
            <a:avLst/>
          </a:prstGeom>
          <a:solidFill>
            <a:srgbClr val="F0F2F5"/>
          </a:solidFill>
          <a:ln w="6350">
            <a:solidFill>
              <a:srgbClr val="E2E5EB"/>
            </a:solidFill>
            <a:prstDash val="solid"/>
          </a:ln>
        </p:spPr>
      </p:sp>
      <p:sp>
        <p:nvSpPr>
          <p:cNvPr id="23" name="Text 21"/>
          <p:cNvSpPr/>
          <p:nvPr/>
        </p:nvSpPr>
        <p:spPr>
          <a:xfrm>
            <a:off x="6190488" y="1938528"/>
            <a:ext cx="2514600" cy="256032"/>
          </a:xfrm>
          <a:prstGeom prst="rect">
            <a:avLst/>
          </a:prstGeom>
          <a:noFill/>
          <a:ln/>
        </p:spPr>
        <p:txBody>
          <a:bodyPr wrap="square" rtlCol="0" anchor="ctr"/>
          <a:lstStyle/>
          <a:p>
            <a:pPr indent="0" marL="0">
              <a:buNone/>
            </a:pPr>
            <a:r>
              <a:rPr lang="en-US" sz="800" dirty="0">
                <a:solidFill>
                  <a:srgbClr val="5C6578"/>
                </a:solidFill>
              </a:rPr>
              <a:t>Risks open</a:t>
            </a:r>
            <a:endParaRPr lang="en-US" sz="800" dirty="0"/>
          </a:p>
        </p:txBody>
      </p:sp>
      <p:sp>
        <p:nvSpPr>
          <p:cNvPr id="24" name="Text 22"/>
          <p:cNvSpPr/>
          <p:nvPr/>
        </p:nvSpPr>
        <p:spPr>
          <a:xfrm>
            <a:off x="6190488" y="2157984"/>
            <a:ext cx="2514600" cy="292608"/>
          </a:xfrm>
          <a:prstGeom prst="rect">
            <a:avLst/>
          </a:prstGeom>
          <a:noFill/>
          <a:ln/>
        </p:spPr>
        <p:txBody>
          <a:bodyPr wrap="square" rtlCol="0" anchor="ctr"/>
          <a:lstStyle/>
          <a:p>
            <a:pPr indent="0" marL="0">
              <a:buNone/>
            </a:pPr>
            <a:r>
              <a:rPr lang="en-US" sz="1600" b="1" dirty="0">
                <a:solidFill>
                  <a:srgbClr val="1A1D26"/>
                </a:solidFill>
              </a:rPr>
              <a:t>28</a:t>
            </a:r>
            <a:endParaRPr lang="en-US" sz="1600" dirty="0"/>
          </a:p>
        </p:txBody>
      </p:sp>
      <p:sp>
        <p:nvSpPr>
          <p:cNvPr id="25" name="Shape 23"/>
          <p:cNvSpPr/>
          <p:nvPr/>
        </p:nvSpPr>
        <p:spPr>
          <a:xfrm>
            <a:off x="411480" y="2633472"/>
            <a:ext cx="2697480" cy="658368"/>
          </a:xfrm>
          <a:prstGeom prst="rect">
            <a:avLst/>
          </a:prstGeom>
          <a:solidFill>
            <a:srgbClr val="F0F2F5"/>
          </a:solidFill>
          <a:ln w="6350">
            <a:solidFill>
              <a:srgbClr val="E2E5EB"/>
            </a:solidFill>
            <a:prstDash val="solid"/>
          </a:ln>
        </p:spPr>
      </p:sp>
      <p:sp>
        <p:nvSpPr>
          <p:cNvPr id="26" name="Text 24"/>
          <p:cNvSpPr/>
          <p:nvPr/>
        </p:nvSpPr>
        <p:spPr>
          <a:xfrm>
            <a:off x="521208" y="2706624"/>
            <a:ext cx="2514600" cy="256032"/>
          </a:xfrm>
          <a:prstGeom prst="rect">
            <a:avLst/>
          </a:prstGeom>
          <a:noFill/>
          <a:ln/>
        </p:spPr>
        <p:txBody>
          <a:bodyPr wrap="square" rtlCol="0" anchor="ctr"/>
          <a:lstStyle/>
          <a:p>
            <a:pPr indent="0" marL="0">
              <a:buNone/>
            </a:pPr>
            <a:r>
              <a:rPr lang="en-US" sz="800" dirty="0">
                <a:solidFill>
                  <a:srgbClr val="5C6578"/>
                </a:solidFill>
              </a:rPr>
              <a:t>PRs this week</a:t>
            </a:r>
            <a:endParaRPr lang="en-US" sz="800" dirty="0"/>
          </a:p>
        </p:txBody>
      </p:sp>
      <p:sp>
        <p:nvSpPr>
          <p:cNvPr id="27" name="Text 25"/>
          <p:cNvSpPr/>
          <p:nvPr/>
        </p:nvSpPr>
        <p:spPr>
          <a:xfrm>
            <a:off x="521208" y="2926080"/>
            <a:ext cx="2514600" cy="292608"/>
          </a:xfrm>
          <a:prstGeom prst="rect">
            <a:avLst/>
          </a:prstGeom>
          <a:noFill/>
          <a:ln/>
        </p:spPr>
        <p:txBody>
          <a:bodyPr wrap="square" rtlCol="0" anchor="ctr"/>
          <a:lstStyle/>
          <a:p>
            <a:pPr indent="0" marL="0">
              <a:buNone/>
            </a:pPr>
            <a:r>
              <a:rPr lang="en-US" sz="1600" b="1" dirty="0">
                <a:solidFill>
                  <a:srgbClr val="1A1D26"/>
                </a:solidFill>
              </a:rPr>
              <a:t>20</a:t>
            </a:r>
            <a:endParaRPr lang="en-US" sz="1600" dirty="0"/>
          </a:p>
        </p:txBody>
      </p:sp>
      <p:sp>
        <p:nvSpPr>
          <p:cNvPr id="28" name="Shape 26"/>
          <p:cNvSpPr/>
          <p:nvPr/>
        </p:nvSpPr>
        <p:spPr>
          <a:xfrm>
            <a:off x="3246120" y="2633472"/>
            <a:ext cx="2697480" cy="658368"/>
          </a:xfrm>
          <a:prstGeom prst="rect">
            <a:avLst/>
          </a:prstGeom>
          <a:solidFill>
            <a:srgbClr val="F0F2F5"/>
          </a:solidFill>
          <a:ln w="6350">
            <a:solidFill>
              <a:srgbClr val="E2E5EB"/>
            </a:solidFill>
            <a:prstDash val="solid"/>
          </a:ln>
        </p:spPr>
      </p:sp>
      <p:sp>
        <p:nvSpPr>
          <p:cNvPr id="29" name="Text 27"/>
          <p:cNvSpPr/>
          <p:nvPr/>
        </p:nvSpPr>
        <p:spPr>
          <a:xfrm>
            <a:off x="3355848" y="2706624"/>
            <a:ext cx="2514600" cy="256032"/>
          </a:xfrm>
          <a:prstGeom prst="rect">
            <a:avLst/>
          </a:prstGeom>
          <a:noFill/>
          <a:ln/>
        </p:spPr>
        <p:txBody>
          <a:bodyPr wrap="square" rtlCol="0" anchor="ctr"/>
          <a:lstStyle/>
          <a:p>
            <a:pPr indent="0" marL="0">
              <a:buNone/>
            </a:pPr>
            <a:r>
              <a:rPr lang="en-US" sz="800" dirty="0">
                <a:solidFill>
                  <a:srgbClr val="5C6578"/>
                </a:solidFill>
              </a:rPr>
              <a:t>Invoices tracked</a:t>
            </a:r>
            <a:endParaRPr lang="en-US" sz="800" dirty="0"/>
          </a:p>
        </p:txBody>
      </p:sp>
      <p:sp>
        <p:nvSpPr>
          <p:cNvPr id="30" name="Text 28"/>
          <p:cNvSpPr/>
          <p:nvPr/>
        </p:nvSpPr>
        <p:spPr>
          <a:xfrm>
            <a:off x="3355848" y="2926080"/>
            <a:ext cx="2514600" cy="292608"/>
          </a:xfrm>
          <a:prstGeom prst="rect">
            <a:avLst/>
          </a:prstGeom>
          <a:noFill/>
          <a:ln/>
        </p:spPr>
        <p:txBody>
          <a:bodyPr wrap="square" rtlCol="0" anchor="ctr"/>
          <a:lstStyle/>
          <a:p>
            <a:pPr indent="0" marL="0">
              <a:buNone/>
            </a:pPr>
            <a:r>
              <a:rPr lang="en-US" sz="1600" b="1" dirty="0">
                <a:solidFill>
                  <a:srgbClr val="1A1D26"/>
                </a:solidFill>
              </a:rPr>
              <a:t>56</a:t>
            </a:r>
            <a:endParaRPr lang="en-US" sz="1600" dirty="0"/>
          </a:p>
        </p:txBody>
      </p:sp>
      <p:sp>
        <p:nvSpPr>
          <p:cNvPr id="31" name="Shape 29"/>
          <p:cNvSpPr/>
          <p:nvPr/>
        </p:nvSpPr>
        <p:spPr>
          <a:xfrm>
            <a:off x="6080760" y="2633472"/>
            <a:ext cx="2697480" cy="658368"/>
          </a:xfrm>
          <a:prstGeom prst="rect">
            <a:avLst/>
          </a:prstGeom>
          <a:solidFill>
            <a:srgbClr val="F0F2F5"/>
          </a:solidFill>
          <a:ln w="6350">
            <a:solidFill>
              <a:srgbClr val="E2E5EB"/>
            </a:solidFill>
            <a:prstDash val="solid"/>
          </a:ln>
        </p:spPr>
      </p:sp>
      <p:sp>
        <p:nvSpPr>
          <p:cNvPr id="32" name="Text 30"/>
          <p:cNvSpPr/>
          <p:nvPr/>
        </p:nvSpPr>
        <p:spPr>
          <a:xfrm>
            <a:off x="6190488" y="2706624"/>
            <a:ext cx="2514600" cy="256032"/>
          </a:xfrm>
          <a:prstGeom prst="rect">
            <a:avLst/>
          </a:prstGeom>
          <a:noFill/>
          <a:ln/>
        </p:spPr>
        <p:txBody>
          <a:bodyPr wrap="square" rtlCol="0" anchor="ctr"/>
          <a:lstStyle/>
          <a:p>
            <a:pPr indent="0" marL="0">
              <a:buNone/>
            </a:pPr>
            <a:r>
              <a:rPr lang="en-US" sz="800" dirty="0">
                <a:solidFill>
                  <a:srgbClr val="5C6578"/>
                </a:solidFill>
              </a:rPr>
              <a:t>Cashflow months</a:t>
            </a:r>
            <a:endParaRPr lang="en-US" sz="800" dirty="0"/>
          </a:p>
        </p:txBody>
      </p:sp>
      <p:sp>
        <p:nvSpPr>
          <p:cNvPr id="33" name="Text 31"/>
          <p:cNvSpPr/>
          <p:nvPr/>
        </p:nvSpPr>
        <p:spPr>
          <a:xfrm>
            <a:off x="6190488" y="2926080"/>
            <a:ext cx="2514600" cy="292608"/>
          </a:xfrm>
          <a:prstGeom prst="rect">
            <a:avLst/>
          </a:prstGeom>
          <a:noFill/>
          <a:ln/>
        </p:spPr>
        <p:txBody>
          <a:bodyPr wrap="square" rtlCol="0" anchor="ctr"/>
          <a:lstStyle/>
          <a:p>
            <a:pPr indent="0" marL="0">
              <a:buNone/>
            </a:pPr>
            <a:r>
              <a:rPr lang="en-US" sz="1600" b="1" dirty="0">
                <a:solidFill>
                  <a:srgbClr val="1A1D26"/>
                </a:solidFill>
              </a:rPr>
              <a:t>15</a:t>
            </a:r>
            <a:endParaRPr lang="en-US" sz="1600" dirty="0"/>
          </a:p>
        </p:txBody>
      </p:sp>
      <p:sp>
        <p:nvSpPr>
          <p:cNvPr id="34" name="Text 32"/>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35" name="Text 33"/>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10 / 49</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Critical Areas</a:t>
            </a:r>
            <a:endParaRPr lang="en-US" sz="1800" dirty="0"/>
          </a:p>
        </p:txBody>
      </p:sp>
      <p:sp>
        <p:nvSpPr>
          <p:cNvPr id="6" name="Shape 3"/>
          <p:cNvSpPr/>
          <p:nvPr/>
        </p:nvSpPr>
        <p:spPr>
          <a:xfrm>
            <a:off x="365760" y="804672"/>
            <a:ext cx="1005840" cy="45720"/>
          </a:xfrm>
          <a:prstGeom prst="rect">
            <a:avLst/>
          </a:prstGeom>
          <a:solidFill>
            <a:srgbClr val="156082"/>
          </a:solidFill>
          <a:ln/>
        </p:spPr>
      </p:sp>
      <p:sp>
        <p:nvSpPr>
          <p:cNvPr id="7" name="Text 4"/>
          <p:cNvSpPr/>
          <p:nvPr/>
        </p:nvSpPr>
        <p:spPr>
          <a:xfrm>
            <a:off x="365760" y="960120"/>
            <a:ext cx="8412480" cy="411480"/>
          </a:xfrm>
          <a:prstGeom prst="rect">
            <a:avLst/>
          </a:prstGeom>
          <a:noFill/>
          <a:ln/>
        </p:spPr>
        <p:txBody>
          <a:bodyPr wrap="square" rtlCol="0" anchor="ctr"/>
          <a:lstStyle/>
          <a:p>
            <a:pPr indent="0" marL="0">
              <a:buNone/>
            </a:pPr>
            <a:r>
              <a:rPr lang="en-US" sz="1000" dirty="0">
                <a:solidFill>
                  <a:srgbClr val="5C6578"/>
                </a:solidFill>
              </a:rPr>
              <a:t>Populate via WPR Maker sync from portal registers.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4173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Item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(Awaiting data)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Open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9"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0"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11 / 49</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CAPEX</a:t>
            </a:r>
            <a:endParaRPr lang="en-US" sz="1800" dirty="0"/>
          </a:p>
        </p:txBody>
      </p:sp>
      <p:sp>
        <p:nvSpPr>
          <p:cNvPr id="6" name="Shape 3"/>
          <p:cNvSpPr/>
          <p:nvPr/>
        </p:nvSpPr>
        <p:spPr>
          <a:xfrm>
            <a:off x="365760" y="804672"/>
            <a:ext cx="1005840" cy="45720"/>
          </a:xfrm>
          <a:prstGeom prst="rect">
            <a:avLst/>
          </a:prstGeom>
          <a:solidFill>
            <a:srgbClr val="156082"/>
          </a:solidFill>
          <a:ln/>
        </p:spPr>
      </p:sp>
      <p:sp>
        <p:nvSpPr>
          <p:cNvPr id="7" name="Text 4"/>
          <p:cNvSpPr/>
          <p:nvPr/>
        </p:nvSpPr>
        <p:spPr>
          <a:xfrm>
            <a:off x="365760" y="960120"/>
            <a:ext cx="8412480" cy="411480"/>
          </a:xfrm>
          <a:prstGeom prst="rect">
            <a:avLst/>
          </a:prstGeom>
          <a:noFill/>
          <a:ln/>
        </p:spPr>
        <p:txBody>
          <a:bodyPr wrap="square" rtlCol="0" anchor="ctr"/>
          <a:lstStyle/>
          <a:p>
            <a:pPr indent="0" marL="0">
              <a:buNone/>
            </a:pPr>
            <a:r>
              <a:rPr lang="en-US" sz="1000" dirty="0">
                <a:solidFill>
                  <a:srgbClr val="5C6578"/>
                </a:solidFill>
              </a:rPr>
              <a:t>Populate via WPR Maker sync from portal registers.</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4173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Item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(Awaiting data)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Open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9"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0"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12 / 49</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PR Tracker  ·  Part 1 of 2</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841248"/>
                <a:gridCol w="841248"/>
                <a:gridCol w="841248"/>
                <a:gridCol w="841248"/>
                <a:gridCol w="841248"/>
                <a:gridCol w="841248"/>
                <a:gridCol w="841248"/>
                <a:gridCol w="841248"/>
                <a:gridCol w="841248"/>
                <a:gridCol w="841248"/>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 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PR Type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PR 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Discipline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Unit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Rate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Amount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Material Code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1300087731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CIVIL WORK FOR WORKER DORMITORY PHASE-1 &amp; EXTERNAL DEVELOPMENT WORKS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67396394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67396394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3000717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3100007903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1300087775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CHARGES FOR BOREWELL AS PER DETAIL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1790460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1790460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3000717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3100007908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1300087776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CHARGES FOR TEMPORARY POWER CONNECTION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350050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350050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3001591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3100007990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1300087778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PMC CHARGES - DORMITORY SANTEJ</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1720000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1720000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3000417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3100007909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1300087945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DESIGN CONSULTANCY CHARGES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750000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750000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3000791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3100008018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1300088433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DESIGN CONSULTANCY CHARGES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740000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740000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3000791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3100008017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1300088431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ANTI-TERMITE FOR DORMITORY BUILDING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35532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35532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3001591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3100008035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1300088933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ELECTRICAL WORK FOR WORKER DORMITORY PHASE-1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7053515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7053515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3001220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3100007964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1300091487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PLUMBING WORK FOR WORKER DORMITORY PHASE-1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7579647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7579647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3100008191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1300094218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DORMITORY WINDOW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934315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934315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3001076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3100008357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1300094219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MISC ELELECTRICAL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70825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70825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3000901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3100008418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FURNITURE WORK(Bed &amp; Kitchen Platform)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2742300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2742300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3100008445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13 / 49</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PR Tracker  ·  Part 2 of 2</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841248"/>
                <a:gridCol w="841248"/>
                <a:gridCol w="841248"/>
                <a:gridCol w="841248"/>
                <a:gridCol w="841248"/>
                <a:gridCol w="841248"/>
                <a:gridCol w="841248"/>
                <a:gridCol w="841248"/>
                <a:gridCol w="841248"/>
                <a:gridCol w="841248"/>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 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PR Type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PR 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Discipline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Unit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Rate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Amount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Material Code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1300096253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WPC DOOR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1014880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1014880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3001066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3100008581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1300095557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GAS LINE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1050550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1050550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3000449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3100008498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1300096252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FIRE FIGHTING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2341330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2341330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3000939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3100008552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1300096254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METALIUM LOUVERS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258336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258336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3001066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3100008591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FURNITURE WORK(Wardrobe)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5088000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5088000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3001066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3100008575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External Electric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4850000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4850000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3000901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3100008668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Service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Dining Tables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707000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707000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Net Total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106473134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14 / 49</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Hinderance Register  ·  Part 1 of 2</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841248"/>
                <a:gridCol w="841248"/>
                <a:gridCol w="841248"/>
                <a:gridCol w="841248"/>
                <a:gridCol w="841248"/>
                <a:gridCol w="841248"/>
                <a:gridCol w="841248"/>
                <a:gridCol w="841248"/>
                <a:gridCol w="841248"/>
                <a:gridCol w="841248"/>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 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Description of Hindrance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Location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Work affected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Correspondence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Type of Hindrance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Date of Occurrence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Date Resolved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No. of Days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Critical Activity affected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Non-availability of updated and approved drawings is causing delays in construction activities and may lead to execution errors due to outdated design references. Immediate action is required to provide the latest drawings.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mail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Work in Progress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Non availability of permanent  power connection  for 3 phase power supply and borewell for construction purposes at site may affect  overall activities at site. Immediate action reqquired for permanent power supply and  borewell construction.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Container office at site for office and documentation works required at urgent basis. Immediate action requred to setup office at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office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documentation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documentation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Ground beam and plinth beam drawings are required for making BBS and procuring steel. Drawings are demanded from last 15 days its required on urgent basis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Steel Procurement &amp; 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Consultant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 spite of repeated instructions and assurances, the manpower deployment for finishing work has not been augmented by M/s Bhavana Infra Projects Pvt. Ltd., leading to delays in planned activities and affecting the overall completion timeline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45887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as instructed before the detailed delay mitigation plan shoud be developed and needs to submit by contractor. As it still yet receive from contractor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45887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all drawings should be delivered on time as per schedule. Delay in drawings can lead to overall construction project delays. Remaining Drawings are Stair cabin slab with Over Head Water Tank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45888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Due to heavy rains over the past three days, the approach road to the site has become muddy. To improve accessibility, debris will be laid along the road to stabilize the surface and facilitate movement.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45894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Firefighting work vendor is still not available at site, which may potentially delay the completion of dependent activities; therefore, timely mobilization of the vendor is essential.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Vendor Onboarding Delays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45957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Vendor POs are not alloted to all of the vendors. Which is causing delays in timely submission of bills and payment on time.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45959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Billing and Payments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All material procurement approvals shall be shared with the vendor, ensuring that the PMC is kept informed.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45959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Execution / Construction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final drawings for external development works—including the septic tank with soak pit, road, and paver block layout and sections—are still pending submission from the design consultant, AK Bhavsar.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45972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15 / 49</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Hinderance Register  ·  Part 2 of 2</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841248"/>
                <a:gridCol w="841248"/>
                <a:gridCol w="841248"/>
                <a:gridCol w="841248"/>
                <a:gridCol w="841248"/>
                <a:gridCol w="841248"/>
                <a:gridCol w="841248"/>
                <a:gridCol w="841248"/>
                <a:gridCol w="841248"/>
                <a:gridCol w="841248"/>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 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Description of Hindrance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Location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Work affected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Correspondence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Type of Hindrance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Date of Occurrence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Date Resolved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No. of Days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Critical Activity affected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required changes for the electrical raising layout, Single Line Diagram (SLD) plan, and wire diagram are still pending submission, which is delaying the final approval and coordination of MEP works 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45972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timely completion of all external development activities is being affected due to the delay in onboarding the required vendor. Vendor onboarding is essential to mobilize resources and commence the scheduled works. Any further delay in finalizing and engaging the vendor will directly impact the project timeline and may result in unavoidable delays in completing the external development works.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Vendor Onboarding Delays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45992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Ground Floor Canteen Floor plan is yet to receive. Which is causing delays in completion of ground floor activities.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If you want, I can also draft a concise version suitable for a site daily report or hindrance log.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Delay in execution of compound wall work due to non-confirmation of compound wall marking by DILR survey.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46050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Delay in plumbing work due to non-mobilization of adequate manpower by the plumbing vendor, which is consequently affecting progress of dependent activities such as masonry, plastering, and flooring works.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46063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Delay in tiling work and dependent activities has been noted on site due to non availability of materials at site due to shortage in supply from manufacturar. Alternative arrangements should be made by Vendor.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Materials procurement delay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46098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Constrcution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16 / 49</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Risk Register  ·  Part 1 of 2</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841248"/>
                <a:gridCol w="841248"/>
                <a:gridCol w="841248"/>
                <a:gridCol w="841248"/>
                <a:gridCol w="841248"/>
                <a:gridCol w="841248"/>
                <a:gridCol w="841248"/>
                <a:gridCol w="841248"/>
                <a:gridCol w="841248"/>
                <a:gridCol w="841248"/>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ID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Category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Dated Raised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Name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Description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Probability of Risk occuring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Consequence of Risk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Severity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Owner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Contractor Mobilization Delay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mobilization activities of the appointed civil contractor are progressing at a significantly slower pace than originally planned. Critical tasks such as site establishment, manpower deployment, material procurement, machinery mobilization, safety arrangements, and initial site clearance are either delayed or not being executed efficiently, potentially impacting the timely commencement of construction works.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Testing Lab Setup Delay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To ensure adherence to project-specific technical specifications and quality standards, it is essential to establish a fully functional testing laboratory at the project site. The absence or delay in setting up this facility may hinder the timely sampling and testing of critical construction materials such as concrete, cement, aggregates, bricks, steel, and water. This can compromise the quality control (QC) process, delay approvals, and increase the risk of using substandard materials, ultimately affecting the structural integrity, safety, and overall progress of the project.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Delay in Shuttering Material Supply and Site Organization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shuttering materials required for upcoming PCC and RCC footing concreting works have not been fully supplied, nor are they properly stacked at the designated storage area on site. This delay and disorganization may hinder the concreting schedule and compromise shuttering alignment quality.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available site manpower is currently insufficient to meet scheduled activity demands, there is insufficiency of masons for masonry and plaster work 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It has been observed that the manpower currently available at the site is inadequate to meet the scheduled activity requirements of the project. The contractor has been instructed to mobilize the remaining workforce at the earliest. 8 masons are available on site for masonry and plaster work , which is targeted for 30 nos.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Unauthorized Land Encroachment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Use of unauthorized land—whether for parking, material storage, machinery movement, or any other construction-related activity—is strictly prohibited and may result in serious legal and contractual consequences, including penalties, work stoppages, or disputes with landowners or authorities. To mitigate this risk, the approved site boundaries must be clearly demarcated using visible markers, barricades, or fencing. All workers, operators, and site personnel must be informed and routinely guided about the designated work area limits to prevent inadvertent encroachment.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Arvind Limited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Delay in Structural Drawing Release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Ground beam and plinth beam construction drawings are currently pending, which are essential for preparing the Bar Bending Schedule (BBS) and initiating steel procurement. The design consultant has committed to providing the required drawings within two days. Any delay beyond this timeline may lead to procurement hold-ups, reinforcement cutting/fabrication delays, and a potential impact on the construction schedule.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AK.Consultant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Delay in Footing Work Progress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As our footing work activity is already delayed contractor should makeup the lost time by increasing manpower and productivity.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45881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Delay In plinth level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mitgation plan target date for completion of the Ground Floor slab RCC work is set for 18th October. Bhavana Infra has been instructed to increase night work hours work and aim for completion by 18th October.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Wastage of raw materials and mixing with soil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Raw materials should be stacked at proper cleaned area to decrease wastage and maintain proper quality of materials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45880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Electrcal Safety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 distribution box shall be securely fixed and installed with all necessary accessories. All connections to equipment must be made using appropriate pin-top plugs to ensure safety, security, and compliance with electrical standards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Hard Barricading for excavated area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As excavated area is deep as 3 meters proper hard barricading should be required for safety of all livelyhood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45866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Unavailability of permanent Power Supply And Borewell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ongoing unavailability of a permanent 3-phase power connection and borewell at the construction site is significantly impacting overall site activities. The current temporary power supply is insufficient to support multiple operations, especially during night shifts, leading to delays and inefficiencies.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Arvind Limited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17 / 49</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Risk Register  ·  Part 2 of 2</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841248"/>
                <a:gridCol w="841248"/>
                <a:gridCol w="841248"/>
                <a:gridCol w="841248"/>
                <a:gridCol w="841248"/>
                <a:gridCol w="841248"/>
                <a:gridCol w="841248"/>
                <a:gridCol w="841248"/>
                <a:gridCol w="841248"/>
                <a:gridCol w="841248"/>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ID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Category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Dated Raised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Name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Description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Probability of Risk occuring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Consequence of Risk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Severity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Owner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45888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Padestal Conctete Activity Delay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Concrete work for the pedestal must commence at the earliest to mitigate delays in the overall project schedule.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Arvind Limited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45888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Drawings shoudld be made available on time.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design deliverables schedule should be signed off by the consultant, and all design submissions must be delivered on time as per the agreed schedule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Arvind Limited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45895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Delay in steel procurement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steel delivery has been delayed due to a production issue at the supplier’s end.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45893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Waterlogging in excavated area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Due to heavy rains flood water is looged in excavated area. Dewatering should be carried out at earliest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45895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Bricks Procurement Pending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Bhavana Infra should procure bricks that approximate the specified make and standards</a:t>
                      </a:r>
                      <a:endParaRPr lang="en-US" sz="800" dirty="0">
                        <a:latin typeface="Calibri" charset="0"/>
                        <a:ea typeface="Calibri" charset="0"/>
                        <a:cs typeface="Calibri" charset="0"/>
                      </a:endParaRPr>
                    </a:p>
                    <a:p>
                      <a:pPr indent="0" marL="0">
                        <a:buNone/>
                      </a:pPr>
                      <a:r>
                        <a:rPr lang="en-US" sz="800" dirty="0">
                          <a:solidFill>
                            <a:srgbClr val="1F2937"/>
                          </a:solidFill>
                          <a:latin typeface="Calibri" pitchFamily="34" charset="0"/>
                          <a:ea typeface="Calibri" pitchFamily="34" charset="-122"/>
                          <a:cs typeface="Calibri" pitchFamily="34" charset="-120"/>
                        </a:rPr>
                        <a:t>outlined in the BOQ. This will help ensure timely material availability on site and facilitate the</a:t>
                      </a:r>
                      <a:endParaRPr lang="en-US" sz="800" dirty="0">
                        <a:latin typeface="Calibri" charset="0"/>
                        <a:ea typeface="Calibri" charset="0"/>
                        <a:cs typeface="Calibri" charset="0"/>
                      </a:endParaRPr>
                    </a:p>
                    <a:p>
                      <a:pPr indent="0" marL="0">
                        <a:buNone/>
                      </a:pPr>
                      <a:r>
                        <a:rPr lang="en-US" sz="800" dirty="0">
                          <a:solidFill>
                            <a:srgbClr val="1F2937"/>
                          </a:solidFill>
                          <a:latin typeface="Calibri" pitchFamily="34" charset="0"/>
                          <a:ea typeface="Calibri" pitchFamily="34" charset="-122"/>
                          <a:cs typeface="Calibri" pitchFamily="34" charset="-120"/>
                        </a:rPr>
                        <a:t>completion of testing as scheduled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45901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Shuttering and steel to be stacked at desired place.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Materials Should not be dumped directly on soil surface. Steel and shuttering materials found layed in mud and soil.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45902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PPE Issuance and workerd ID list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Workers safety and ID list with PPE issuance is required for safety and security purposes.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45905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Sieve test set not available at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testing materials(sieve test set) for gradation test not available 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Volume box not available at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Volume box for preparing mortar for masonry is not available 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45965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Honey Combing in columns and damages to the egdes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During the site visit, it was observed that the quality of the concrete was unsatisfactory, with honeycombing noted on the cast columns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Open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45971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NDT test Confirmation pending by Design Consultant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7-day concrete cube test results failed to meet the required strength parameters. Following this, Non-Destructive Testing (NDT) was conducted and all relevant reports and supporting documents were submitted to the design consultant (AK Consultant). However, no comments, approval, or technical confirmation have been received from the consultant. This lack of timely feedback poses a risk to construction progress, quality assurance, and structural safety decision-making.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General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45971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The erection, provision of proper structural supports, and installation of stair access for the watch tower are still pending.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Since the watch tower is proposed primarily for observation and work tracking purposes, the delay may affect site monitoring efficiency and hinder effective supervision of ongoing construction activities. Limited visibility from ground level could result in reduced oversight of manpower deployment, equipment utilization, and progress tracking. This may lead to coordination challenges, delays in identifying on-site issues, and reduced accuracy in reporting daily work progress. Although the pending erection does not pose a direct structural or safety risk to ongoing works, it impacts project management effectiveness and may indirectly influence overall productivity and schedule adherence.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High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18 / 49</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Legal Approval Tracker</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934720"/>
                <a:gridCol w="934720"/>
                <a:gridCol w="934720"/>
                <a:gridCol w="934720"/>
                <a:gridCol w="934720"/>
                <a:gridCol w="934720"/>
                <a:gridCol w="934720"/>
                <a:gridCol w="934720"/>
                <a:gridCol w="93472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 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Approvals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Authority for Approval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Action Taken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Action Required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Due date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Approval Date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Risk Associated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3-Phase Electrical Power Supply at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Arvind limited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Construction electric power has to provided by client at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Construction 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Labour License (Form V)</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Arvind limited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Required if more than 20 workers are engaged at the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Form 5 must be issued by client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Legal penalty,project stoppage.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Not 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Form V – Principal Employer Certificate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Arvind limited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Must be signed and stamped by the client (principal employer).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Form 5 must be issued by client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Delay in license; unclear liability.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Not 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Contractor’s All Risk (CAR) Insurance Policy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Must cover civil works, machinery, equipment, and third-party liabilities.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Financial loss from damages; contract issues.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Not 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Workmen Compensation Insurance Policy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Mandatory to safeguard against workplace accidents and injuries.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Heavy liability in case of injury; legal action.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PPE Issuance Proof</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Record of issued helmets, shoes, jackets, gloves, etc., with signature.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Injury risk; safety non-compliance.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Labour Law Compliance Undertaking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Arvind limited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Signed declaration by contractor to comply with labour laws and safety standards.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Form 5 must be issued by client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Legal gaps; accountability issues.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Not 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ESIC Registration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Declaration submitted. Not applicable if &lt;10 workers.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Penalty for non-compliance; worker dissatisfaction.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EPF Registration &amp; Challan Copy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Registration completed. Latest challan submitted.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Audit issues; client may withhold payment.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First Aid Facility Details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First aid kit arranged and available on site.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Poor emergency response; safety violation.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Worker List with ID Proof</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Bhavna Infra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Updated list with ID proofs submitted weekly.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45874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Security risk; claims complications.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19 / 49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Drawing Register _ DCI</a:t>
            </a:r>
            <a:endParaRPr lang="en-US" sz="1800" dirty="0"/>
          </a:p>
        </p:txBody>
      </p:sp>
      <p:sp>
        <p:nvSpPr>
          <p:cNvPr id="6" name="Shape 3"/>
          <p:cNvSpPr/>
          <p:nvPr/>
        </p:nvSpPr>
        <p:spPr>
          <a:xfrm>
            <a:off x="365760" y="804672"/>
            <a:ext cx="1005840" cy="45720"/>
          </a:xfrm>
          <a:prstGeom prst="rect">
            <a:avLst/>
          </a:prstGeom>
          <a:solidFill>
            <a:srgbClr val="156082"/>
          </a:solidFill>
          <a:ln/>
        </p:spPr>
      </p:sp>
      <p:sp>
        <p:nvSpPr>
          <p:cNvPr id="7" name="Text 4"/>
          <p:cNvSpPr/>
          <p:nvPr/>
        </p:nvSpPr>
        <p:spPr>
          <a:xfrm>
            <a:off x="365760" y="960120"/>
            <a:ext cx="8412480" cy="411480"/>
          </a:xfrm>
          <a:prstGeom prst="rect">
            <a:avLst/>
          </a:prstGeom>
          <a:noFill/>
          <a:ln/>
        </p:spPr>
        <p:txBody>
          <a:bodyPr wrap="square" rtlCol="0" anchor="ctr"/>
          <a:lstStyle/>
          <a:p>
            <a:pPr indent="0" marL="0">
              <a:buNone/>
            </a:pPr>
            <a:r>
              <a:rPr lang="en-US" sz="1000" dirty="0">
                <a:solidFill>
                  <a:srgbClr val="5C6578"/>
                </a:solidFill>
              </a:rPr>
              <a:t>Populate via WPR Maker sync from portal registers.</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4173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Item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(Awaiting data)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Open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9"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0"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20 / 49</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Design Status</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1051560"/>
                <a:gridCol w="1051560"/>
                <a:gridCol w="1051560"/>
                <a:gridCol w="1051560"/>
                <a:gridCol w="1051560"/>
                <a:gridCol w="1051560"/>
                <a:gridCol w="1051560"/>
                <a:gridCol w="105156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 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 (In Percentage)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Planned End Date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Remark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Architectural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As Per Approved MockUp sample Further Drawings were not required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Structural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As Per Approved MockUp sample Further Drawings were not required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Electrical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Plumbing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Fire Protection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21 / 49</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Procurement Status</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764771"/>
                <a:gridCol w="764771"/>
                <a:gridCol w="764771"/>
                <a:gridCol w="764771"/>
                <a:gridCol w="764771"/>
                <a:gridCol w="764771"/>
                <a:gridCol w="764771"/>
                <a:gridCol w="764771"/>
                <a:gridCol w="764771"/>
                <a:gridCol w="764771"/>
                <a:gridCol w="764771"/>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Workpackage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Items descriptions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Responsible stakeholder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Contractor Name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Target date of inquiry float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Date of Vendor appointment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Lead time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Priority Level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Vendor Appointed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Remark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Weight Bridge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Weight bridge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Client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Eagle Scale Manufacturing Works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45677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45699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22 days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Yes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Dock Leveller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Dock Leveller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Client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45677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Mechanical Packages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HVAC (Heating, Ventilation &amp; Air Conditioning), Fire Fighting &amp; Suppression System, Plumbing &amp; Drainage and Compressed Air System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Client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45787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Electrical Packages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Power Distribution System, Lighting &amp; Small Power, Low Current Systems (CCTV, Access Control) &amp; Earthing &amp; Lightning Protection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Client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45818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Process Equipment &amp; Utilities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Heavy Machinery &amp; Equipment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Client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45789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22 / 49</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Shape 1"/>
          <p:cNvSpPr/>
          <p:nvPr/>
        </p:nvSpPr>
        <p:spPr>
          <a:xfrm>
            <a:off x="0" y="73152"/>
            <a:ext cx="164592" cy="5070348"/>
          </a:xfrm>
          <a:prstGeom prst="rect">
            <a:avLst/>
          </a:prstGeom>
          <a:solidFill>
            <a:srgbClr val="156082"/>
          </a:solidFill>
          <a:ln/>
        </p:spPr>
      </p:sp>
      <p:pic>
        <p:nvPicPr>
          <p:cNvPr id="4"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5" name="Text 2"/>
          <p:cNvSpPr/>
          <p:nvPr/>
        </p:nvSpPr>
        <p:spPr>
          <a:xfrm>
            <a:off x="548640" y="1463040"/>
            <a:ext cx="8046720" cy="457200"/>
          </a:xfrm>
          <a:prstGeom prst="rect">
            <a:avLst/>
          </a:prstGeom>
          <a:noFill/>
          <a:ln/>
        </p:spPr>
        <p:txBody>
          <a:bodyPr wrap="square" rtlCol="0" anchor="ctr"/>
          <a:lstStyle/>
          <a:p>
            <a:pPr indent="0" marL="0">
              <a:buNone/>
            </a:pPr>
            <a:r>
              <a:rPr lang="en-US" sz="1400" dirty="0">
                <a:solidFill>
                  <a:srgbClr val="156082"/>
                </a:solidFill>
              </a:rPr>
              <a:t>21</a:t>
            </a:r>
            <a:endParaRPr lang="en-US" sz="1400" dirty="0"/>
          </a:p>
        </p:txBody>
      </p:sp>
      <p:sp>
        <p:nvSpPr>
          <p:cNvPr id="6" name="Text 3"/>
          <p:cNvSpPr/>
          <p:nvPr/>
        </p:nvSpPr>
        <p:spPr>
          <a:xfrm>
            <a:off x="548640" y="2011680"/>
            <a:ext cx="8046720" cy="914400"/>
          </a:xfrm>
          <a:prstGeom prst="rect">
            <a:avLst/>
          </a:prstGeom>
          <a:noFill/>
          <a:ln/>
        </p:spPr>
        <p:txBody>
          <a:bodyPr wrap="square" rtlCol="0" anchor="ctr"/>
          <a:lstStyle/>
          <a:p>
            <a:pPr indent="0" marL="0">
              <a:buNone/>
            </a:pPr>
            <a:r>
              <a:rPr lang="en-US" sz="3200" b="1" dirty="0">
                <a:solidFill>
                  <a:srgbClr val="0E2841"/>
                </a:solidFill>
              </a:rPr>
              <a:t>Project Progress</a:t>
            </a:r>
            <a:endParaRPr lang="en-US" sz="3200" dirty="0"/>
          </a:p>
        </p:txBody>
      </p:sp>
      <p:sp>
        <p:nvSpPr>
          <p:cNvPr id="7" name="Text 4"/>
          <p:cNvSpPr/>
          <p:nvPr/>
        </p:nvSpPr>
        <p:spPr>
          <a:xfrm>
            <a:off x="548640" y="3200400"/>
            <a:ext cx="8046720" cy="365760"/>
          </a:xfrm>
          <a:prstGeom prst="rect">
            <a:avLst/>
          </a:prstGeom>
          <a:noFill/>
          <a:ln/>
        </p:spPr>
        <p:txBody>
          <a:bodyPr wrap="square" rtlCol="0" anchor="ctr"/>
          <a:lstStyle/>
          <a:p>
            <a:pPr indent="0" marL="0">
              <a:buNone/>
            </a:pPr>
            <a:r>
              <a:rPr lang="en-US" sz="1400" dirty="0">
                <a:solidFill>
                  <a:srgbClr val="5C6578"/>
                </a:solidFill>
              </a:rPr>
              <a:t>Arvind Limited</a:t>
            </a:r>
            <a:endParaRPr lang="en-US" sz="1400" dirty="0"/>
          </a:p>
        </p:txBody>
      </p:sp>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23 / 49</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Milestone Schedule</a:t>
            </a:r>
            <a:endParaRPr lang="en-US" sz="1800" dirty="0"/>
          </a:p>
        </p:txBody>
      </p:sp>
      <p:sp>
        <p:nvSpPr>
          <p:cNvPr id="6" name="Shape 3"/>
          <p:cNvSpPr/>
          <p:nvPr/>
        </p:nvSpPr>
        <p:spPr>
          <a:xfrm>
            <a:off x="365760" y="804672"/>
            <a:ext cx="1005840" cy="45720"/>
          </a:xfrm>
          <a:prstGeom prst="rect">
            <a:avLst/>
          </a:prstGeom>
          <a:solidFill>
            <a:srgbClr val="156082"/>
          </a:solidFill>
          <a:ln/>
        </p:spPr>
      </p:sp>
      <p:sp>
        <p:nvSpPr>
          <p:cNvPr id="7" name="Text 4"/>
          <p:cNvSpPr/>
          <p:nvPr/>
        </p:nvSpPr>
        <p:spPr>
          <a:xfrm>
            <a:off x="365760" y="960120"/>
            <a:ext cx="8412480" cy="411480"/>
          </a:xfrm>
          <a:prstGeom prst="rect">
            <a:avLst/>
          </a:prstGeom>
          <a:noFill/>
          <a:ln/>
        </p:spPr>
        <p:txBody>
          <a:bodyPr wrap="square" rtlCol="0" anchor="ctr"/>
          <a:lstStyle/>
          <a:p>
            <a:pPr indent="0" marL="0">
              <a:buNone/>
            </a:pPr>
            <a:r>
              <a:rPr lang="en-US" sz="1000" dirty="0">
                <a:solidFill>
                  <a:srgbClr val="5C6578"/>
                </a:solidFill>
              </a:rPr>
              <a:t>Populate via WPR Maker sync from portal registers.</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4173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Item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(Awaiting data)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Open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9"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0"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24 / 49</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Weekly Manpower Histogram  ·  Part 1 of 2</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2103120"/>
                <a:gridCol w="2103120"/>
                <a:gridCol w="2103120"/>
                <a:gridCol w="210312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Type of Manpower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Required Manpower for week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Available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Shortage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Reinforcement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Carpenter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Mason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Helper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Unskilled Worker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Drivers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Staff</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Plumbing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Tiles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Painter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Electric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Fabricator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Flush Door - Carpenter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PreCast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25 / 49</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Weekly Manpower Histogram  ·  Part 2 of 2</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2103120"/>
                <a:gridCol w="2103120"/>
                <a:gridCol w="2103120"/>
                <a:gridCol w="210312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Type of Manpower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Required Manpower for week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Available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Shortage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WPC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Fire Fighting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Gas Line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Wardrobe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Bed and Platform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Windows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Total of Above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296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Available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Date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Rein.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Carpenter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Mason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46184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46185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46186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46187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46188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26 / 49</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84048"/>
          </a:xfrm>
          <a:prstGeom prst="rect">
            <a:avLst/>
          </a:prstGeom>
          <a:noFill/>
          <a:ln/>
        </p:spPr>
        <p:txBody>
          <a:bodyPr wrap="square" rtlCol="0" anchor="ctr"/>
          <a:lstStyle/>
          <a:p>
            <a:pPr indent="0" marL="0">
              <a:buNone/>
            </a:pPr>
            <a:r>
              <a:rPr lang="en-US" sz="1800" b="1" dirty="0">
                <a:solidFill>
                  <a:srgbClr val="1A1D26"/>
                </a:solidFill>
              </a:rPr>
              <a:t>Weekly manpower histogram</a:t>
            </a:r>
            <a:endParaRPr lang="en-US" sz="1800" dirty="0"/>
          </a:p>
        </p:txBody>
      </p:sp>
      <p:sp>
        <p:nvSpPr>
          <p:cNvPr id="5" name="Shape 3"/>
          <p:cNvSpPr/>
          <p:nvPr/>
        </p:nvSpPr>
        <p:spPr>
          <a:xfrm>
            <a:off x="365760" y="804672"/>
            <a:ext cx="1005840" cy="45720"/>
          </a:xfrm>
          <a:prstGeom prst="rect">
            <a:avLst/>
          </a:prstGeom>
          <a:solidFill>
            <a:srgbClr val="156082"/>
          </a:solidFill>
          <a:ln/>
        </p:spPr>
      </p:sp>
      <p:sp>
        <p:nvSpPr>
          <p:cNvPr id="6" name="Text 4"/>
          <p:cNvSpPr/>
          <p:nvPr/>
        </p:nvSpPr>
        <p:spPr>
          <a:xfrm>
            <a:off x="365760" y="841248"/>
            <a:ext cx="8412480" cy="320040"/>
          </a:xfrm>
          <a:prstGeom prst="rect">
            <a:avLst/>
          </a:prstGeom>
          <a:noFill/>
          <a:ln/>
        </p:spPr>
        <p:txBody>
          <a:bodyPr wrap="square" rtlCol="0" anchor="ctr"/>
          <a:lstStyle/>
          <a:p>
            <a:pPr indent="0" marL="0">
              <a:buNone/>
            </a:pPr>
            <a:r>
              <a:rPr lang="en-US" sz="900" dirty="0">
                <a:solidFill>
                  <a:srgbClr val="5C6578"/>
                </a:solidFill>
              </a:rPr>
              <a:t>Required vs available / daily headcount</a:t>
            </a:r>
            <a:endParaRPr lang="en-US" sz="900" dirty="0"/>
          </a:p>
        </p:txBody>
      </p:sp>
      <p:graphicFrame>
        <p:nvGraphicFramePr>
          <p:cNvPr id="7" name="Chart 0" descr=""/>
          <p:cNvGraphicFramePr/>
          <p:nvPr/>
        </p:nvGraphicFramePr>
        <p:xfrm>
          <a:off x="411480" y="1143000"/>
          <a:ext cx="8321040" cy="3429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27 / 49</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Weekly Executed Plan  ·  Part 1 of 3</a:t>
            </a:r>
            <a:endParaRPr lang="en-US" sz="1800" dirty="0"/>
          </a:p>
        </p:txBody>
      </p:sp>
      <p:sp>
        <p:nvSpPr>
          <p:cNvPr id="5" name="Shape 3"/>
          <p:cNvSpPr/>
          <p:nvPr/>
        </p:nvSpPr>
        <p:spPr>
          <a:xfrm>
            <a:off x="365760" y="804672"/>
            <a:ext cx="1005840" cy="45720"/>
          </a:xfrm>
          <a:prstGeom prst="rect">
            <a:avLst/>
          </a:prstGeom>
          <a:solidFill>
            <a:srgbClr val="156082"/>
          </a:solidFill>
          <a:ln/>
        </p:spPr>
      </p:sp>
      <p:pic>
        <p:nvPicPr>
          <p:cNvPr id="6" name="Image 0" descr="/var/folders/5b/jq48xrw117vb17wjlqgdl6300000gn/T/wpr50-media/ppt/media/image21.png">    </p:cNvPr>
          <p:cNvPicPr>
            <a:picLocks noChangeAspect="1"/>
          </p:cNvPicPr>
          <p:nvPr/>
        </p:nvPicPr>
        <p:blipFill>
          <a:blip r:embed="rId1"/>
          <a:srcRect l="0" r="0" t="0" b="0"/>
          <a:stretch/>
        </p:blipFill>
        <p:spPr>
          <a:xfrm>
            <a:off x="365760" y="914400"/>
            <a:ext cx="4114800" cy="1783080"/>
          </a:xfrm>
          <a:prstGeom prst="rect">
            <a:avLst/>
          </a:prstGeom>
        </p:spPr>
      </p:pic>
      <p:sp>
        <p:nvSpPr>
          <p:cNvPr id="7" name="Text 4"/>
          <p:cNvSpPr/>
          <p:nvPr/>
        </p:nvSpPr>
        <p:spPr>
          <a:xfrm>
            <a:off x="365760" y="2715768"/>
            <a:ext cx="4114800" cy="201168"/>
          </a:xfrm>
          <a:prstGeom prst="rect">
            <a:avLst/>
          </a:prstGeom>
          <a:noFill/>
          <a:ln/>
        </p:spPr>
        <p:txBody>
          <a:bodyPr wrap="square" rtlCol="0" anchor="ctr"/>
          <a:lstStyle/>
          <a:p>
            <a:pPr indent="0" marL="0">
              <a:buNone/>
            </a:pPr>
            <a:r>
              <a:rPr lang="en-US" sz="900" dirty="0">
                <a:solidFill>
                  <a:srgbClr val="1F2937"/>
                </a:solidFill>
              </a:rPr>
              <a:t>1</a:t>
            </a:r>
            <a:endParaRPr lang="en-US" sz="900" dirty="0"/>
          </a:p>
        </p:txBody>
      </p:sp>
      <p:pic>
        <p:nvPicPr>
          <p:cNvPr id="8" name="Image 1" descr="/var/folders/5b/jq48xrw117vb17wjlqgdl6300000gn/T/wpr50-media/ppt/media/image2.jpg">    </p:cNvPr>
          <p:cNvPicPr>
            <a:picLocks noChangeAspect="1"/>
          </p:cNvPicPr>
          <p:nvPr/>
        </p:nvPicPr>
        <p:blipFill>
          <a:blip r:embed="rId2"/>
          <a:srcRect l="0" r="0" t="0" b="0"/>
          <a:stretch/>
        </p:blipFill>
        <p:spPr>
          <a:xfrm>
            <a:off x="4663440" y="914400"/>
            <a:ext cx="4114800" cy="1783080"/>
          </a:xfrm>
          <a:prstGeom prst="rect">
            <a:avLst/>
          </a:prstGeom>
        </p:spPr>
      </p:pic>
      <p:sp>
        <p:nvSpPr>
          <p:cNvPr id="9" name="Text 5"/>
          <p:cNvSpPr/>
          <p:nvPr/>
        </p:nvSpPr>
        <p:spPr>
          <a:xfrm>
            <a:off x="4663440" y="2715768"/>
            <a:ext cx="4114800" cy="201168"/>
          </a:xfrm>
          <a:prstGeom prst="rect">
            <a:avLst/>
          </a:prstGeom>
          <a:noFill/>
          <a:ln/>
        </p:spPr>
        <p:txBody>
          <a:bodyPr wrap="square" rtlCol="0" anchor="ctr"/>
          <a:lstStyle/>
          <a:p>
            <a:pPr indent="0" marL="0">
              <a:buNone/>
            </a:pPr>
            <a:r>
              <a:rPr lang="en-US" sz="900" dirty="0">
                <a:solidFill>
                  <a:srgbClr val="1F2937"/>
                </a:solidFill>
              </a:rPr>
              <a:t>2</a:t>
            </a:r>
            <a:endParaRPr lang="en-US" sz="900" dirty="0"/>
          </a:p>
        </p:txBody>
      </p:sp>
      <p:sp>
        <p:nvSpPr>
          <p:cNvPr id="10" name="Shape 6"/>
          <p:cNvSpPr/>
          <p:nvPr/>
        </p:nvSpPr>
        <p:spPr>
          <a:xfrm>
            <a:off x="365760" y="3108960"/>
            <a:ext cx="4114800" cy="1783080"/>
          </a:xfrm>
          <a:prstGeom prst="rect">
            <a:avLst/>
          </a:prstGeom>
          <a:solidFill>
            <a:srgbClr val="E8F3F1"/>
          </a:solidFill>
          <a:ln w="6350">
            <a:solidFill>
              <a:srgbClr val="E2E5EB"/>
            </a:solidFill>
            <a:prstDash val="solid"/>
          </a:ln>
        </p:spPr>
      </p:sp>
      <p:sp>
        <p:nvSpPr>
          <p:cNvPr id="11" name="Text 7"/>
          <p:cNvSpPr/>
          <p:nvPr/>
        </p:nvSpPr>
        <p:spPr>
          <a:xfrm>
            <a:off x="365760" y="3108960"/>
            <a:ext cx="4114800" cy="1783080"/>
          </a:xfrm>
          <a:prstGeom prst="rect">
            <a:avLst/>
          </a:prstGeom>
          <a:noFill/>
          <a:ln/>
        </p:spPr>
        <p:txBody>
          <a:bodyPr wrap="square" rtlCol="0" anchor="ctr"/>
          <a:lstStyle/>
          <a:p>
            <a:pPr algn="ctr" indent="0" marL="0">
              <a:buNone/>
            </a:pPr>
            <a:r>
              <a:rPr lang="en-US" sz="1000" dirty="0">
                <a:solidFill>
                  <a:srgbClr val="5C6578"/>
                </a:solidFill>
              </a:rPr>
              <a:t>(No photo)</a:t>
            </a:r>
            <a:endParaRPr lang="en-US" sz="1000" dirty="0"/>
          </a:p>
        </p:txBody>
      </p:sp>
      <p:sp>
        <p:nvSpPr>
          <p:cNvPr id="12" name="Text 8"/>
          <p:cNvSpPr/>
          <p:nvPr/>
        </p:nvSpPr>
        <p:spPr>
          <a:xfrm>
            <a:off x="365760" y="4910328"/>
            <a:ext cx="4114800" cy="201168"/>
          </a:xfrm>
          <a:prstGeom prst="rect">
            <a:avLst/>
          </a:prstGeom>
          <a:noFill/>
          <a:ln/>
        </p:spPr>
        <p:txBody>
          <a:bodyPr wrap="square" rtlCol="0" anchor="ctr"/>
          <a:lstStyle/>
          <a:p>
            <a:pPr indent="0" marL="0">
              <a:buNone/>
            </a:pPr>
            <a:r>
              <a:rPr lang="en-US" sz="900" dirty="0">
                <a:solidFill>
                  <a:srgbClr val="1F2937"/>
                </a:solidFill>
              </a:rPr>
              <a:t>Photo 3</a:t>
            </a:r>
            <a:endParaRPr lang="en-US" sz="900" dirty="0"/>
          </a:p>
        </p:txBody>
      </p:sp>
      <p:sp>
        <p:nvSpPr>
          <p:cNvPr id="13" name="Shape 9"/>
          <p:cNvSpPr/>
          <p:nvPr/>
        </p:nvSpPr>
        <p:spPr>
          <a:xfrm>
            <a:off x="4663440" y="3108960"/>
            <a:ext cx="4114800" cy="1783080"/>
          </a:xfrm>
          <a:prstGeom prst="rect">
            <a:avLst/>
          </a:prstGeom>
          <a:solidFill>
            <a:srgbClr val="E8F3F1"/>
          </a:solidFill>
          <a:ln w="6350">
            <a:solidFill>
              <a:srgbClr val="E2E5EB"/>
            </a:solidFill>
            <a:prstDash val="solid"/>
          </a:ln>
        </p:spPr>
      </p:sp>
      <p:sp>
        <p:nvSpPr>
          <p:cNvPr id="14" name="Text 10"/>
          <p:cNvSpPr/>
          <p:nvPr/>
        </p:nvSpPr>
        <p:spPr>
          <a:xfrm>
            <a:off x="4663440" y="3108960"/>
            <a:ext cx="4114800" cy="1783080"/>
          </a:xfrm>
          <a:prstGeom prst="rect">
            <a:avLst/>
          </a:prstGeom>
          <a:noFill/>
          <a:ln/>
        </p:spPr>
        <p:txBody>
          <a:bodyPr wrap="square" rtlCol="0" anchor="ctr"/>
          <a:lstStyle/>
          <a:p>
            <a:pPr algn="ctr" indent="0" marL="0">
              <a:buNone/>
            </a:pPr>
            <a:r>
              <a:rPr lang="en-US" sz="1000" dirty="0">
                <a:solidFill>
                  <a:srgbClr val="5C6578"/>
                </a:solidFill>
              </a:rPr>
              <a:t>(No photo)</a:t>
            </a:r>
            <a:endParaRPr lang="en-US" sz="1000" dirty="0"/>
          </a:p>
        </p:txBody>
      </p:sp>
      <p:sp>
        <p:nvSpPr>
          <p:cNvPr id="15" name="Text 11"/>
          <p:cNvSpPr/>
          <p:nvPr/>
        </p:nvSpPr>
        <p:spPr>
          <a:xfrm>
            <a:off x="4663440" y="4910328"/>
            <a:ext cx="4114800" cy="201168"/>
          </a:xfrm>
          <a:prstGeom prst="rect">
            <a:avLst/>
          </a:prstGeom>
          <a:noFill/>
          <a:ln/>
        </p:spPr>
        <p:txBody>
          <a:bodyPr wrap="square" rtlCol="0" anchor="ctr"/>
          <a:lstStyle/>
          <a:p>
            <a:pPr indent="0" marL="0">
              <a:buNone/>
            </a:pPr>
            <a:r>
              <a:rPr lang="en-US" sz="900" dirty="0">
                <a:solidFill>
                  <a:srgbClr val="1F2937"/>
                </a:solidFill>
              </a:rPr>
              <a:t>Photo 4</a:t>
            </a:r>
            <a:endParaRPr lang="en-US" sz="900" dirty="0"/>
          </a:p>
        </p:txBody>
      </p:sp>
      <p:sp>
        <p:nvSpPr>
          <p:cNvPr id="16" name="Text 12"/>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7" name="Text 13"/>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28 / 49</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Weekly Executed Plan  ·  Part 2 of 3</a:t>
            </a:r>
            <a:endParaRPr lang="en-US" sz="1800" dirty="0"/>
          </a:p>
        </p:txBody>
      </p:sp>
      <p:sp>
        <p:nvSpPr>
          <p:cNvPr id="5" name="Shape 3"/>
          <p:cNvSpPr/>
          <p:nvPr/>
        </p:nvSpPr>
        <p:spPr>
          <a:xfrm>
            <a:off x="365760" y="804672"/>
            <a:ext cx="1005840" cy="45720"/>
          </a:xfrm>
          <a:prstGeom prst="rect">
            <a:avLst/>
          </a:prstGeom>
          <a:solidFill>
            <a:srgbClr val="156082"/>
          </a:solidFill>
          <a:ln/>
        </p:spPr>
      </p:sp>
      <p:pic>
        <p:nvPicPr>
          <p:cNvPr id="6" name="Image 0" descr="/var/folders/5b/jq48xrw117vb17wjlqgdl6300000gn/T/wpr50-media/ppt/media/image41.png">    </p:cNvPr>
          <p:cNvPicPr>
            <a:picLocks noChangeAspect="1"/>
          </p:cNvPicPr>
          <p:nvPr/>
        </p:nvPicPr>
        <p:blipFill>
          <a:blip r:embed="rId1"/>
          <a:srcRect l="0" r="0" t="0" b="0"/>
          <a:stretch/>
        </p:blipFill>
        <p:spPr>
          <a:xfrm>
            <a:off x="365760" y="914400"/>
            <a:ext cx="4114800" cy="1783080"/>
          </a:xfrm>
          <a:prstGeom prst="rect">
            <a:avLst/>
          </a:prstGeom>
        </p:spPr>
      </p:pic>
      <p:sp>
        <p:nvSpPr>
          <p:cNvPr id="7" name="Text 4"/>
          <p:cNvSpPr/>
          <p:nvPr/>
        </p:nvSpPr>
        <p:spPr>
          <a:xfrm>
            <a:off x="365760" y="2715768"/>
            <a:ext cx="4114800" cy="201168"/>
          </a:xfrm>
          <a:prstGeom prst="rect">
            <a:avLst/>
          </a:prstGeom>
          <a:noFill/>
          <a:ln/>
        </p:spPr>
        <p:txBody>
          <a:bodyPr wrap="square" rtlCol="0" anchor="ctr"/>
          <a:lstStyle/>
          <a:p>
            <a:pPr indent="0" marL="0">
              <a:buNone/>
            </a:pPr>
            <a:r>
              <a:rPr lang="en-US" sz="900" dirty="0">
                <a:solidFill>
                  <a:srgbClr val="1F2937"/>
                </a:solidFill>
              </a:rPr>
              <a:t>3</a:t>
            </a:r>
            <a:endParaRPr lang="en-US" sz="900" dirty="0"/>
          </a:p>
        </p:txBody>
      </p:sp>
      <p:pic>
        <p:nvPicPr>
          <p:cNvPr id="8" name="Image 1" descr="/var/folders/5b/jq48xrw117vb17wjlqgdl6300000gn/T/wpr50-media/ppt/media/image16.png">    </p:cNvPr>
          <p:cNvPicPr>
            <a:picLocks noChangeAspect="1"/>
          </p:cNvPicPr>
          <p:nvPr/>
        </p:nvPicPr>
        <p:blipFill>
          <a:blip r:embed="rId2"/>
          <a:srcRect l="0" r="0" t="0" b="0"/>
          <a:stretch/>
        </p:blipFill>
        <p:spPr>
          <a:xfrm>
            <a:off x="4663440" y="914400"/>
            <a:ext cx="4114800" cy="1783080"/>
          </a:xfrm>
          <a:prstGeom prst="rect">
            <a:avLst/>
          </a:prstGeom>
        </p:spPr>
      </p:pic>
      <p:sp>
        <p:nvSpPr>
          <p:cNvPr id="9" name="Text 5"/>
          <p:cNvSpPr/>
          <p:nvPr/>
        </p:nvSpPr>
        <p:spPr>
          <a:xfrm>
            <a:off x="4663440" y="2715768"/>
            <a:ext cx="4114800" cy="201168"/>
          </a:xfrm>
          <a:prstGeom prst="rect">
            <a:avLst/>
          </a:prstGeom>
          <a:noFill/>
          <a:ln/>
        </p:spPr>
        <p:txBody>
          <a:bodyPr wrap="square" rtlCol="0" anchor="ctr"/>
          <a:lstStyle/>
          <a:p>
            <a:pPr indent="0" marL="0">
              <a:buNone/>
            </a:pPr>
            <a:r>
              <a:rPr lang="en-US" sz="900" dirty="0">
                <a:solidFill>
                  <a:srgbClr val="1F2937"/>
                </a:solidFill>
              </a:rPr>
              <a:t>4</a:t>
            </a:r>
            <a:endParaRPr lang="en-US" sz="900" dirty="0"/>
          </a:p>
        </p:txBody>
      </p:sp>
      <p:sp>
        <p:nvSpPr>
          <p:cNvPr id="10" name="Shape 6"/>
          <p:cNvSpPr/>
          <p:nvPr/>
        </p:nvSpPr>
        <p:spPr>
          <a:xfrm>
            <a:off x="365760" y="3108960"/>
            <a:ext cx="4114800" cy="1783080"/>
          </a:xfrm>
          <a:prstGeom prst="rect">
            <a:avLst/>
          </a:prstGeom>
          <a:solidFill>
            <a:srgbClr val="E8F3F1"/>
          </a:solidFill>
          <a:ln w="6350">
            <a:solidFill>
              <a:srgbClr val="E2E5EB"/>
            </a:solidFill>
            <a:prstDash val="solid"/>
          </a:ln>
        </p:spPr>
      </p:sp>
      <p:sp>
        <p:nvSpPr>
          <p:cNvPr id="11" name="Text 7"/>
          <p:cNvSpPr/>
          <p:nvPr/>
        </p:nvSpPr>
        <p:spPr>
          <a:xfrm>
            <a:off x="365760" y="3108960"/>
            <a:ext cx="4114800" cy="1783080"/>
          </a:xfrm>
          <a:prstGeom prst="rect">
            <a:avLst/>
          </a:prstGeom>
          <a:noFill/>
          <a:ln/>
        </p:spPr>
        <p:txBody>
          <a:bodyPr wrap="square" rtlCol="0" anchor="ctr"/>
          <a:lstStyle/>
          <a:p>
            <a:pPr algn="ctr" indent="0" marL="0">
              <a:buNone/>
            </a:pPr>
            <a:r>
              <a:rPr lang="en-US" sz="1000" dirty="0">
                <a:solidFill>
                  <a:srgbClr val="5C6578"/>
                </a:solidFill>
              </a:rPr>
              <a:t>(No photo)</a:t>
            </a:r>
            <a:endParaRPr lang="en-US" sz="1000" dirty="0"/>
          </a:p>
        </p:txBody>
      </p:sp>
      <p:sp>
        <p:nvSpPr>
          <p:cNvPr id="12" name="Text 8"/>
          <p:cNvSpPr/>
          <p:nvPr/>
        </p:nvSpPr>
        <p:spPr>
          <a:xfrm>
            <a:off x="365760" y="4910328"/>
            <a:ext cx="4114800" cy="201168"/>
          </a:xfrm>
          <a:prstGeom prst="rect">
            <a:avLst/>
          </a:prstGeom>
          <a:noFill/>
          <a:ln/>
        </p:spPr>
        <p:txBody>
          <a:bodyPr wrap="square" rtlCol="0" anchor="ctr"/>
          <a:lstStyle/>
          <a:p>
            <a:pPr indent="0" marL="0">
              <a:buNone/>
            </a:pPr>
            <a:r>
              <a:rPr lang="en-US" sz="900" dirty="0">
                <a:solidFill>
                  <a:srgbClr val="1F2937"/>
                </a:solidFill>
              </a:rPr>
              <a:t>Photo 3</a:t>
            </a:r>
            <a:endParaRPr lang="en-US" sz="900" dirty="0"/>
          </a:p>
        </p:txBody>
      </p:sp>
      <p:sp>
        <p:nvSpPr>
          <p:cNvPr id="13" name="Shape 9"/>
          <p:cNvSpPr/>
          <p:nvPr/>
        </p:nvSpPr>
        <p:spPr>
          <a:xfrm>
            <a:off x="4663440" y="3108960"/>
            <a:ext cx="4114800" cy="1783080"/>
          </a:xfrm>
          <a:prstGeom prst="rect">
            <a:avLst/>
          </a:prstGeom>
          <a:solidFill>
            <a:srgbClr val="E8F3F1"/>
          </a:solidFill>
          <a:ln w="6350">
            <a:solidFill>
              <a:srgbClr val="E2E5EB"/>
            </a:solidFill>
            <a:prstDash val="solid"/>
          </a:ln>
        </p:spPr>
      </p:sp>
      <p:sp>
        <p:nvSpPr>
          <p:cNvPr id="14" name="Text 10"/>
          <p:cNvSpPr/>
          <p:nvPr/>
        </p:nvSpPr>
        <p:spPr>
          <a:xfrm>
            <a:off x="4663440" y="3108960"/>
            <a:ext cx="4114800" cy="1783080"/>
          </a:xfrm>
          <a:prstGeom prst="rect">
            <a:avLst/>
          </a:prstGeom>
          <a:noFill/>
          <a:ln/>
        </p:spPr>
        <p:txBody>
          <a:bodyPr wrap="square" rtlCol="0" anchor="ctr"/>
          <a:lstStyle/>
          <a:p>
            <a:pPr algn="ctr" indent="0" marL="0">
              <a:buNone/>
            </a:pPr>
            <a:r>
              <a:rPr lang="en-US" sz="1000" dirty="0">
                <a:solidFill>
                  <a:srgbClr val="5C6578"/>
                </a:solidFill>
              </a:rPr>
              <a:t>(No photo)</a:t>
            </a:r>
            <a:endParaRPr lang="en-US" sz="1000" dirty="0"/>
          </a:p>
        </p:txBody>
      </p:sp>
      <p:sp>
        <p:nvSpPr>
          <p:cNvPr id="15" name="Text 11"/>
          <p:cNvSpPr/>
          <p:nvPr/>
        </p:nvSpPr>
        <p:spPr>
          <a:xfrm>
            <a:off x="4663440" y="4910328"/>
            <a:ext cx="4114800" cy="201168"/>
          </a:xfrm>
          <a:prstGeom prst="rect">
            <a:avLst/>
          </a:prstGeom>
          <a:noFill/>
          <a:ln/>
        </p:spPr>
        <p:txBody>
          <a:bodyPr wrap="square" rtlCol="0" anchor="ctr"/>
          <a:lstStyle/>
          <a:p>
            <a:pPr indent="0" marL="0">
              <a:buNone/>
            </a:pPr>
            <a:r>
              <a:rPr lang="en-US" sz="900" dirty="0">
                <a:solidFill>
                  <a:srgbClr val="1F2937"/>
                </a:solidFill>
              </a:rPr>
              <a:t>Photo 4</a:t>
            </a:r>
            <a:endParaRPr lang="en-US" sz="900" dirty="0"/>
          </a:p>
        </p:txBody>
      </p:sp>
      <p:sp>
        <p:nvSpPr>
          <p:cNvPr id="16" name="Text 12"/>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7" name="Text 13"/>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29 / 49</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Weekly Executed Plan  ·  Part 3 of 3</a:t>
            </a:r>
            <a:endParaRPr lang="en-US" sz="1800" dirty="0"/>
          </a:p>
        </p:txBody>
      </p:sp>
      <p:sp>
        <p:nvSpPr>
          <p:cNvPr id="5" name="Shape 3"/>
          <p:cNvSpPr/>
          <p:nvPr/>
        </p:nvSpPr>
        <p:spPr>
          <a:xfrm>
            <a:off x="365760" y="804672"/>
            <a:ext cx="1005840" cy="45720"/>
          </a:xfrm>
          <a:prstGeom prst="rect">
            <a:avLst/>
          </a:prstGeom>
          <a:solidFill>
            <a:srgbClr val="156082"/>
          </a:solidFill>
          <a:ln/>
        </p:spPr>
      </p:sp>
      <p:pic>
        <p:nvPicPr>
          <p:cNvPr id="6" name="Image 0" descr="/var/folders/5b/jq48xrw117vb17wjlqgdl6300000gn/T/wpr50-media/ppt/media/image12.png">    </p:cNvPr>
          <p:cNvPicPr>
            <a:picLocks noChangeAspect="1"/>
          </p:cNvPicPr>
          <p:nvPr/>
        </p:nvPicPr>
        <p:blipFill>
          <a:blip r:embed="rId1"/>
          <a:srcRect l="0" r="0" t="0" b="0"/>
          <a:stretch/>
        </p:blipFill>
        <p:spPr>
          <a:xfrm>
            <a:off x="365760" y="914400"/>
            <a:ext cx="4114800" cy="1783080"/>
          </a:xfrm>
          <a:prstGeom prst="rect">
            <a:avLst/>
          </a:prstGeom>
        </p:spPr>
      </p:pic>
      <p:sp>
        <p:nvSpPr>
          <p:cNvPr id="7" name="Text 4"/>
          <p:cNvSpPr/>
          <p:nvPr/>
        </p:nvSpPr>
        <p:spPr>
          <a:xfrm>
            <a:off x="365760" y="2715768"/>
            <a:ext cx="4114800" cy="201168"/>
          </a:xfrm>
          <a:prstGeom prst="rect">
            <a:avLst/>
          </a:prstGeom>
          <a:noFill/>
          <a:ln/>
        </p:spPr>
        <p:txBody>
          <a:bodyPr wrap="square" rtlCol="0" anchor="ctr"/>
          <a:lstStyle/>
          <a:p>
            <a:pPr indent="0" marL="0">
              <a:buNone/>
            </a:pPr>
            <a:r>
              <a:rPr lang="en-US" sz="900" dirty="0">
                <a:solidFill>
                  <a:srgbClr val="1F2937"/>
                </a:solidFill>
              </a:rPr>
              <a:t>5</a:t>
            </a:r>
            <a:endParaRPr lang="en-US" sz="900" dirty="0"/>
          </a:p>
        </p:txBody>
      </p:sp>
      <p:pic>
        <p:nvPicPr>
          <p:cNvPr id="8" name="Image 1" descr="/var/folders/5b/jq48xrw117vb17wjlqgdl6300000gn/T/wpr50-media/ppt/media/image10.png">    </p:cNvPr>
          <p:cNvPicPr>
            <a:picLocks noChangeAspect="1"/>
          </p:cNvPicPr>
          <p:nvPr/>
        </p:nvPicPr>
        <p:blipFill>
          <a:blip r:embed="rId2"/>
          <a:srcRect l="0" r="0" t="0" b="0"/>
          <a:stretch/>
        </p:blipFill>
        <p:spPr>
          <a:xfrm>
            <a:off x="4663440" y="914400"/>
            <a:ext cx="4114800" cy="1783080"/>
          </a:xfrm>
          <a:prstGeom prst="rect">
            <a:avLst/>
          </a:prstGeom>
        </p:spPr>
      </p:pic>
      <p:sp>
        <p:nvSpPr>
          <p:cNvPr id="9" name="Text 5"/>
          <p:cNvSpPr/>
          <p:nvPr/>
        </p:nvSpPr>
        <p:spPr>
          <a:xfrm>
            <a:off x="4663440" y="2715768"/>
            <a:ext cx="4114800" cy="201168"/>
          </a:xfrm>
          <a:prstGeom prst="rect">
            <a:avLst/>
          </a:prstGeom>
          <a:noFill/>
          <a:ln/>
        </p:spPr>
        <p:txBody>
          <a:bodyPr wrap="square" rtlCol="0" anchor="ctr"/>
          <a:lstStyle/>
          <a:p>
            <a:pPr indent="0" marL="0">
              <a:buNone/>
            </a:pPr>
            <a:r>
              <a:rPr lang="en-US" sz="900" dirty="0">
                <a:solidFill>
                  <a:srgbClr val="1F2937"/>
                </a:solidFill>
              </a:rPr>
              <a:t>6</a:t>
            </a:r>
            <a:endParaRPr lang="en-US" sz="900" dirty="0"/>
          </a:p>
        </p:txBody>
      </p:sp>
      <p:sp>
        <p:nvSpPr>
          <p:cNvPr id="10" name="Shape 6"/>
          <p:cNvSpPr/>
          <p:nvPr/>
        </p:nvSpPr>
        <p:spPr>
          <a:xfrm>
            <a:off x="365760" y="3108960"/>
            <a:ext cx="4114800" cy="1783080"/>
          </a:xfrm>
          <a:prstGeom prst="rect">
            <a:avLst/>
          </a:prstGeom>
          <a:solidFill>
            <a:srgbClr val="E8F3F1"/>
          </a:solidFill>
          <a:ln w="6350">
            <a:solidFill>
              <a:srgbClr val="E2E5EB"/>
            </a:solidFill>
            <a:prstDash val="solid"/>
          </a:ln>
        </p:spPr>
      </p:sp>
      <p:sp>
        <p:nvSpPr>
          <p:cNvPr id="11" name="Text 7"/>
          <p:cNvSpPr/>
          <p:nvPr/>
        </p:nvSpPr>
        <p:spPr>
          <a:xfrm>
            <a:off x="365760" y="3108960"/>
            <a:ext cx="4114800" cy="1783080"/>
          </a:xfrm>
          <a:prstGeom prst="rect">
            <a:avLst/>
          </a:prstGeom>
          <a:noFill/>
          <a:ln/>
        </p:spPr>
        <p:txBody>
          <a:bodyPr wrap="square" rtlCol="0" anchor="ctr"/>
          <a:lstStyle/>
          <a:p>
            <a:pPr algn="ctr" indent="0" marL="0">
              <a:buNone/>
            </a:pPr>
            <a:r>
              <a:rPr lang="en-US" sz="1000" dirty="0">
                <a:solidFill>
                  <a:srgbClr val="5C6578"/>
                </a:solidFill>
              </a:rPr>
              <a:t>(No photo)</a:t>
            </a:r>
            <a:endParaRPr lang="en-US" sz="1000" dirty="0"/>
          </a:p>
        </p:txBody>
      </p:sp>
      <p:sp>
        <p:nvSpPr>
          <p:cNvPr id="12" name="Text 8"/>
          <p:cNvSpPr/>
          <p:nvPr/>
        </p:nvSpPr>
        <p:spPr>
          <a:xfrm>
            <a:off x="365760" y="4910328"/>
            <a:ext cx="4114800" cy="201168"/>
          </a:xfrm>
          <a:prstGeom prst="rect">
            <a:avLst/>
          </a:prstGeom>
          <a:noFill/>
          <a:ln/>
        </p:spPr>
        <p:txBody>
          <a:bodyPr wrap="square" rtlCol="0" anchor="ctr"/>
          <a:lstStyle/>
          <a:p>
            <a:pPr indent="0" marL="0">
              <a:buNone/>
            </a:pPr>
            <a:r>
              <a:rPr lang="en-US" sz="900" dirty="0">
                <a:solidFill>
                  <a:srgbClr val="1F2937"/>
                </a:solidFill>
              </a:rPr>
              <a:t>Photo 3</a:t>
            </a:r>
            <a:endParaRPr lang="en-US" sz="900" dirty="0"/>
          </a:p>
        </p:txBody>
      </p:sp>
      <p:sp>
        <p:nvSpPr>
          <p:cNvPr id="13" name="Shape 9"/>
          <p:cNvSpPr/>
          <p:nvPr/>
        </p:nvSpPr>
        <p:spPr>
          <a:xfrm>
            <a:off x="4663440" y="3108960"/>
            <a:ext cx="4114800" cy="1783080"/>
          </a:xfrm>
          <a:prstGeom prst="rect">
            <a:avLst/>
          </a:prstGeom>
          <a:solidFill>
            <a:srgbClr val="E8F3F1"/>
          </a:solidFill>
          <a:ln w="6350">
            <a:solidFill>
              <a:srgbClr val="E2E5EB"/>
            </a:solidFill>
            <a:prstDash val="solid"/>
          </a:ln>
        </p:spPr>
      </p:sp>
      <p:sp>
        <p:nvSpPr>
          <p:cNvPr id="14" name="Text 10"/>
          <p:cNvSpPr/>
          <p:nvPr/>
        </p:nvSpPr>
        <p:spPr>
          <a:xfrm>
            <a:off x="4663440" y="3108960"/>
            <a:ext cx="4114800" cy="1783080"/>
          </a:xfrm>
          <a:prstGeom prst="rect">
            <a:avLst/>
          </a:prstGeom>
          <a:noFill/>
          <a:ln/>
        </p:spPr>
        <p:txBody>
          <a:bodyPr wrap="square" rtlCol="0" anchor="ctr"/>
          <a:lstStyle/>
          <a:p>
            <a:pPr algn="ctr" indent="0" marL="0">
              <a:buNone/>
            </a:pPr>
            <a:r>
              <a:rPr lang="en-US" sz="1000" dirty="0">
                <a:solidFill>
                  <a:srgbClr val="5C6578"/>
                </a:solidFill>
              </a:rPr>
              <a:t>(No photo)</a:t>
            </a:r>
            <a:endParaRPr lang="en-US" sz="1000" dirty="0"/>
          </a:p>
        </p:txBody>
      </p:sp>
      <p:sp>
        <p:nvSpPr>
          <p:cNvPr id="15" name="Text 11"/>
          <p:cNvSpPr/>
          <p:nvPr/>
        </p:nvSpPr>
        <p:spPr>
          <a:xfrm>
            <a:off x="4663440" y="4910328"/>
            <a:ext cx="4114800" cy="201168"/>
          </a:xfrm>
          <a:prstGeom prst="rect">
            <a:avLst/>
          </a:prstGeom>
          <a:noFill/>
          <a:ln/>
        </p:spPr>
        <p:txBody>
          <a:bodyPr wrap="square" rtlCol="0" anchor="ctr"/>
          <a:lstStyle/>
          <a:p>
            <a:pPr indent="0" marL="0">
              <a:buNone/>
            </a:pPr>
            <a:r>
              <a:rPr lang="en-US" sz="900" dirty="0">
                <a:solidFill>
                  <a:srgbClr val="1F2937"/>
                </a:solidFill>
              </a:rPr>
              <a:t>Photo 4</a:t>
            </a:r>
            <a:endParaRPr lang="en-US" sz="900" dirty="0"/>
          </a:p>
        </p:txBody>
      </p:sp>
      <p:sp>
        <p:nvSpPr>
          <p:cNvPr id="16" name="Text 12"/>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7" name="Text 13"/>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30 / 49</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Cashflow Overview  ·  Part 1 of 2</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1682496"/>
                <a:gridCol w="1682496"/>
                <a:gridCol w="1682496"/>
                <a:gridCol w="1682496"/>
                <a:gridCol w="1682496"/>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Month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Budgeted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Planned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Actual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August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01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5000000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1063955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September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02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7200000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7797193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October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03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5000000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168333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November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04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7500000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2376171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December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05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8000000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12765763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January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06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9000000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2906803.7399999998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February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07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12596861.8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9418848.1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March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08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12596861.8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2123756.45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April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12596861.8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8730949.04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May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10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12596861.8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19313808.5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June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11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12596861.8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8306604.76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July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RA 12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12596861.8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5227082.93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Month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January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Planned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31 / 49</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Cashflow Overview  ·  Part 2 of 2</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1682496"/>
                <a:gridCol w="1682496"/>
                <a:gridCol w="1682496"/>
                <a:gridCol w="1682496"/>
                <a:gridCol w="1682496"/>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Month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Budgeted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Planned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Actual Work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Actual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32 / 49</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84048"/>
          </a:xfrm>
          <a:prstGeom prst="rect">
            <a:avLst/>
          </a:prstGeom>
          <a:noFill/>
          <a:ln/>
        </p:spPr>
        <p:txBody>
          <a:bodyPr wrap="square" rtlCol="0" anchor="ctr"/>
          <a:lstStyle/>
          <a:p>
            <a:pPr indent="0" marL="0">
              <a:buNone/>
            </a:pPr>
            <a:r>
              <a:rPr lang="en-US" sz="1800" b="1" dirty="0">
                <a:solidFill>
                  <a:srgbClr val="1A1D26"/>
                </a:solidFill>
              </a:rPr>
              <a:t>Project cashflow overview</a:t>
            </a:r>
            <a:endParaRPr lang="en-US" sz="1800" dirty="0"/>
          </a:p>
        </p:txBody>
      </p:sp>
      <p:sp>
        <p:nvSpPr>
          <p:cNvPr id="5" name="Shape 3"/>
          <p:cNvSpPr/>
          <p:nvPr/>
        </p:nvSpPr>
        <p:spPr>
          <a:xfrm>
            <a:off x="365760" y="804672"/>
            <a:ext cx="1005840" cy="45720"/>
          </a:xfrm>
          <a:prstGeom prst="rect">
            <a:avLst/>
          </a:prstGeom>
          <a:solidFill>
            <a:srgbClr val="156082"/>
          </a:solidFill>
          <a:ln/>
        </p:spPr>
      </p:sp>
      <p:sp>
        <p:nvSpPr>
          <p:cNvPr id="6" name="Text 4"/>
          <p:cNvSpPr/>
          <p:nvPr/>
        </p:nvSpPr>
        <p:spPr>
          <a:xfrm>
            <a:off x="365760" y="841248"/>
            <a:ext cx="8412480" cy="320040"/>
          </a:xfrm>
          <a:prstGeom prst="rect">
            <a:avLst/>
          </a:prstGeom>
          <a:noFill/>
          <a:ln/>
        </p:spPr>
        <p:txBody>
          <a:bodyPr wrap="square" rtlCol="0" anchor="ctr"/>
          <a:lstStyle/>
          <a:p>
            <a:pPr indent="0" marL="0">
              <a:buNone/>
            </a:pPr>
            <a:r>
              <a:rPr lang="en-US" sz="900" dirty="0">
                <a:solidFill>
                  <a:srgbClr val="5C6578"/>
                </a:solidFill>
              </a:rPr>
              <a:t>Planned vs actual (₹ lakh) by period</a:t>
            </a:r>
            <a:endParaRPr lang="en-US" sz="900" dirty="0"/>
          </a:p>
        </p:txBody>
      </p:sp>
      <p:graphicFrame>
        <p:nvGraphicFramePr>
          <p:cNvPr id="7" name="Chart 0" descr=""/>
          <p:cNvGraphicFramePr/>
          <p:nvPr/>
        </p:nvGraphicFramePr>
        <p:xfrm>
          <a:off x="411480" y="1143000"/>
          <a:ext cx="8321040" cy="3429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33 / 49</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Shape 1"/>
          <p:cNvSpPr/>
          <p:nvPr/>
        </p:nvSpPr>
        <p:spPr>
          <a:xfrm>
            <a:off x="0" y="73152"/>
            <a:ext cx="164592" cy="5070348"/>
          </a:xfrm>
          <a:prstGeom prst="rect">
            <a:avLst/>
          </a:prstGeom>
          <a:solidFill>
            <a:srgbClr val="156082"/>
          </a:solidFill>
          <a:ln/>
        </p:spPr>
      </p:sp>
      <p:pic>
        <p:nvPicPr>
          <p:cNvPr id="4"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5" name="Text 2"/>
          <p:cNvSpPr/>
          <p:nvPr/>
        </p:nvSpPr>
        <p:spPr>
          <a:xfrm>
            <a:off x="548640" y="1463040"/>
            <a:ext cx="8046720" cy="457200"/>
          </a:xfrm>
          <a:prstGeom prst="rect">
            <a:avLst/>
          </a:prstGeom>
          <a:noFill/>
          <a:ln/>
        </p:spPr>
        <p:txBody>
          <a:bodyPr wrap="square" rtlCol="0" anchor="ctr"/>
          <a:lstStyle/>
          <a:p>
            <a:pPr indent="0" marL="0">
              <a:buNone/>
            </a:pPr>
            <a:r>
              <a:rPr lang="en-US" sz="1400" dirty="0">
                <a:solidFill>
                  <a:srgbClr val="156082"/>
                </a:solidFill>
              </a:rPr>
              <a:t>40</a:t>
            </a:r>
            <a:endParaRPr lang="en-US" sz="1400" dirty="0"/>
          </a:p>
        </p:txBody>
      </p:sp>
      <p:sp>
        <p:nvSpPr>
          <p:cNvPr id="6" name="Text 3"/>
          <p:cNvSpPr/>
          <p:nvPr/>
        </p:nvSpPr>
        <p:spPr>
          <a:xfrm>
            <a:off x="548640" y="2011680"/>
            <a:ext cx="8046720" cy="914400"/>
          </a:xfrm>
          <a:prstGeom prst="rect">
            <a:avLst/>
          </a:prstGeom>
          <a:noFill/>
          <a:ln/>
        </p:spPr>
        <p:txBody>
          <a:bodyPr wrap="square" rtlCol="0" anchor="ctr"/>
          <a:lstStyle/>
          <a:p>
            <a:pPr indent="0" marL="0">
              <a:buNone/>
            </a:pPr>
            <a:r>
              <a:rPr lang="en-US" sz="3200" b="1" dirty="0">
                <a:solidFill>
                  <a:srgbClr val="0E2841"/>
                </a:solidFill>
              </a:rPr>
              <a:t>Weekly Quality Update</a:t>
            </a:r>
            <a:endParaRPr lang="en-US" sz="3200" dirty="0"/>
          </a:p>
        </p:txBody>
      </p:sp>
      <p:sp>
        <p:nvSpPr>
          <p:cNvPr id="7" name="Text 4"/>
          <p:cNvSpPr/>
          <p:nvPr/>
        </p:nvSpPr>
        <p:spPr>
          <a:xfrm>
            <a:off x="548640" y="3200400"/>
            <a:ext cx="8046720" cy="365760"/>
          </a:xfrm>
          <a:prstGeom prst="rect">
            <a:avLst/>
          </a:prstGeom>
          <a:noFill/>
          <a:ln/>
        </p:spPr>
        <p:txBody>
          <a:bodyPr wrap="square" rtlCol="0" anchor="ctr"/>
          <a:lstStyle/>
          <a:p>
            <a:pPr indent="0" marL="0">
              <a:buNone/>
            </a:pPr>
            <a:r>
              <a:rPr lang="en-US" sz="1400" dirty="0">
                <a:solidFill>
                  <a:srgbClr val="5C6578"/>
                </a:solidFill>
              </a:rPr>
              <a:t>Arvind Limited</a:t>
            </a:r>
            <a:endParaRPr lang="en-US" sz="1400" dirty="0"/>
          </a:p>
        </p:txBody>
      </p:sp>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34 / 49</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Weekly Quality Updates</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1682496"/>
                <a:gridCol w="1682496"/>
                <a:gridCol w="1682496"/>
                <a:gridCol w="1682496"/>
                <a:gridCol w="1682496"/>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Observation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Open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Close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Observation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Instruction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NCR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35 / 49</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84048"/>
          </a:xfrm>
          <a:prstGeom prst="rect">
            <a:avLst/>
          </a:prstGeom>
          <a:noFill/>
          <a:ln/>
        </p:spPr>
        <p:txBody>
          <a:bodyPr wrap="square" rtlCol="0" anchor="ctr"/>
          <a:lstStyle/>
          <a:p>
            <a:pPr indent="0" marL="0">
              <a:buNone/>
            </a:pPr>
            <a:r>
              <a:rPr lang="en-US" sz="1800" b="1" dirty="0">
                <a:solidFill>
                  <a:srgbClr val="1A1D26"/>
                </a:solidFill>
              </a:rPr>
              <a:t>Quality Statistic</a:t>
            </a:r>
            <a:endParaRPr lang="en-US" sz="1800" dirty="0"/>
          </a:p>
        </p:txBody>
      </p:sp>
      <p:sp>
        <p:nvSpPr>
          <p:cNvPr id="5" name="Shape 3"/>
          <p:cNvSpPr/>
          <p:nvPr/>
        </p:nvSpPr>
        <p:spPr>
          <a:xfrm>
            <a:off x="365760" y="804672"/>
            <a:ext cx="1005840" cy="45720"/>
          </a:xfrm>
          <a:prstGeom prst="rect">
            <a:avLst/>
          </a:prstGeom>
          <a:solidFill>
            <a:srgbClr val="156082"/>
          </a:solidFill>
          <a:ln/>
        </p:spPr>
      </p:sp>
      <p:sp>
        <p:nvSpPr>
          <p:cNvPr id="6" name="Text 4"/>
          <p:cNvSpPr/>
          <p:nvPr/>
        </p:nvSpPr>
        <p:spPr>
          <a:xfrm>
            <a:off x="365760" y="841248"/>
            <a:ext cx="8412480" cy="320040"/>
          </a:xfrm>
          <a:prstGeom prst="rect">
            <a:avLst/>
          </a:prstGeom>
          <a:noFill/>
          <a:ln/>
        </p:spPr>
        <p:txBody>
          <a:bodyPr wrap="square" rtlCol="0" anchor="ctr"/>
          <a:lstStyle/>
          <a:p>
            <a:pPr indent="0" marL="0">
              <a:buNone/>
            </a:pPr>
            <a:r>
              <a:rPr lang="en-US" sz="900" dirty="0">
                <a:solidFill>
                  <a:srgbClr val="5C6578"/>
                </a:solidFill>
              </a:rPr>
              <a:t>Site Observation / Instruction / NCR — totals from the week sheet</a:t>
            </a:r>
            <a:endParaRPr lang="en-US" sz="900" dirty="0"/>
          </a:p>
        </p:txBody>
      </p:sp>
      <p:graphicFrame>
        <p:nvGraphicFramePr>
          <p:cNvPr id="7" name="Chart 0" descr=""/>
          <p:cNvGraphicFramePr/>
          <p:nvPr/>
        </p:nvGraphicFramePr>
        <p:xfrm>
          <a:off x="502920" y="1051560"/>
          <a:ext cx="4754880" cy="35204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36 / 49</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Cube Test</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2804160"/>
                <a:gridCol w="2804160"/>
                <a:gridCol w="280416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No of sample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Compressive strength at 7 days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IS code lower limit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17.97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20.23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19.5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21.32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19.85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18.45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37 / 49</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Shape 1"/>
          <p:cNvSpPr/>
          <p:nvPr/>
        </p:nvSpPr>
        <p:spPr>
          <a:xfrm>
            <a:off x="0" y="73152"/>
            <a:ext cx="164592" cy="5070348"/>
          </a:xfrm>
          <a:prstGeom prst="rect">
            <a:avLst/>
          </a:prstGeom>
          <a:solidFill>
            <a:srgbClr val="156082"/>
          </a:solidFill>
          <a:ln/>
        </p:spPr>
      </p:sp>
      <p:pic>
        <p:nvPicPr>
          <p:cNvPr id="4"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5" name="Text 2"/>
          <p:cNvSpPr/>
          <p:nvPr/>
        </p:nvSpPr>
        <p:spPr>
          <a:xfrm>
            <a:off x="548640" y="1463040"/>
            <a:ext cx="8046720" cy="457200"/>
          </a:xfrm>
          <a:prstGeom prst="rect">
            <a:avLst/>
          </a:prstGeom>
          <a:noFill/>
          <a:ln/>
        </p:spPr>
        <p:txBody>
          <a:bodyPr wrap="square" rtlCol="0" anchor="ctr"/>
          <a:lstStyle/>
          <a:p>
            <a:pPr indent="0" marL="0">
              <a:buNone/>
            </a:pPr>
            <a:r>
              <a:rPr lang="en-US" sz="1400" dirty="0">
                <a:solidFill>
                  <a:srgbClr val="156082"/>
                </a:solidFill>
              </a:rPr>
              <a:t>51</a:t>
            </a:r>
            <a:endParaRPr lang="en-US" sz="1400" dirty="0"/>
          </a:p>
        </p:txBody>
      </p:sp>
      <p:sp>
        <p:nvSpPr>
          <p:cNvPr id="6" name="Text 3"/>
          <p:cNvSpPr/>
          <p:nvPr/>
        </p:nvSpPr>
        <p:spPr>
          <a:xfrm>
            <a:off x="548640" y="2011680"/>
            <a:ext cx="8046720" cy="914400"/>
          </a:xfrm>
          <a:prstGeom prst="rect">
            <a:avLst/>
          </a:prstGeom>
          <a:noFill/>
          <a:ln/>
        </p:spPr>
        <p:txBody>
          <a:bodyPr wrap="square" rtlCol="0" anchor="ctr"/>
          <a:lstStyle/>
          <a:p>
            <a:pPr indent="0" marL="0">
              <a:buNone/>
            </a:pPr>
            <a:r>
              <a:rPr lang="en-US" sz="3200" b="1" dirty="0">
                <a:solidFill>
                  <a:srgbClr val="0E2841"/>
                </a:solidFill>
              </a:rPr>
              <a:t>Weekly Safety Update</a:t>
            </a:r>
            <a:endParaRPr lang="en-US" sz="3200" dirty="0"/>
          </a:p>
        </p:txBody>
      </p:sp>
      <p:sp>
        <p:nvSpPr>
          <p:cNvPr id="7" name="Text 4"/>
          <p:cNvSpPr/>
          <p:nvPr/>
        </p:nvSpPr>
        <p:spPr>
          <a:xfrm>
            <a:off x="548640" y="3200400"/>
            <a:ext cx="8046720" cy="365760"/>
          </a:xfrm>
          <a:prstGeom prst="rect">
            <a:avLst/>
          </a:prstGeom>
          <a:noFill/>
          <a:ln/>
        </p:spPr>
        <p:txBody>
          <a:bodyPr wrap="square" rtlCol="0" anchor="ctr"/>
          <a:lstStyle/>
          <a:p>
            <a:pPr indent="0" marL="0">
              <a:buNone/>
            </a:pPr>
            <a:r>
              <a:rPr lang="en-US" sz="1400" dirty="0">
                <a:solidFill>
                  <a:srgbClr val="5C6578"/>
                </a:solidFill>
              </a:rPr>
              <a:t>Arvind Limited</a:t>
            </a:r>
            <a:endParaRPr lang="en-US" sz="1400" dirty="0"/>
          </a:p>
        </p:txBody>
      </p:sp>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38 / 49</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Weekly Safety Updates</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1682496"/>
                <a:gridCol w="1682496"/>
                <a:gridCol w="1682496"/>
                <a:gridCol w="1682496"/>
                <a:gridCol w="1682496"/>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HSE indicators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Up to Previous Week (PW)</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Current Week (CW)</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Cumulative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Safe-manhours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253648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2200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255848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Safe-man-days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364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371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Toolbox Talk</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HSE induction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HSE trainings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Reported Incident/Accident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Site safety Instructions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241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241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NCN Raised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SOR Raised</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FAC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39 / 49</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84048"/>
          </a:xfrm>
          <a:prstGeom prst="rect">
            <a:avLst/>
          </a:prstGeom>
          <a:noFill/>
          <a:ln/>
        </p:spPr>
        <p:txBody>
          <a:bodyPr wrap="square" rtlCol="0" anchor="ctr"/>
          <a:lstStyle/>
          <a:p>
            <a:pPr indent="0" marL="0">
              <a:buNone/>
            </a:pPr>
            <a:r>
              <a:rPr lang="en-US" sz="1800" b="1" dirty="0">
                <a:solidFill>
                  <a:srgbClr val="1A1D26"/>
                </a:solidFill>
              </a:rPr>
              <a:t>HSE Statistic · previous vs current week</a:t>
            </a:r>
            <a:endParaRPr lang="en-US" sz="1800" dirty="0"/>
          </a:p>
        </p:txBody>
      </p:sp>
      <p:sp>
        <p:nvSpPr>
          <p:cNvPr id="5" name="Shape 3"/>
          <p:cNvSpPr/>
          <p:nvPr/>
        </p:nvSpPr>
        <p:spPr>
          <a:xfrm>
            <a:off x="365760" y="804672"/>
            <a:ext cx="1005840" cy="45720"/>
          </a:xfrm>
          <a:prstGeom prst="rect">
            <a:avLst/>
          </a:prstGeom>
          <a:solidFill>
            <a:srgbClr val="156082"/>
          </a:solidFill>
          <a:ln/>
        </p:spPr>
      </p:sp>
      <p:sp>
        <p:nvSpPr>
          <p:cNvPr id="6" name="Text 4"/>
          <p:cNvSpPr/>
          <p:nvPr/>
        </p:nvSpPr>
        <p:spPr>
          <a:xfrm>
            <a:off x="365760" y="841248"/>
            <a:ext cx="8412480" cy="320040"/>
          </a:xfrm>
          <a:prstGeom prst="rect">
            <a:avLst/>
          </a:prstGeom>
          <a:noFill/>
          <a:ln/>
        </p:spPr>
        <p:txBody>
          <a:bodyPr wrap="square" rtlCol="0" anchor="ctr"/>
          <a:lstStyle/>
          <a:p>
            <a:pPr indent="0" marL="0">
              <a:buNone/>
            </a:pPr>
            <a:r>
              <a:rPr lang="en-US" sz="900" dirty="0">
                <a:solidFill>
                  <a:srgbClr val="5C6578"/>
                </a:solidFill>
              </a:rPr>
              <a:t>Safe manhours, TBT, induction, trainings — PW vs CW from the week sheet</a:t>
            </a:r>
            <a:endParaRPr lang="en-US" sz="900" dirty="0"/>
          </a:p>
        </p:txBody>
      </p:sp>
      <p:graphicFrame>
        <p:nvGraphicFramePr>
          <p:cNvPr id="7" name="Chart 0" descr=""/>
          <p:cNvGraphicFramePr/>
          <p:nvPr/>
        </p:nvGraphicFramePr>
        <p:xfrm>
          <a:off x="411480" y="1143000"/>
          <a:ext cx="8321040" cy="3429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40 / 49</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Shape 1"/>
          <p:cNvSpPr/>
          <p:nvPr/>
        </p:nvSpPr>
        <p:spPr>
          <a:xfrm>
            <a:off x="0" y="73152"/>
            <a:ext cx="164592" cy="5070348"/>
          </a:xfrm>
          <a:prstGeom prst="rect">
            <a:avLst/>
          </a:prstGeom>
          <a:solidFill>
            <a:srgbClr val="156082"/>
          </a:solidFill>
          <a:ln/>
        </p:spPr>
      </p:sp>
      <p:pic>
        <p:nvPicPr>
          <p:cNvPr id="4"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5" name="Text 2"/>
          <p:cNvSpPr/>
          <p:nvPr/>
        </p:nvSpPr>
        <p:spPr>
          <a:xfrm>
            <a:off x="548640" y="1463040"/>
            <a:ext cx="8046720" cy="457200"/>
          </a:xfrm>
          <a:prstGeom prst="rect">
            <a:avLst/>
          </a:prstGeom>
          <a:noFill/>
          <a:ln/>
        </p:spPr>
        <p:txBody>
          <a:bodyPr wrap="square" rtlCol="0" anchor="ctr"/>
          <a:lstStyle/>
          <a:p>
            <a:pPr indent="0" marL="0">
              <a:buNone/>
            </a:pPr>
            <a:r>
              <a:rPr lang="en-US" sz="1400" dirty="0">
                <a:solidFill>
                  <a:srgbClr val="156082"/>
                </a:solidFill>
              </a:rPr>
              <a:t>54</a:t>
            </a:r>
            <a:endParaRPr lang="en-US" sz="1400" dirty="0"/>
          </a:p>
        </p:txBody>
      </p:sp>
      <p:sp>
        <p:nvSpPr>
          <p:cNvPr id="6" name="Text 3"/>
          <p:cNvSpPr/>
          <p:nvPr/>
        </p:nvSpPr>
        <p:spPr>
          <a:xfrm>
            <a:off x="548640" y="2011680"/>
            <a:ext cx="8046720" cy="914400"/>
          </a:xfrm>
          <a:prstGeom prst="rect">
            <a:avLst/>
          </a:prstGeom>
          <a:noFill/>
          <a:ln/>
        </p:spPr>
        <p:txBody>
          <a:bodyPr wrap="square" rtlCol="0" anchor="ctr"/>
          <a:lstStyle/>
          <a:p>
            <a:pPr indent="0" marL="0">
              <a:buNone/>
            </a:pPr>
            <a:r>
              <a:rPr lang="en-US" sz="3200" b="1" dirty="0">
                <a:solidFill>
                  <a:srgbClr val="0E2841"/>
                </a:solidFill>
              </a:rPr>
              <a:t>Weekly Planned Vs. Actual</a:t>
            </a:r>
            <a:endParaRPr lang="en-US" sz="3200" dirty="0"/>
          </a:p>
        </p:txBody>
      </p:sp>
      <p:sp>
        <p:nvSpPr>
          <p:cNvPr id="7" name="Text 4"/>
          <p:cNvSpPr/>
          <p:nvPr/>
        </p:nvSpPr>
        <p:spPr>
          <a:xfrm>
            <a:off x="548640" y="3200400"/>
            <a:ext cx="8046720" cy="365760"/>
          </a:xfrm>
          <a:prstGeom prst="rect">
            <a:avLst/>
          </a:prstGeom>
          <a:noFill/>
          <a:ln/>
        </p:spPr>
        <p:txBody>
          <a:bodyPr wrap="square" rtlCol="0" anchor="ctr"/>
          <a:lstStyle/>
          <a:p>
            <a:pPr indent="0" marL="0">
              <a:buNone/>
            </a:pPr>
            <a:r>
              <a:rPr lang="en-US" sz="1400" dirty="0">
                <a:solidFill>
                  <a:srgbClr val="5C6578"/>
                </a:solidFill>
              </a:rPr>
              <a:t>Arvind Limited</a:t>
            </a:r>
            <a:endParaRPr lang="en-US" sz="1400" dirty="0"/>
          </a:p>
        </p:txBody>
      </p:sp>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41 / 49</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Planned Vs. Actual  ·  Part 1 of 3</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701040"/>
                <a:gridCol w="701040"/>
                <a:gridCol w="701040"/>
                <a:gridCol w="701040"/>
                <a:gridCol w="701040"/>
                <a:gridCol w="701040"/>
                <a:gridCol w="701040"/>
                <a:gridCol w="701040"/>
                <a:gridCol w="701040"/>
                <a:gridCol w="701040"/>
                <a:gridCol w="701040"/>
                <a:gridCol w="7010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Tower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Planned Start Date by Contractor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Planned End Date by Contractor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Unit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As per BOQ total Quantity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Total GFC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Executed qty till 22-07-2026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Balance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Weekly planned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Weekly actual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Upto Plinth</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Excavation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3925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1826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1826.1999999999998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-0.1999999999998181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Footing PCC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265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91.31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91.31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Yellow Soil Filling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1123.22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1123.22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Rubble Soling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195.5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173.81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173.81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Footing Shuttering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SMT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1075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441.908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441.91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-0.0020000000000095497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Footing RCC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380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292.764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292.76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0.004000000000019099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Padestal Upto Plinth Top Shuttering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SMT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1075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664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663.9999999999999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Padestal Upto Plinth Top RCC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380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62.65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62.65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GB Excavation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3925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11.795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11.795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GB PCC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265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7.944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7.944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GB Shuttering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SMT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1075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142.938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142.85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0.08799999999999386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GB RCC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380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23.994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23.979999999999997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0.014000000000002899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42 / 49</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Planned Vs. Actual  ·  Part 2 of 3</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701040"/>
                <a:gridCol w="701040"/>
                <a:gridCol w="701040"/>
                <a:gridCol w="701040"/>
                <a:gridCol w="701040"/>
                <a:gridCol w="701040"/>
                <a:gridCol w="701040"/>
                <a:gridCol w="701040"/>
                <a:gridCol w="701040"/>
                <a:gridCol w="701040"/>
                <a:gridCol w="701040"/>
                <a:gridCol w="7010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Tower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Planned Start Date by Contractor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Planned End Date by Contractor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Unit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As per BOQ total Quantity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Total GFC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Executed qty till 22-07-2026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Balance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Weekly planned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Weekly actual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Masonry Above GB</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86.294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86.294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Plinth Beam PCC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265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18.07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18.07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Plinth Beam Shuttering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SMT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1075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387.1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387.1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Plinth Beam RCC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380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45.72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45.72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Plinth Plaster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SMT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5235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92.29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92.29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Masonry above PB</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130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16.168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16.17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-0.0020000000000024443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Floor PCC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265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86.9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86.9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Floor RCC Shuttering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SMT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1075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Floor RCC</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46009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46015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380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88.03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88.03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Avreage  Achivement  : -</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Ground Floor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Plinth to GF slab column shuttering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SQM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1680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427.554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427.554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GF beam shuttering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SQM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700.59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700.59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43 / 49</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Planned Vs. Actual  ·  Part 3 of 3</a:t>
            </a:r>
            <a:endParaRPr lang="en-US" sz="1800" dirty="0"/>
          </a:p>
        </p:txBody>
      </p:sp>
      <p:sp>
        <p:nvSpPr>
          <p:cNvPr id="6" name="Shape 3"/>
          <p:cNvSpPr/>
          <p:nvPr/>
        </p:nvSpPr>
        <p:spPr>
          <a:xfrm>
            <a:off x="365760" y="804672"/>
            <a:ext cx="1005840" cy="45720"/>
          </a:xfrm>
          <a:prstGeom prst="rect">
            <a:avLst/>
          </a:prstGeom>
          <a:solidFill>
            <a:srgbClr val="156082"/>
          </a:solidFill>
          <a:ln/>
        </p:spPr>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914400"/>
        </p:xfrm>
        <a:graphic>
          <a:graphicData uri="http://schemas.openxmlformats.org/drawingml/2006/table">
            <a:tbl>
              <a:tblPr/>
              <a:tblGrid>
                <a:gridCol w="701040"/>
                <a:gridCol w="701040"/>
                <a:gridCol w="701040"/>
                <a:gridCol w="701040"/>
                <a:gridCol w="701040"/>
                <a:gridCol w="701040"/>
                <a:gridCol w="701040"/>
                <a:gridCol w="701040"/>
                <a:gridCol w="701040"/>
                <a:gridCol w="701040"/>
                <a:gridCol w="701040"/>
                <a:gridCol w="7010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Sr.No.</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Tower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Activity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Planned Start Date by Contractor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Planned End Date by Contractor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Unit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As per BOQ total Quantity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Total GFC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Executed qty till 22-07-2026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Balance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Weekly planned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Weekly actual Qty.</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GF Slab shuttering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SQM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664.23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664.23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GF staircase shuttering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SQM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57.39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57.39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GF lintel shuttering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SQM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70.36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70.36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27</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Plinth to GF slab column concrete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210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32.82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32.82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GF beam Concrete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61.75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61.75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29</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GF Slab Concrete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101.98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101.98</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GF staircase concrete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8.52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8.52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GF lintel Concrete</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32</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Brick masonary GF (230 mm)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CUM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75.25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75.25000000000001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33</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Brick masonary GF (115 mm)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SMT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404.61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404.61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34</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Internal Plaster</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SMT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1591.21</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1812.85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1812.85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35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Flooring</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46176</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SMT</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830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895.5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895.5</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8" name="Text 4"/>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5"/>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44 / 49</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84048"/>
          </a:xfrm>
          <a:prstGeom prst="rect">
            <a:avLst/>
          </a:prstGeom>
          <a:noFill/>
          <a:ln/>
        </p:spPr>
        <p:txBody>
          <a:bodyPr wrap="square" rtlCol="0" anchor="ctr"/>
          <a:lstStyle/>
          <a:p>
            <a:pPr indent="0" marL="0">
              <a:buNone/>
            </a:pPr>
            <a:r>
              <a:rPr lang="en-US" sz="1800" b="1" dirty="0">
                <a:solidFill>
                  <a:srgbClr val="1A1D26"/>
                </a:solidFill>
              </a:rPr>
              <a:t>Weekly planned vs actual quantities</a:t>
            </a:r>
            <a:endParaRPr lang="en-US" sz="1800" dirty="0"/>
          </a:p>
        </p:txBody>
      </p:sp>
      <p:sp>
        <p:nvSpPr>
          <p:cNvPr id="5" name="Shape 3"/>
          <p:cNvSpPr/>
          <p:nvPr/>
        </p:nvSpPr>
        <p:spPr>
          <a:xfrm>
            <a:off x="365760" y="804672"/>
            <a:ext cx="1005840" cy="45720"/>
          </a:xfrm>
          <a:prstGeom prst="rect">
            <a:avLst/>
          </a:prstGeom>
          <a:solidFill>
            <a:srgbClr val="156082"/>
          </a:solidFill>
          <a:ln/>
        </p:spPr>
      </p:sp>
      <p:sp>
        <p:nvSpPr>
          <p:cNvPr id="6" name="Text 4"/>
          <p:cNvSpPr/>
          <p:nvPr/>
        </p:nvSpPr>
        <p:spPr>
          <a:xfrm>
            <a:off x="365760" y="841248"/>
            <a:ext cx="8412480" cy="320040"/>
          </a:xfrm>
          <a:prstGeom prst="rect">
            <a:avLst/>
          </a:prstGeom>
          <a:noFill/>
          <a:ln/>
        </p:spPr>
        <p:txBody>
          <a:bodyPr wrap="square" rtlCol="0" anchor="ctr"/>
          <a:lstStyle/>
          <a:p>
            <a:pPr indent="0" marL="0">
              <a:buNone/>
            </a:pPr>
            <a:r>
              <a:rPr lang="en-US" sz="900" dirty="0">
                <a:solidFill>
                  <a:srgbClr val="5C6578"/>
                </a:solidFill>
              </a:rPr>
              <a:t>Activity-level progress for the reporting week</a:t>
            </a:r>
            <a:endParaRPr lang="en-US" sz="900" dirty="0"/>
          </a:p>
        </p:txBody>
      </p:sp>
      <p:graphicFrame>
        <p:nvGraphicFramePr>
          <p:cNvPr id="7" name="Chart 0" descr=""/>
          <p:cNvGraphicFramePr/>
          <p:nvPr/>
        </p:nvGraphicFramePr>
        <p:xfrm>
          <a:off x="411480" y="1143000"/>
          <a:ext cx="8321040" cy="3429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45 / 49</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pic>
        <p:nvPicPr>
          <p:cNvPr id="3"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4"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5"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Material Stock</a:t>
            </a:r>
            <a:endParaRPr lang="en-US" sz="1800" dirty="0"/>
          </a:p>
        </p:txBody>
      </p:sp>
      <p:sp>
        <p:nvSpPr>
          <p:cNvPr id="6" name="Shape 3"/>
          <p:cNvSpPr/>
          <p:nvPr/>
        </p:nvSpPr>
        <p:spPr>
          <a:xfrm>
            <a:off x="365760" y="804672"/>
            <a:ext cx="1005840" cy="45720"/>
          </a:xfrm>
          <a:prstGeom prst="rect">
            <a:avLst/>
          </a:prstGeom>
          <a:solidFill>
            <a:srgbClr val="156082"/>
          </a:solidFill>
          <a:ln/>
        </p:spPr>
      </p:sp>
      <p:sp>
        <p:nvSpPr>
          <p:cNvPr id="7" name="Text 4"/>
          <p:cNvSpPr/>
          <p:nvPr/>
        </p:nvSpPr>
        <p:spPr>
          <a:xfrm>
            <a:off x="365760" y="960120"/>
            <a:ext cx="8412480" cy="411480"/>
          </a:xfrm>
          <a:prstGeom prst="rect">
            <a:avLst/>
          </a:prstGeom>
          <a:noFill/>
          <a:ln/>
        </p:spPr>
        <p:txBody>
          <a:bodyPr wrap="square" rtlCol="0" anchor="ctr"/>
          <a:lstStyle/>
          <a:p>
            <a:pPr indent="0" marL="0">
              <a:buNone/>
            </a:pPr>
            <a:r>
              <a:rPr lang="en-US" sz="1000" dirty="0">
                <a:solidFill>
                  <a:srgbClr val="5C6578"/>
                </a:solidFill>
              </a:rPr>
              <a:t>Populate via WPR Maker sync from portal registers.</a:t>
            </a:r>
            <a:endParaRPr lang="en-US" sz="1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417320"/>
          <a:ext cx="8412480" cy="914400"/>
        </p:xfrm>
        <a:graphic>
          <a:graphicData uri="http://schemas.openxmlformats.org/drawingml/2006/table">
            <a:tbl>
              <a:tblPr/>
              <a:tblGrid>
                <a:gridCol w="4206240"/>
                <a:gridCol w="420624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Item</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Status</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solidFill>
                      <a:srgbClr val="156082"/>
                    </a:solidFill>
                  </a:tcPr>
                </a:tc>
              </a:tr>
              <a:tr h="0">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(Awaiting data)</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c>
                  <a:txBody>
                    <a:bodyPr/>
                    <a:lstStyle/>
                    <a:p>
                      <a:pPr indent="0" marL="0">
                        <a:buNone/>
                      </a:pPr>
                      <a:r>
                        <a:rPr lang="en-US" sz="800" dirty="0">
                          <a:solidFill>
                            <a:srgbClr val="1F2937"/>
                          </a:solidFill>
                          <a:latin typeface="Calibri" pitchFamily="34" charset="0"/>
                          <a:ea typeface="Calibri" pitchFamily="34" charset="-122"/>
                          <a:cs typeface="Calibri" pitchFamily="34" charset="-120"/>
                        </a:rPr>
                        <a:t>Open</a:t>
                      </a:r>
                      <a:endParaRPr lang="en-US" sz="800" dirty="0">
                        <a:latin typeface="Calibri" charset="0"/>
                        <a:ea typeface="Calibri" charset="0"/>
                        <a:cs typeface="Calibri" charset="0"/>
                      </a:endParaRPr>
                    </a:p>
                  </a:txBody>
                  <a:tcPr marL="91440" marR="91440" marT="45720" marB="45720">
                    <a:lnL w="6350" cap="flat" cmpd="sng" algn="ctr">
                      <a:solidFill>
                        <a:srgbClr val="E2E5EB"/>
                      </a:solidFill>
                      <a:prstDash val="solid"/>
                      <a:round/>
                      <a:headEnd type="none" w="med" len="med"/>
                      <a:tailEnd type="none" w="med" len="med"/>
                    </a:lnL>
                    <a:lnR w="6350" cap="flat" cmpd="sng" algn="ctr">
                      <a:solidFill>
                        <a:srgbClr val="E2E5EB"/>
                      </a:solidFill>
                      <a:prstDash val="solid"/>
                      <a:round/>
                      <a:headEnd type="none" w="med" len="med"/>
                      <a:tailEnd type="none" w="med" len="med"/>
                    </a:lnR>
                    <a:lnT w="6350" cap="flat" cmpd="sng" algn="ctr">
                      <a:solidFill>
                        <a:srgbClr val="E2E5EB"/>
                      </a:solidFill>
                      <a:prstDash val="solid"/>
                      <a:round/>
                      <a:headEnd type="none" w="med" len="med"/>
                      <a:tailEnd type="none" w="med" len="med"/>
                    </a:lnT>
                    <a:lnB w="6350" cap="flat" cmpd="sng" algn="ctr">
                      <a:solidFill>
                        <a:srgbClr val="E2E5EB"/>
                      </a:solidFill>
                      <a:prstDash val="solid"/>
                      <a:round/>
                      <a:headEnd type="none" w="med" len="med"/>
                      <a:tailEnd type="none" w="med" len="med"/>
                    </a:lnB>
                  </a:tcPr>
                </a:tc>
              </a:tr>
            </a:tbl>
          </a:graphicData>
        </a:graphic>
      </p:graphicFrame>
      <p:sp>
        <p:nvSpPr>
          <p:cNvPr id="9"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0"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46 / 49</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Shape 1"/>
          <p:cNvSpPr/>
          <p:nvPr/>
        </p:nvSpPr>
        <p:spPr>
          <a:xfrm>
            <a:off x="0" y="73152"/>
            <a:ext cx="164592" cy="5070348"/>
          </a:xfrm>
          <a:prstGeom prst="rect">
            <a:avLst/>
          </a:prstGeom>
          <a:solidFill>
            <a:srgbClr val="156082"/>
          </a:solidFill>
          <a:ln/>
        </p:spPr>
      </p:sp>
      <p:pic>
        <p:nvPicPr>
          <p:cNvPr id="4" name="Image 0" descr="/Users/baibhab/Downloads/sharnam-portal/apps/api/assets/logo-transparent.png">    </p:cNvPr>
          <p:cNvPicPr>
            <a:picLocks noChangeAspect="1"/>
          </p:cNvPicPr>
          <p:nvPr/>
        </p:nvPicPr>
        <p:blipFill>
          <a:blip r:embed="rId1"/>
          <a:stretch>
            <a:fillRect/>
          </a:stretch>
        </p:blipFill>
        <p:spPr>
          <a:xfrm>
            <a:off x="6537960" y="201168"/>
            <a:ext cx="2148840" cy="1024128"/>
          </a:xfrm>
          <a:prstGeom prst="rect">
            <a:avLst/>
          </a:prstGeom>
        </p:spPr>
      </p:pic>
      <p:sp>
        <p:nvSpPr>
          <p:cNvPr id="5" name="Text 2"/>
          <p:cNvSpPr/>
          <p:nvPr/>
        </p:nvSpPr>
        <p:spPr>
          <a:xfrm>
            <a:off x="548640" y="1463040"/>
            <a:ext cx="8046720" cy="457200"/>
          </a:xfrm>
          <a:prstGeom prst="rect">
            <a:avLst/>
          </a:prstGeom>
          <a:noFill/>
          <a:ln/>
        </p:spPr>
        <p:txBody>
          <a:bodyPr wrap="square" rtlCol="0" anchor="ctr"/>
          <a:lstStyle/>
          <a:p>
            <a:pPr indent="0" marL="0">
              <a:buNone/>
            </a:pPr>
            <a:r>
              <a:rPr lang="en-US" sz="1400" dirty="0">
                <a:solidFill>
                  <a:srgbClr val="156082"/>
                </a:solidFill>
              </a:rPr>
              <a:t>59</a:t>
            </a:r>
            <a:endParaRPr lang="en-US" sz="1400" dirty="0"/>
          </a:p>
        </p:txBody>
      </p:sp>
      <p:sp>
        <p:nvSpPr>
          <p:cNvPr id="6" name="Text 3"/>
          <p:cNvSpPr/>
          <p:nvPr/>
        </p:nvSpPr>
        <p:spPr>
          <a:xfrm>
            <a:off x="548640" y="2011680"/>
            <a:ext cx="8046720" cy="914400"/>
          </a:xfrm>
          <a:prstGeom prst="rect">
            <a:avLst/>
          </a:prstGeom>
          <a:noFill/>
          <a:ln/>
        </p:spPr>
        <p:txBody>
          <a:bodyPr wrap="square" rtlCol="0" anchor="ctr"/>
          <a:lstStyle/>
          <a:p>
            <a:pPr indent="0" marL="0">
              <a:buNone/>
            </a:pPr>
            <a:r>
              <a:rPr lang="en-US" sz="3200" b="1" dirty="0">
                <a:solidFill>
                  <a:srgbClr val="0E2841"/>
                </a:solidFill>
              </a:rPr>
              <a:t>Project Progress Pictures</a:t>
            </a:r>
            <a:endParaRPr lang="en-US" sz="3200" dirty="0"/>
          </a:p>
        </p:txBody>
      </p:sp>
      <p:sp>
        <p:nvSpPr>
          <p:cNvPr id="7" name="Text 4"/>
          <p:cNvSpPr/>
          <p:nvPr/>
        </p:nvSpPr>
        <p:spPr>
          <a:xfrm>
            <a:off x="548640" y="3200400"/>
            <a:ext cx="8046720" cy="365760"/>
          </a:xfrm>
          <a:prstGeom prst="rect">
            <a:avLst/>
          </a:prstGeom>
          <a:noFill/>
          <a:ln/>
        </p:spPr>
        <p:txBody>
          <a:bodyPr wrap="square" rtlCol="0" anchor="ctr"/>
          <a:lstStyle/>
          <a:p>
            <a:pPr indent="0" marL="0">
              <a:buNone/>
            </a:pPr>
            <a:r>
              <a:rPr lang="en-US" sz="1400" dirty="0">
                <a:solidFill>
                  <a:srgbClr val="5C6578"/>
                </a:solidFill>
              </a:rPr>
              <a:t>Arvind Limited</a:t>
            </a:r>
            <a:endParaRPr lang="en-US" sz="1400" dirty="0"/>
          </a:p>
        </p:txBody>
      </p:sp>
      <p:sp>
        <p:nvSpPr>
          <p:cNvPr id="8" name="Text 5"/>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9" name="Text 6"/>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47 / 49</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Progress  ·  Part 1 of 2</a:t>
            </a:r>
            <a:endParaRPr lang="en-US" sz="1800" dirty="0"/>
          </a:p>
        </p:txBody>
      </p:sp>
      <p:sp>
        <p:nvSpPr>
          <p:cNvPr id="5" name="Shape 3"/>
          <p:cNvSpPr/>
          <p:nvPr/>
        </p:nvSpPr>
        <p:spPr>
          <a:xfrm>
            <a:off x="365760" y="804672"/>
            <a:ext cx="1005840" cy="45720"/>
          </a:xfrm>
          <a:prstGeom prst="rect">
            <a:avLst/>
          </a:prstGeom>
          <a:solidFill>
            <a:srgbClr val="156082"/>
          </a:solidFill>
          <a:ln/>
        </p:spPr>
      </p:sp>
      <p:pic>
        <p:nvPicPr>
          <p:cNvPr id="6" name="Image 0" descr="/var/folders/5b/jq48xrw117vb17wjlqgdl6300000gn/T/wpr50-media/ppt/media/image42.png">    </p:cNvPr>
          <p:cNvPicPr>
            <a:picLocks noChangeAspect="1"/>
          </p:cNvPicPr>
          <p:nvPr/>
        </p:nvPicPr>
        <p:blipFill>
          <a:blip r:embed="rId1"/>
          <a:srcRect l="0" r="0" t="0" b="0"/>
          <a:stretch/>
        </p:blipFill>
        <p:spPr>
          <a:xfrm>
            <a:off x="365760" y="914400"/>
            <a:ext cx="4114800" cy="1783080"/>
          </a:xfrm>
          <a:prstGeom prst="rect">
            <a:avLst/>
          </a:prstGeom>
        </p:spPr>
      </p:pic>
      <p:sp>
        <p:nvSpPr>
          <p:cNvPr id="7" name="Text 4"/>
          <p:cNvSpPr/>
          <p:nvPr/>
        </p:nvSpPr>
        <p:spPr>
          <a:xfrm>
            <a:off x="365760" y="2715768"/>
            <a:ext cx="4114800" cy="201168"/>
          </a:xfrm>
          <a:prstGeom prst="rect">
            <a:avLst/>
          </a:prstGeom>
          <a:noFill/>
          <a:ln/>
        </p:spPr>
        <p:txBody>
          <a:bodyPr wrap="square" rtlCol="0" anchor="ctr"/>
          <a:lstStyle/>
          <a:p>
            <a:pPr indent="0" marL="0">
              <a:buNone/>
            </a:pPr>
            <a:r>
              <a:rPr lang="en-US" sz="900" dirty="0">
                <a:solidFill>
                  <a:srgbClr val="1F2937"/>
                </a:solidFill>
              </a:rPr>
              <a:t>Progress photo 1</a:t>
            </a:r>
            <a:endParaRPr lang="en-US" sz="900" dirty="0"/>
          </a:p>
        </p:txBody>
      </p:sp>
      <p:pic>
        <p:nvPicPr>
          <p:cNvPr id="8" name="Image 1" descr="/var/folders/5b/jq48xrw117vb17wjlqgdl6300000gn/T/wpr50-media/ppt/media/image37.png">    </p:cNvPr>
          <p:cNvPicPr>
            <a:picLocks noChangeAspect="1"/>
          </p:cNvPicPr>
          <p:nvPr/>
        </p:nvPicPr>
        <p:blipFill>
          <a:blip r:embed="rId2"/>
          <a:srcRect l="0" r="0" t="0" b="0"/>
          <a:stretch/>
        </p:blipFill>
        <p:spPr>
          <a:xfrm>
            <a:off x="4663440" y="914400"/>
            <a:ext cx="4114800" cy="1783080"/>
          </a:xfrm>
          <a:prstGeom prst="rect">
            <a:avLst/>
          </a:prstGeom>
        </p:spPr>
      </p:pic>
      <p:sp>
        <p:nvSpPr>
          <p:cNvPr id="9" name="Text 5"/>
          <p:cNvSpPr/>
          <p:nvPr/>
        </p:nvSpPr>
        <p:spPr>
          <a:xfrm>
            <a:off x="4663440" y="2715768"/>
            <a:ext cx="4114800" cy="201168"/>
          </a:xfrm>
          <a:prstGeom prst="rect">
            <a:avLst/>
          </a:prstGeom>
          <a:noFill/>
          <a:ln/>
        </p:spPr>
        <p:txBody>
          <a:bodyPr wrap="square" rtlCol="0" anchor="ctr"/>
          <a:lstStyle/>
          <a:p>
            <a:pPr indent="0" marL="0">
              <a:buNone/>
            </a:pPr>
            <a:r>
              <a:rPr lang="en-US" sz="900" dirty="0">
                <a:solidFill>
                  <a:srgbClr val="1F2937"/>
                </a:solidFill>
              </a:rPr>
              <a:t>Progress photo 2</a:t>
            </a:r>
            <a:endParaRPr lang="en-US" sz="900" dirty="0"/>
          </a:p>
        </p:txBody>
      </p:sp>
      <p:pic>
        <p:nvPicPr>
          <p:cNvPr id="10" name="Image 2" descr="/var/folders/5b/jq48xrw117vb17wjlqgdl6300000gn/T/wpr50-media/ppt/media/image13.png">    </p:cNvPr>
          <p:cNvPicPr>
            <a:picLocks noChangeAspect="1"/>
          </p:cNvPicPr>
          <p:nvPr/>
        </p:nvPicPr>
        <p:blipFill>
          <a:blip r:embed="rId3"/>
          <a:srcRect l="0" r="0" t="0" b="0"/>
          <a:stretch/>
        </p:blipFill>
        <p:spPr>
          <a:xfrm>
            <a:off x="365760" y="3108960"/>
            <a:ext cx="4114800" cy="1783080"/>
          </a:xfrm>
          <a:prstGeom prst="rect">
            <a:avLst/>
          </a:prstGeom>
        </p:spPr>
      </p:pic>
      <p:sp>
        <p:nvSpPr>
          <p:cNvPr id="11" name="Text 6"/>
          <p:cNvSpPr/>
          <p:nvPr/>
        </p:nvSpPr>
        <p:spPr>
          <a:xfrm>
            <a:off x="365760" y="4910328"/>
            <a:ext cx="4114800" cy="201168"/>
          </a:xfrm>
          <a:prstGeom prst="rect">
            <a:avLst/>
          </a:prstGeom>
          <a:noFill/>
          <a:ln/>
        </p:spPr>
        <p:txBody>
          <a:bodyPr wrap="square" rtlCol="0" anchor="ctr"/>
          <a:lstStyle/>
          <a:p>
            <a:pPr indent="0" marL="0">
              <a:buNone/>
            </a:pPr>
            <a:r>
              <a:rPr lang="en-US" sz="900" dirty="0">
                <a:solidFill>
                  <a:srgbClr val="1F2937"/>
                </a:solidFill>
              </a:rPr>
              <a:t>Progress photo 3</a:t>
            </a:r>
            <a:endParaRPr lang="en-US" sz="900" dirty="0"/>
          </a:p>
        </p:txBody>
      </p:sp>
      <p:pic>
        <p:nvPicPr>
          <p:cNvPr id="12" name="Image 3" descr="/var/folders/5b/jq48xrw117vb17wjlqgdl6300000gn/T/wpr50-media/ppt/media/image36.png">    </p:cNvPr>
          <p:cNvPicPr>
            <a:picLocks noChangeAspect="1"/>
          </p:cNvPicPr>
          <p:nvPr/>
        </p:nvPicPr>
        <p:blipFill>
          <a:blip r:embed="rId4"/>
          <a:srcRect l="0" r="0" t="0" b="0"/>
          <a:stretch/>
        </p:blipFill>
        <p:spPr>
          <a:xfrm>
            <a:off x="4663440" y="3108960"/>
            <a:ext cx="4114800" cy="1783080"/>
          </a:xfrm>
          <a:prstGeom prst="rect">
            <a:avLst/>
          </a:prstGeom>
        </p:spPr>
      </p:pic>
      <p:sp>
        <p:nvSpPr>
          <p:cNvPr id="13" name="Text 7"/>
          <p:cNvSpPr/>
          <p:nvPr/>
        </p:nvSpPr>
        <p:spPr>
          <a:xfrm>
            <a:off x="4663440" y="4910328"/>
            <a:ext cx="4114800" cy="201168"/>
          </a:xfrm>
          <a:prstGeom prst="rect">
            <a:avLst/>
          </a:prstGeom>
          <a:noFill/>
          <a:ln/>
        </p:spPr>
        <p:txBody>
          <a:bodyPr wrap="square" rtlCol="0" anchor="ctr"/>
          <a:lstStyle/>
          <a:p>
            <a:pPr indent="0" marL="0">
              <a:buNone/>
            </a:pPr>
            <a:r>
              <a:rPr lang="en-US" sz="900" dirty="0">
                <a:solidFill>
                  <a:srgbClr val="1F2937"/>
                </a:solidFill>
              </a:rPr>
              <a:t>Progress photo 4</a:t>
            </a:r>
            <a:endParaRPr lang="en-US" sz="900" dirty="0"/>
          </a:p>
        </p:txBody>
      </p:sp>
      <p:sp>
        <p:nvSpPr>
          <p:cNvPr id="14" name="Text 8"/>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5" name="Text 9"/>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48 / 49</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56082"/>
          </a:solidFill>
          <a:ln/>
        </p:spPr>
      </p:sp>
      <p:sp>
        <p:nvSpPr>
          <p:cNvPr id="3" name="Text 1"/>
          <p:cNvSpPr/>
          <p:nvPr/>
        </p:nvSpPr>
        <p:spPr>
          <a:xfrm>
            <a:off x="365760" y="164592"/>
            <a:ext cx="4572000" cy="256032"/>
          </a:xfrm>
          <a:prstGeom prst="rect">
            <a:avLst/>
          </a:prstGeom>
          <a:noFill/>
          <a:ln/>
        </p:spPr>
        <p:txBody>
          <a:bodyPr wrap="square" rtlCol="0" anchor="ctr"/>
          <a:lstStyle/>
          <a:p>
            <a:pPr indent="0" marL="0">
              <a:buNone/>
            </a:pPr>
            <a:r>
              <a:rPr lang="en-US" sz="1000" b="1" dirty="0">
                <a:solidFill>
                  <a:srgbClr val="156082"/>
                </a:solidFill>
              </a:rPr>
              <a:t>Arvind Limited</a:t>
            </a:r>
            <a:endParaRPr lang="en-US" sz="1000" dirty="0"/>
          </a:p>
        </p:txBody>
      </p:sp>
      <p:sp>
        <p:nvSpPr>
          <p:cNvPr id="4" name="Text 2"/>
          <p:cNvSpPr/>
          <p:nvPr/>
        </p:nvSpPr>
        <p:spPr>
          <a:xfrm>
            <a:off x="365760" y="411480"/>
            <a:ext cx="8412480" cy="365760"/>
          </a:xfrm>
          <a:prstGeom prst="rect">
            <a:avLst/>
          </a:prstGeom>
          <a:noFill/>
          <a:ln/>
        </p:spPr>
        <p:txBody>
          <a:bodyPr wrap="square" rtlCol="0" anchor="ctr"/>
          <a:lstStyle/>
          <a:p>
            <a:pPr indent="0" marL="0">
              <a:buNone/>
            </a:pPr>
            <a:r>
              <a:rPr lang="en-US" sz="1800" b="1" dirty="0">
                <a:solidFill>
                  <a:srgbClr val="1F2937"/>
                </a:solidFill>
              </a:rPr>
              <a:t>Project Progress  ·  Part 2 of 2</a:t>
            </a:r>
            <a:endParaRPr lang="en-US" sz="1800" dirty="0"/>
          </a:p>
        </p:txBody>
      </p:sp>
      <p:sp>
        <p:nvSpPr>
          <p:cNvPr id="5" name="Shape 3"/>
          <p:cNvSpPr/>
          <p:nvPr/>
        </p:nvSpPr>
        <p:spPr>
          <a:xfrm>
            <a:off x="365760" y="804672"/>
            <a:ext cx="1005840" cy="45720"/>
          </a:xfrm>
          <a:prstGeom prst="rect">
            <a:avLst/>
          </a:prstGeom>
          <a:solidFill>
            <a:srgbClr val="156082"/>
          </a:solidFill>
          <a:ln/>
        </p:spPr>
      </p:sp>
      <p:pic>
        <p:nvPicPr>
          <p:cNvPr id="6" name="Image 0" descr="/var/folders/5b/jq48xrw117vb17wjlqgdl6300000gn/T/wpr50-media/ppt/media/image35.png">    </p:cNvPr>
          <p:cNvPicPr>
            <a:picLocks noChangeAspect="1"/>
          </p:cNvPicPr>
          <p:nvPr/>
        </p:nvPicPr>
        <p:blipFill>
          <a:blip r:embed="rId1"/>
          <a:srcRect l="0" r="0" t="0" b="0"/>
          <a:stretch/>
        </p:blipFill>
        <p:spPr>
          <a:xfrm>
            <a:off x="365760" y="914400"/>
            <a:ext cx="4114800" cy="1783080"/>
          </a:xfrm>
          <a:prstGeom prst="rect">
            <a:avLst/>
          </a:prstGeom>
        </p:spPr>
      </p:pic>
      <p:sp>
        <p:nvSpPr>
          <p:cNvPr id="7" name="Text 4"/>
          <p:cNvSpPr/>
          <p:nvPr/>
        </p:nvSpPr>
        <p:spPr>
          <a:xfrm>
            <a:off x="365760" y="2715768"/>
            <a:ext cx="4114800" cy="201168"/>
          </a:xfrm>
          <a:prstGeom prst="rect">
            <a:avLst/>
          </a:prstGeom>
          <a:noFill/>
          <a:ln/>
        </p:spPr>
        <p:txBody>
          <a:bodyPr wrap="square" rtlCol="0" anchor="ctr"/>
          <a:lstStyle/>
          <a:p>
            <a:pPr indent="0" marL="0">
              <a:buNone/>
            </a:pPr>
            <a:r>
              <a:rPr lang="en-US" sz="900" dirty="0">
                <a:solidFill>
                  <a:srgbClr val="1F2937"/>
                </a:solidFill>
              </a:rPr>
              <a:t>Progress photo 5</a:t>
            </a:r>
            <a:endParaRPr lang="en-US" sz="900" dirty="0"/>
          </a:p>
        </p:txBody>
      </p:sp>
      <p:pic>
        <p:nvPicPr>
          <p:cNvPr id="8" name="Image 1" descr="/var/folders/5b/jq48xrw117vb17wjlqgdl6300000gn/T/wpr50-media/ppt/media/image55.png">    </p:cNvPr>
          <p:cNvPicPr>
            <a:picLocks noChangeAspect="1"/>
          </p:cNvPicPr>
          <p:nvPr/>
        </p:nvPicPr>
        <p:blipFill>
          <a:blip r:embed="rId2"/>
          <a:srcRect l="0" r="0" t="0" b="0"/>
          <a:stretch/>
        </p:blipFill>
        <p:spPr>
          <a:xfrm>
            <a:off x="4663440" y="914400"/>
            <a:ext cx="4114800" cy="1783080"/>
          </a:xfrm>
          <a:prstGeom prst="rect">
            <a:avLst/>
          </a:prstGeom>
        </p:spPr>
      </p:pic>
      <p:sp>
        <p:nvSpPr>
          <p:cNvPr id="9" name="Text 5"/>
          <p:cNvSpPr/>
          <p:nvPr/>
        </p:nvSpPr>
        <p:spPr>
          <a:xfrm>
            <a:off x="4663440" y="2715768"/>
            <a:ext cx="4114800" cy="201168"/>
          </a:xfrm>
          <a:prstGeom prst="rect">
            <a:avLst/>
          </a:prstGeom>
          <a:noFill/>
          <a:ln/>
        </p:spPr>
        <p:txBody>
          <a:bodyPr wrap="square" rtlCol="0" anchor="ctr"/>
          <a:lstStyle/>
          <a:p>
            <a:pPr indent="0" marL="0">
              <a:buNone/>
            </a:pPr>
            <a:r>
              <a:rPr lang="en-US" sz="900" dirty="0">
                <a:solidFill>
                  <a:srgbClr val="1F2937"/>
                </a:solidFill>
              </a:rPr>
              <a:t>Progress photo 6</a:t>
            </a:r>
            <a:endParaRPr lang="en-US" sz="900" dirty="0"/>
          </a:p>
        </p:txBody>
      </p:sp>
      <p:pic>
        <p:nvPicPr>
          <p:cNvPr id="10" name="Image 2" descr="/var/folders/5b/jq48xrw117vb17wjlqgdl6300000gn/T/wpr50-media/ppt/media/image40.png">    </p:cNvPr>
          <p:cNvPicPr>
            <a:picLocks noChangeAspect="1"/>
          </p:cNvPicPr>
          <p:nvPr/>
        </p:nvPicPr>
        <p:blipFill>
          <a:blip r:embed="rId3"/>
          <a:srcRect l="0" r="0" t="0" b="0"/>
          <a:stretch/>
        </p:blipFill>
        <p:spPr>
          <a:xfrm>
            <a:off x="365760" y="3108960"/>
            <a:ext cx="4114800" cy="1783080"/>
          </a:xfrm>
          <a:prstGeom prst="rect">
            <a:avLst/>
          </a:prstGeom>
        </p:spPr>
      </p:pic>
      <p:sp>
        <p:nvSpPr>
          <p:cNvPr id="11" name="Text 6"/>
          <p:cNvSpPr/>
          <p:nvPr/>
        </p:nvSpPr>
        <p:spPr>
          <a:xfrm>
            <a:off x="365760" y="4910328"/>
            <a:ext cx="4114800" cy="201168"/>
          </a:xfrm>
          <a:prstGeom prst="rect">
            <a:avLst/>
          </a:prstGeom>
          <a:noFill/>
          <a:ln/>
        </p:spPr>
        <p:txBody>
          <a:bodyPr wrap="square" rtlCol="0" anchor="ctr"/>
          <a:lstStyle/>
          <a:p>
            <a:pPr indent="0" marL="0">
              <a:buNone/>
            </a:pPr>
            <a:r>
              <a:rPr lang="en-US" sz="900" dirty="0">
                <a:solidFill>
                  <a:srgbClr val="1F2937"/>
                </a:solidFill>
              </a:rPr>
              <a:t>Progress photo 7</a:t>
            </a:r>
            <a:endParaRPr lang="en-US" sz="900" dirty="0"/>
          </a:p>
        </p:txBody>
      </p:sp>
      <p:pic>
        <p:nvPicPr>
          <p:cNvPr id="12" name="Image 3" descr="/var/folders/5b/jq48xrw117vb17wjlqgdl6300000gn/T/wpr50-media/ppt/media/image11.png">    </p:cNvPr>
          <p:cNvPicPr>
            <a:picLocks noChangeAspect="1"/>
          </p:cNvPicPr>
          <p:nvPr/>
        </p:nvPicPr>
        <p:blipFill>
          <a:blip r:embed="rId4"/>
          <a:srcRect l="0" r="0" t="0" b="0"/>
          <a:stretch/>
        </p:blipFill>
        <p:spPr>
          <a:xfrm>
            <a:off x="4663440" y="3108960"/>
            <a:ext cx="4114800" cy="1783080"/>
          </a:xfrm>
          <a:prstGeom prst="rect">
            <a:avLst/>
          </a:prstGeom>
        </p:spPr>
      </p:pic>
      <p:sp>
        <p:nvSpPr>
          <p:cNvPr id="13" name="Text 7"/>
          <p:cNvSpPr/>
          <p:nvPr/>
        </p:nvSpPr>
        <p:spPr>
          <a:xfrm>
            <a:off x="4663440" y="4910328"/>
            <a:ext cx="4114800" cy="201168"/>
          </a:xfrm>
          <a:prstGeom prst="rect">
            <a:avLst/>
          </a:prstGeom>
          <a:noFill/>
          <a:ln/>
        </p:spPr>
        <p:txBody>
          <a:bodyPr wrap="square" rtlCol="0" anchor="ctr"/>
          <a:lstStyle/>
          <a:p>
            <a:pPr indent="0" marL="0">
              <a:buNone/>
            </a:pPr>
            <a:r>
              <a:rPr lang="en-US" sz="900" dirty="0">
                <a:solidFill>
                  <a:srgbClr val="1F2937"/>
                </a:solidFill>
              </a:rPr>
              <a:t>Progress photo 8</a:t>
            </a:r>
            <a:endParaRPr lang="en-US" sz="900" dirty="0"/>
          </a:p>
        </p:txBody>
      </p:sp>
      <p:sp>
        <p:nvSpPr>
          <p:cNvPr id="14" name="Text 8"/>
          <p:cNvSpPr/>
          <p:nvPr/>
        </p:nvSpPr>
        <p:spPr>
          <a:xfrm>
            <a:off x="365760" y="4709160"/>
            <a:ext cx="4572000" cy="228600"/>
          </a:xfrm>
          <a:prstGeom prst="rect">
            <a:avLst/>
          </a:prstGeom>
          <a:noFill/>
          <a:ln/>
        </p:spPr>
        <p:txBody>
          <a:bodyPr wrap="square" rtlCol="0" anchor="ctr"/>
          <a:lstStyle/>
          <a:p>
            <a:pPr indent="0" marL="0">
              <a:buNone/>
            </a:pPr>
            <a:r>
              <a:rPr lang="en-US" sz="800" dirty="0">
                <a:solidFill>
                  <a:srgbClr val="5C6578"/>
                </a:solidFill>
              </a:rPr>
              <a:t>Arvind Limited</a:t>
            </a:r>
            <a:endParaRPr lang="en-US" sz="800" dirty="0"/>
          </a:p>
        </p:txBody>
      </p:sp>
      <p:sp>
        <p:nvSpPr>
          <p:cNvPr id="15" name="Text 9"/>
          <p:cNvSpPr/>
          <p:nvPr/>
        </p:nvSpPr>
        <p:spPr>
          <a:xfrm>
            <a:off x="7498080" y="4709160"/>
            <a:ext cx="1280160" cy="228600"/>
          </a:xfrm>
          <a:prstGeom prst="rect">
            <a:avLst/>
          </a:prstGeom>
          <a:noFill/>
          <a:ln/>
        </p:spPr>
        <p:txBody>
          <a:bodyPr wrap="square" rtlCol="0" anchor="ctr"/>
          <a:lstStyle/>
          <a:p>
            <a:pPr algn="r" indent="0" marL="0">
              <a:buNone/>
            </a:pPr>
            <a:r>
              <a:rPr lang="en-US" sz="800" dirty="0">
                <a:solidFill>
                  <a:srgbClr val="5C6578"/>
                </a:solidFill>
              </a:rPr>
              <a:t>49 / 49</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standalone="yes"?>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vt:lpstr>Fonts Used</vt:lpstr></vt:variant>
			<vt:variant><vt:i4>2</vt:i4></vt:variant>
			<vt:variant><vt:lpstr>Theme</vt:lpstr></vt:variant>
			<vt:variant><vt:i4>1</vt:i4></vt:variant>
			<vt:variant><vt:lpstr>Slide Titles</vt:lpstr></vt:variant>
			<vt:variant><vt:i4>49</vt:i4></vt:variant>
		</vt:vector>
	</HeadingPairs>
	<TitlesOfParts>
		<vt:vector size="52" baseType="lpstr">
			<vt:lpstr>Arial</vt:lpstr>
			<vt:lpstr>Calibri</vt:lpstr>
			<vt:lpstr>Office Theme</vt:lpstr>
			<vt:lpstr>Slide 1</vt:lpstr><vt:lpstr>Slide 2</vt:lpstr><vt:lpstr>Slide 3</vt:lpstr><vt:lpstr>Slide 4</vt:lpstr><vt:lpstr>Slide 5</vt:lpstr><vt:lpstr>Slide 6</vt:lpstr><vt:lpstr>Slide 7</vt:lpstr><vt:lpstr>Slide 8</vt:lpstr><vt:lpstr>Slide 9</vt:lpstr><vt:lpstr>Slide 10</vt:lpstr><vt:lpstr>Slide 11</vt:lpstr><vt:lpstr>Slide 12</vt:lpstr><vt:lpstr>Slide 13</vt:lpstr><vt:lpstr>Slide 14</vt:lpstr><vt:lpstr>Slide 15</vt:lpstr><vt:lpstr>Slide 16</vt:lpstr><vt:lpstr>Slide 17</vt:lpstr><vt:lpstr>Slide 18</vt:lpstr><vt:lpstr>Slide 19</vt:lpstr><vt:lpstr>Slide 20</vt:lpstr><vt:lpstr>Slide 21</vt:lpstr><vt:lpstr>Slide 22</vt:lpstr><vt:lpstr>Slide 23</vt:lpstr><vt:lpstr>Slide 24</vt:lpstr><vt:lpstr>Slide 25</vt:lpstr><vt:lpstr>Slide 26</vt:lpstr><vt:lpstr>Slide 27</vt:lpstr><vt:lpstr>Slide 28</vt:lpstr><vt:lpstr>Slide 29</vt:lpstr><vt:lpstr>Slide 30</vt:lpstr><vt:lpstr>Slide 31</vt:lpstr><vt:lpstr>Slide 32</vt:lpstr><vt:lpstr>Slide 33</vt:lpstr><vt:lpstr>Slide 34</vt:lpstr><vt:lpstr>Slide 35</vt:lpstr><vt:lpstr>Slide 36</vt:lpstr><vt:lpstr>Slide 37</vt:lpstr><vt:lpstr>Slide 38</vt:lpstr><vt:lpstr>Slide 39</vt:lpstr><vt:lpstr>Slide 40</vt:lpstr><vt:lpstr>Slide 41</vt:lpstr><vt:lpstr>Slide 42</vt:lpstr><vt:lpstr>Slide 43</vt:lpstr><vt:lpstr>Slide 44</vt:lpstr><vt:lpstr>Slide 45</vt:lpstr><vt:lpstr>Slide 46</vt:lpstr><vt:lpstr>Slide 47</vt:lpstr><vt:lpstr>Slide 48</vt:lpstr><vt:lpstr>Slide 49</vt:lpstr>
		</vt:vector>
	</TitlesOfParts>
	<Company>Sharnam Project Development Consultants & 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Weekly Progress Report — Construction of Worker Dormitory — Arvind Limited, Santej</dc:title>
  <dc:subject>WPR 52</dc:subject>
  <dc:creator>Sharnam PMC</dc:creator>
  <cp:lastModifiedBy>Sharnam PMC</cp:lastModifiedBy>
  <cp:revision>1</cp:revision>
  <dcterms:created xsi:type="dcterms:W3CDTF">2026-09-11T05:43:18Z</dcterms:created>
  <dcterms:modified xsi:type="dcterms:W3CDTF">2026-09-11T05:43:18Z</dcterms:modified>
</cp:coreProperties>
</file>